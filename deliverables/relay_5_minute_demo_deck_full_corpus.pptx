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28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data_population_plan.md sections 2, 5, 6.1–6.8 and 9, plus the user-confirmed fact that Bob is not a member of #revocation-test. Ten refers to two Jira issues, three Confluence pages, three Slack channel/thread groups and two Drive documents, not individual Slack messages. This is the intended demonstration setup, not a freshly verified provider ACL report. Carol has a documented reader grant to the restricted Drive document. No shared-source grants for Carol are implied. The live walkthrough in deliverables/relay_5_minute_demo_script.md also covers the auth decision, restricted Drive comparison, private-channel denial, a context-verified injection check, revision propagation and compliance access. Static denial is not proof of immediate revocation. No permission changes are required. The optional Confluence revision edit changes content only. Prepared query results must be labelled as prepared.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1A3B8B6-5CD2-4C8D-AFE2-538B10F4015A}"/>
              </a:ext>
            </a:extLst>
          </p:cNvPr>
          <p:cNvSpPr>
            <a:spLocks noGrp="1"/>
          </p:cNvSpPr>
          <p:nvPr/>
        </p:nvSpPr>
        <p:spPr>
          <a:xfrm>
            <a:off x="0" y="0"/>
            <a:ext cx="12192000" cy="64008"/>
          </a:xfrm>
          <a:prstGeom prst="rect">
            <a:avLst/>
          </a:prstGeom>
          <a:solidFill>
            <a:srgbClr val="5253D7"/>
          </a:solidFill>
          <a:ln w="12700">
            <a:solidFill>
              <a:srgbClr val="5253D7"/>
            </a:solidFill>
            <a:prstDash val="solid"/>
          </a:ln>
        </p:spPr>
        <p:txBody>
          <a:bodyPr/>
          <a:lstStyle/>
          <a:p>
            <a:endParaRPr/>
          </a:p>
        </p:txBody>
      </p:sp>
      <p:sp>
        <p:nvSpPr>
          <p:cNvPr id="3" name="Shape 1">
            <a:extLst>
              <a:ext uri="{FF2B5EF4-FFF2-40B4-BE49-F238E27FC236}">
                <a16:creationId xmlns:a16="http://schemas.microsoft.com/office/drawing/2014/main" id="{532EBC2C-7AA6-463B-88E7-EE6F02803D1E}"/>
              </a:ext>
            </a:extLst>
          </p:cNvPr>
          <p:cNvSpPr>
            <a:spLocks noGrp="1"/>
          </p:cNvSpPr>
          <p:nvPr/>
        </p:nvSpPr>
        <p:spPr>
          <a:xfrm>
            <a:off x="667512" y="557784"/>
            <a:ext cx="356616" cy="356616"/>
          </a:xfrm>
          <a:prstGeom prst="roundRect">
            <a:avLst>
              <a:gd name="adj" fmla="val 25641"/>
            </a:avLst>
          </a:prstGeom>
          <a:solidFill>
            <a:srgbClr val="5253D7"/>
          </a:solidFill>
          <a:ln w="10160">
            <a:solidFill>
              <a:srgbClr val="5253D7"/>
            </a:solidFill>
            <a:prstDash val="solid"/>
          </a:ln>
        </p:spPr>
        <p:txBody>
          <a:bodyPr/>
          <a:lstStyle/>
          <a:p>
            <a:endParaRPr/>
          </a:p>
        </p:txBody>
      </p:sp>
      <p:sp>
        <p:nvSpPr>
          <p:cNvPr id="4" name="Shape 2">
            <a:extLst>
              <a:ext uri="{FF2B5EF4-FFF2-40B4-BE49-F238E27FC236}">
                <a16:creationId xmlns:a16="http://schemas.microsoft.com/office/drawing/2014/main" id="{6769B565-8D54-4D03-8188-7F8429A556B5}"/>
              </a:ext>
            </a:extLst>
          </p:cNvPr>
          <p:cNvSpPr>
            <a:spLocks noGrp="1"/>
          </p:cNvSpPr>
          <p:nvPr/>
        </p:nvSpPr>
        <p:spPr>
          <a:xfrm>
            <a:off x="763524" y="643738"/>
            <a:ext cx="91440" cy="91440"/>
          </a:xfrm>
          <a:prstGeom prst="ellipse">
            <a:avLst/>
          </a:prstGeom>
          <a:solidFill>
            <a:srgbClr val="FFFFFF"/>
          </a:solidFill>
          <a:ln w="12700">
            <a:solidFill>
              <a:srgbClr val="FFFFFF"/>
            </a:solidFill>
            <a:prstDash val="solid"/>
          </a:ln>
        </p:spPr>
        <p:txBody>
          <a:bodyPr/>
          <a:lstStyle/>
          <a:p>
            <a:endParaRPr/>
          </a:p>
        </p:txBody>
      </p:sp>
      <p:sp>
        <p:nvSpPr>
          <p:cNvPr id="5" name="Shape 3">
            <a:extLst>
              <a:ext uri="{FF2B5EF4-FFF2-40B4-BE49-F238E27FC236}">
                <a16:creationId xmlns:a16="http://schemas.microsoft.com/office/drawing/2014/main" id="{106DC2A1-1161-4994-AC1E-5BEFEC51FD3E}"/>
              </a:ext>
            </a:extLst>
          </p:cNvPr>
          <p:cNvSpPr>
            <a:spLocks noGrp="1"/>
          </p:cNvSpPr>
          <p:nvPr/>
        </p:nvSpPr>
        <p:spPr>
          <a:xfrm>
            <a:off x="918972" y="643738"/>
            <a:ext cx="50292" cy="50292"/>
          </a:xfrm>
          <a:prstGeom prst="ellipse">
            <a:avLst/>
          </a:prstGeom>
          <a:solidFill>
            <a:srgbClr val="FFFFFF"/>
          </a:solidFill>
          <a:ln w="12700">
            <a:solidFill>
              <a:srgbClr val="FFFFFF"/>
            </a:solidFill>
            <a:prstDash val="solid"/>
          </a:ln>
        </p:spPr>
        <p:txBody>
          <a:bodyPr/>
          <a:lstStyle/>
          <a:p>
            <a:endParaRPr/>
          </a:p>
        </p:txBody>
      </p:sp>
      <p:sp>
        <p:nvSpPr>
          <p:cNvPr id="6" name="Text 4">
            <a:extLst>
              <a:ext uri="{FF2B5EF4-FFF2-40B4-BE49-F238E27FC236}">
                <a16:creationId xmlns:a16="http://schemas.microsoft.com/office/drawing/2014/main" id="{5A3C3485-10FC-429B-B4FD-E49FDD9EEA63}"/>
              </a:ext>
            </a:extLst>
          </p:cNvPr>
          <p:cNvSpPr>
            <a:spLocks noGrp="1"/>
          </p:cNvSpPr>
          <p:nvPr/>
        </p:nvSpPr>
        <p:spPr>
          <a:xfrm>
            <a:off x="1133856" y="566928"/>
            <a:ext cx="1463040" cy="402336"/>
          </a:xfrm>
          <a:prstGeom prst="rect">
            <a:avLst/>
          </a:prstGeom>
          <a:noFill/>
        </p:spPr>
        <p:txBody>
          <a:bodyPr wrap="square" lIns="0" tIns="0" rIns="0" bIns="0" anchor="ctr"/>
          <a:lstStyle/>
          <a:p>
            <a:pPr marL="0" indent="0" algn="l">
              <a:buNone/>
            </a:pPr>
            <a:r>
              <a:rPr sz="2200" b="1">
                <a:solidFill>
                  <a:srgbClr val="121B31"/>
                </a:solidFill>
                <a:latin typeface="Inter"/>
                <a:ea typeface="Inter"/>
                <a:cs typeface="Inter"/>
              </a:rPr>
              <a:t>relay</a:t>
            </a:r>
            <a:endParaRPr sz="2200"/>
          </a:p>
        </p:txBody>
      </p:sp>
      <p:sp>
        <p:nvSpPr>
          <p:cNvPr id="7" name="Shape 5">
            <a:extLst>
              <a:ext uri="{FF2B5EF4-FFF2-40B4-BE49-F238E27FC236}">
                <a16:creationId xmlns:a16="http://schemas.microsoft.com/office/drawing/2014/main" id="{7E2B9D91-388B-4C87-B2A3-E9E12D0EFAC9}"/>
              </a:ext>
            </a:extLst>
          </p:cNvPr>
          <p:cNvSpPr>
            <a:spLocks noGrp="1"/>
          </p:cNvSpPr>
          <p:nvPr/>
        </p:nvSpPr>
        <p:spPr>
          <a:xfrm>
            <a:off x="9144000" y="603504"/>
            <a:ext cx="2313432" cy="320040"/>
          </a:xfrm>
          <a:prstGeom prst="roundRect">
            <a:avLst>
              <a:gd name="adj" fmla="val 37143"/>
            </a:avLst>
          </a:prstGeom>
          <a:solidFill>
            <a:srgbClr val="EFF0FF"/>
          </a:solidFill>
          <a:ln w="10160">
            <a:solidFill>
              <a:srgbClr val="EFF0FF"/>
            </a:solidFill>
            <a:prstDash val="solid"/>
          </a:ln>
        </p:spPr>
        <p:txBody>
          <a:bodyPr/>
          <a:lstStyle/>
          <a:p>
            <a:endParaRPr/>
          </a:p>
        </p:txBody>
      </p:sp>
      <p:sp>
        <p:nvSpPr>
          <p:cNvPr id="8" name="Text 6">
            <a:extLst>
              <a:ext uri="{FF2B5EF4-FFF2-40B4-BE49-F238E27FC236}">
                <a16:creationId xmlns:a16="http://schemas.microsoft.com/office/drawing/2014/main" id="{A6CA18B2-1FC1-454F-9781-DCFE00FD9EA0}"/>
              </a:ext>
            </a:extLst>
          </p:cNvPr>
          <p:cNvSpPr>
            <a:spLocks noGrp="1"/>
          </p:cNvSpPr>
          <p:nvPr/>
        </p:nvSpPr>
        <p:spPr>
          <a:xfrm>
            <a:off x="9235440" y="617220"/>
            <a:ext cx="2130552" cy="292608"/>
          </a:xfrm>
          <a:prstGeom prst="rect">
            <a:avLst/>
          </a:prstGeom>
          <a:noFill/>
        </p:spPr>
        <p:txBody>
          <a:bodyPr wrap="square" lIns="0" tIns="0" rIns="0" bIns="0" anchor="ctr"/>
          <a:lstStyle/>
          <a:p>
            <a:pPr marL="0" indent="0" algn="ctr">
              <a:buNone/>
            </a:pPr>
            <a:r>
              <a:rPr sz="1070" b="1">
                <a:solidFill>
                  <a:srgbClr val="5253D7"/>
                </a:solidFill>
                <a:latin typeface="Inter"/>
                <a:ea typeface="Inter"/>
                <a:cs typeface="Inter"/>
              </a:rPr>
              <a:t>TENCENT HACKATHON</a:t>
            </a:r>
            <a:endParaRPr sz="1070"/>
          </a:p>
        </p:txBody>
      </p:sp>
      <p:sp>
        <p:nvSpPr>
          <p:cNvPr id="9" name="Text 7">
            <a:extLst>
              <a:ext uri="{FF2B5EF4-FFF2-40B4-BE49-F238E27FC236}">
                <a16:creationId xmlns:a16="http://schemas.microsoft.com/office/drawing/2014/main" id="{2FE3BC43-9717-4B18-8AF7-38A1631AF00D}"/>
              </a:ext>
            </a:extLst>
          </p:cNvPr>
          <p:cNvSpPr>
            <a:spLocks noGrp="1"/>
          </p:cNvSpPr>
          <p:nvPr/>
        </p:nvSpPr>
        <p:spPr>
          <a:xfrm>
            <a:off x="749808" y="1481328"/>
            <a:ext cx="9144000" cy="237744"/>
          </a:xfrm>
          <a:prstGeom prst="rect">
            <a:avLst/>
          </a:prstGeom>
          <a:noFill/>
        </p:spPr>
        <p:txBody>
          <a:bodyPr wrap="square" lIns="0" tIns="0" rIns="0" bIns="0" anchor="ctr"/>
          <a:lstStyle/>
          <a:p>
            <a:pPr marL="0" indent="0" algn="l">
              <a:buNone/>
            </a:pPr>
            <a:r>
              <a:rPr sz="1010" b="1" spc="120">
                <a:solidFill>
                  <a:srgbClr val="0B927D"/>
                </a:solidFill>
                <a:latin typeface="Inter"/>
                <a:ea typeface="Inter"/>
                <a:cs typeface="Inter"/>
              </a:rPr>
              <a:t>SECURE ANSWERS. SOURCE PERMISSIONS.</a:t>
            </a:r>
            <a:endParaRPr sz="1010"/>
          </a:p>
        </p:txBody>
      </p:sp>
      <p:sp>
        <p:nvSpPr>
          <p:cNvPr id="10" name="Text 8">
            <a:extLst>
              <a:ext uri="{FF2B5EF4-FFF2-40B4-BE49-F238E27FC236}">
                <a16:creationId xmlns:a16="http://schemas.microsoft.com/office/drawing/2014/main" id="{01D4AE6A-C79B-4621-9C41-75040F72FD5E}"/>
              </a:ext>
            </a:extLst>
          </p:cNvPr>
          <p:cNvSpPr>
            <a:spLocks noGrp="1"/>
          </p:cNvSpPr>
          <p:nvPr/>
        </p:nvSpPr>
        <p:spPr>
          <a:xfrm>
            <a:off x="722376" y="1901952"/>
            <a:ext cx="6858000" cy="1554480"/>
          </a:xfrm>
          <a:prstGeom prst="rect">
            <a:avLst/>
          </a:prstGeom>
          <a:noFill/>
        </p:spPr>
        <p:txBody>
          <a:bodyPr wrap="square" lIns="0" tIns="0" rIns="0" bIns="0" anchor="t"/>
          <a:lstStyle/>
          <a:p>
            <a:pPr marL="0" indent="0" algn="l">
              <a:lnSpc>
                <a:spcPct val="105000"/>
              </a:lnSpc>
              <a:buNone/>
            </a:pPr>
            <a:r>
              <a:rPr sz="3850" b="1">
                <a:solidFill>
                  <a:srgbClr val="172033"/>
                </a:solidFill>
                <a:latin typeface="Inter"/>
                <a:ea typeface="Inter"/>
                <a:cs typeface="Inter"/>
              </a:rPr>
              <a:t>Permission-safe answers</a:t>
            </a:r>
            <a:endParaRPr sz="3850"/>
          </a:p>
          <a:p>
            <a:pPr marL="0" indent="0" algn="l">
              <a:lnSpc>
                <a:spcPct val="105000"/>
              </a:lnSpc>
              <a:buNone/>
            </a:pPr>
            <a:r>
              <a:rPr sz="3850" b="1">
                <a:solidFill>
                  <a:srgbClr val="172033"/>
                </a:solidFill>
                <a:latin typeface="Inter"/>
                <a:ea typeface="Inter"/>
                <a:cs typeface="Inter"/>
              </a:rPr>
              <a:t>across the enterprise</a:t>
            </a:r>
            <a:endParaRPr sz="3850"/>
          </a:p>
        </p:txBody>
      </p:sp>
      <p:sp>
        <p:nvSpPr>
          <p:cNvPr id="11" name="Shape 9">
            <a:extLst>
              <a:ext uri="{FF2B5EF4-FFF2-40B4-BE49-F238E27FC236}">
                <a16:creationId xmlns:a16="http://schemas.microsoft.com/office/drawing/2014/main" id="{241932E3-87E9-49E0-BAB8-D77BC1FAB983}"/>
              </a:ext>
            </a:extLst>
          </p:cNvPr>
          <p:cNvSpPr>
            <a:spLocks noGrp="1"/>
          </p:cNvSpPr>
          <p:nvPr/>
        </p:nvSpPr>
        <p:spPr>
          <a:xfrm>
            <a:off x="758952" y="3657600"/>
            <a:ext cx="676656" cy="68580"/>
          </a:xfrm>
          <a:prstGeom prst="rect">
            <a:avLst/>
          </a:prstGeom>
          <a:solidFill>
            <a:srgbClr val="5253D7"/>
          </a:solidFill>
          <a:ln w="12700">
            <a:solidFill>
              <a:srgbClr val="5253D7"/>
            </a:solidFill>
            <a:prstDash val="solid"/>
          </a:ln>
        </p:spPr>
        <p:txBody>
          <a:bodyPr/>
          <a:lstStyle/>
          <a:p>
            <a:endParaRPr/>
          </a:p>
        </p:txBody>
      </p:sp>
      <p:sp>
        <p:nvSpPr>
          <p:cNvPr id="12" name="Text 10">
            <a:extLst>
              <a:ext uri="{FF2B5EF4-FFF2-40B4-BE49-F238E27FC236}">
                <a16:creationId xmlns:a16="http://schemas.microsoft.com/office/drawing/2014/main" id="{38393FED-15C4-4D69-9654-C2D1AC2F812B}"/>
              </a:ext>
            </a:extLst>
          </p:cNvPr>
          <p:cNvSpPr>
            <a:spLocks noGrp="1"/>
          </p:cNvSpPr>
          <p:nvPr/>
        </p:nvSpPr>
        <p:spPr>
          <a:xfrm>
            <a:off x="749808" y="3931920"/>
            <a:ext cx="6355080" cy="374904"/>
          </a:xfrm>
          <a:prstGeom prst="rect">
            <a:avLst/>
          </a:prstGeom>
          <a:noFill/>
        </p:spPr>
        <p:txBody>
          <a:bodyPr wrap="square" lIns="0" tIns="0" rIns="0" bIns="0" anchor="ctr"/>
          <a:lstStyle/>
          <a:p>
            <a:pPr marL="0" indent="0" algn="l">
              <a:buNone/>
            </a:pPr>
            <a:r>
              <a:rPr sz="1880" b="1">
                <a:solidFill>
                  <a:srgbClr val="172033"/>
                </a:solidFill>
                <a:latin typeface="Inter"/>
                <a:ea typeface="Inter"/>
                <a:cs typeface="Inter"/>
              </a:rPr>
              <a:t>A five-minute project demo</a:t>
            </a:r>
            <a:endParaRPr sz="1880"/>
          </a:p>
        </p:txBody>
      </p:sp>
      <p:sp>
        <p:nvSpPr>
          <p:cNvPr id="13" name="Text 11">
            <a:extLst>
              <a:ext uri="{FF2B5EF4-FFF2-40B4-BE49-F238E27FC236}">
                <a16:creationId xmlns:a16="http://schemas.microsoft.com/office/drawing/2014/main" id="{E41BB61F-5A5D-498A-9237-4D83CE1C4E9F}"/>
              </a:ext>
            </a:extLst>
          </p:cNvPr>
          <p:cNvSpPr>
            <a:spLocks noGrp="1"/>
          </p:cNvSpPr>
          <p:nvPr/>
        </p:nvSpPr>
        <p:spPr>
          <a:xfrm>
            <a:off x="749808" y="4498848"/>
            <a:ext cx="6172200" cy="731520"/>
          </a:xfrm>
          <a:prstGeom prst="rect">
            <a:avLst/>
          </a:prstGeom>
          <a:noFill/>
        </p:spPr>
        <p:txBody>
          <a:bodyPr wrap="square" lIns="0" tIns="0" rIns="0" bIns="0" anchor="t"/>
          <a:lstStyle/>
          <a:p>
            <a:pPr marL="0" indent="0" algn="l">
              <a:buNone/>
            </a:pPr>
            <a:r>
              <a:rPr sz="1720">
                <a:solidFill>
                  <a:srgbClr val="667085"/>
                </a:solidFill>
                <a:latin typeface="Inter"/>
                <a:ea typeface="Inter"/>
                <a:cs typeface="Inter"/>
              </a:rPr>
              <a:t>Cross-platform retrieval with live access checks, grounded citations and a tamper-evident audit trail.</a:t>
            </a:r>
            <a:endParaRPr sz="1720"/>
          </a:p>
        </p:txBody>
      </p:sp>
      <p:sp>
        <p:nvSpPr>
          <p:cNvPr id="14" name="Shape 12">
            <a:extLst>
              <a:ext uri="{FF2B5EF4-FFF2-40B4-BE49-F238E27FC236}">
                <a16:creationId xmlns:a16="http://schemas.microsoft.com/office/drawing/2014/main" id="{A785F356-00AB-403C-A391-0C9EEE9AFB0D}"/>
              </a:ext>
            </a:extLst>
          </p:cNvPr>
          <p:cNvSpPr>
            <a:spLocks noGrp="1"/>
          </p:cNvSpPr>
          <p:nvPr/>
        </p:nvSpPr>
        <p:spPr>
          <a:xfrm>
            <a:off x="7818120" y="1536192"/>
            <a:ext cx="3639312" cy="3931920"/>
          </a:xfrm>
          <a:prstGeom prst="roundRect">
            <a:avLst>
              <a:gd name="adj" fmla="val 6030"/>
            </a:avLst>
          </a:prstGeom>
          <a:solidFill>
            <a:srgbClr val="FFFFFF"/>
          </a:solidFill>
          <a:ln w="10160">
            <a:solidFill>
              <a:srgbClr val="E5EAF2"/>
            </a:solidFill>
            <a:prstDash val="solid"/>
          </a:ln>
        </p:spPr>
        <p:txBody>
          <a:bodyPr/>
          <a:lstStyle/>
          <a:p>
            <a:endParaRPr/>
          </a:p>
        </p:txBody>
      </p:sp>
      <p:sp>
        <p:nvSpPr>
          <p:cNvPr id="15" name="Shape 13">
            <a:extLst>
              <a:ext uri="{FF2B5EF4-FFF2-40B4-BE49-F238E27FC236}">
                <a16:creationId xmlns:a16="http://schemas.microsoft.com/office/drawing/2014/main" id="{C3A299F5-C132-44C4-9323-B8FDC35008FB}"/>
              </a:ext>
            </a:extLst>
          </p:cNvPr>
          <p:cNvSpPr>
            <a:spLocks noGrp="1"/>
          </p:cNvSpPr>
          <p:nvPr/>
        </p:nvSpPr>
        <p:spPr>
          <a:xfrm>
            <a:off x="8119872" y="1828800"/>
            <a:ext cx="3035808" cy="466344"/>
          </a:xfrm>
          <a:prstGeom prst="roundRect">
            <a:avLst>
              <a:gd name="adj" fmla="val 33333"/>
            </a:avLst>
          </a:prstGeom>
          <a:solidFill>
            <a:srgbClr val="ECF9F5"/>
          </a:solidFill>
          <a:ln w="10160">
            <a:solidFill>
              <a:srgbClr val="ECF9F5"/>
            </a:solidFill>
            <a:prstDash val="solid"/>
          </a:ln>
        </p:spPr>
        <p:txBody>
          <a:bodyPr/>
          <a:lstStyle/>
          <a:p>
            <a:endParaRPr/>
          </a:p>
        </p:txBody>
      </p:sp>
      <p:sp>
        <p:nvSpPr>
          <p:cNvPr id="16" name="Shape 14">
            <a:extLst>
              <a:ext uri="{FF2B5EF4-FFF2-40B4-BE49-F238E27FC236}">
                <a16:creationId xmlns:a16="http://schemas.microsoft.com/office/drawing/2014/main" id="{A80E9B5C-E79F-453E-A3FC-1DC768FA779A}"/>
              </a:ext>
            </a:extLst>
          </p:cNvPr>
          <p:cNvSpPr>
            <a:spLocks noGrp="1"/>
          </p:cNvSpPr>
          <p:nvPr/>
        </p:nvSpPr>
        <p:spPr>
          <a:xfrm>
            <a:off x="8284464" y="1965960"/>
            <a:ext cx="118872" cy="118872"/>
          </a:xfrm>
          <a:prstGeom prst="ellipse">
            <a:avLst/>
          </a:prstGeom>
          <a:solidFill>
            <a:srgbClr val="0B927D"/>
          </a:solidFill>
          <a:ln w="12700">
            <a:solidFill>
              <a:srgbClr val="0B927D"/>
            </a:solidFill>
            <a:prstDash val="solid"/>
          </a:ln>
        </p:spPr>
        <p:txBody>
          <a:bodyPr/>
          <a:lstStyle/>
          <a:p>
            <a:endParaRPr/>
          </a:p>
        </p:txBody>
      </p:sp>
      <p:sp>
        <p:nvSpPr>
          <p:cNvPr id="17" name="Text 15">
            <a:extLst>
              <a:ext uri="{FF2B5EF4-FFF2-40B4-BE49-F238E27FC236}">
                <a16:creationId xmlns:a16="http://schemas.microsoft.com/office/drawing/2014/main" id="{AC4F2D17-99FB-420B-915B-0C96B634FD6A}"/>
              </a:ext>
            </a:extLst>
          </p:cNvPr>
          <p:cNvSpPr>
            <a:spLocks noGrp="1"/>
          </p:cNvSpPr>
          <p:nvPr/>
        </p:nvSpPr>
        <p:spPr>
          <a:xfrm>
            <a:off x="8522208" y="1947672"/>
            <a:ext cx="2340864" cy="201168"/>
          </a:xfrm>
          <a:prstGeom prst="rect">
            <a:avLst/>
          </a:prstGeom>
          <a:noFill/>
        </p:spPr>
        <p:txBody>
          <a:bodyPr wrap="square" lIns="0" tIns="0" rIns="0" bIns="0" anchor="ctr"/>
          <a:lstStyle/>
          <a:p>
            <a:pPr marL="0" indent="0" algn="l">
              <a:buNone/>
            </a:pPr>
            <a:r>
              <a:rPr sz="1130" b="1" spc="65">
                <a:solidFill>
                  <a:srgbClr val="0B927D"/>
                </a:solidFill>
                <a:latin typeface="Inter"/>
                <a:ea typeface="Inter"/>
                <a:cs typeface="Inter"/>
              </a:rPr>
              <a:t>SECURE RETRIEVAL ACTIVE</a:t>
            </a:r>
            <a:endParaRPr sz="1130"/>
          </a:p>
        </p:txBody>
      </p:sp>
      <p:sp>
        <p:nvSpPr>
          <p:cNvPr id="18" name="Text 16">
            <a:extLst>
              <a:ext uri="{FF2B5EF4-FFF2-40B4-BE49-F238E27FC236}">
                <a16:creationId xmlns:a16="http://schemas.microsoft.com/office/drawing/2014/main" id="{B2EBDA91-3026-42D3-B816-AD2D1E6243C1}"/>
              </a:ext>
            </a:extLst>
          </p:cNvPr>
          <p:cNvSpPr>
            <a:spLocks noGrp="1"/>
          </p:cNvSpPr>
          <p:nvPr/>
        </p:nvSpPr>
        <p:spPr>
          <a:xfrm>
            <a:off x="8183880" y="2587752"/>
            <a:ext cx="2816352" cy="1517904"/>
          </a:xfrm>
          <a:prstGeom prst="rect">
            <a:avLst/>
          </a:prstGeom>
          <a:noFill/>
        </p:spPr>
        <p:txBody>
          <a:bodyPr wrap="square" lIns="0" tIns="0" rIns="0" bIns="0" anchor="t"/>
          <a:lstStyle/>
          <a:p>
            <a:pPr marL="0" indent="0" algn="l">
              <a:buNone/>
            </a:pPr>
            <a:r>
              <a:rPr sz="2400" b="1">
                <a:solidFill>
                  <a:srgbClr val="172033"/>
                </a:solidFill>
                <a:latin typeface="Inter"/>
                <a:ea typeface="Inter"/>
                <a:cs typeface="Inter"/>
              </a:rPr>
              <a:t>Answers only use content the asking user can access.</a:t>
            </a:r>
            <a:endParaRPr sz="2400"/>
          </a:p>
        </p:txBody>
      </p:sp>
      <p:sp>
        <p:nvSpPr>
          <p:cNvPr id="19" name="Shape 17">
            <a:extLst>
              <a:ext uri="{FF2B5EF4-FFF2-40B4-BE49-F238E27FC236}">
                <a16:creationId xmlns:a16="http://schemas.microsoft.com/office/drawing/2014/main" id="{F0A02809-E7BC-4862-8EC6-310D32D77DD2}"/>
              </a:ext>
            </a:extLst>
          </p:cNvPr>
          <p:cNvSpPr>
            <a:spLocks noGrp="1"/>
          </p:cNvSpPr>
          <p:nvPr/>
        </p:nvSpPr>
        <p:spPr>
          <a:xfrm>
            <a:off x="8183880" y="4443984"/>
            <a:ext cx="2807208" cy="0"/>
          </a:xfrm>
          <a:prstGeom prst="line">
            <a:avLst/>
          </a:prstGeom>
          <a:noFill/>
          <a:ln w="12700">
            <a:solidFill>
              <a:srgbClr val="E5EAF2"/>
            </a:solidFill>
            <a:prstDash val="solid"/>
          </a:ln>
        </p:spPr>
        <p:txBody>
          <a:bodyPr/>
          <a:lstStyle/>
          <a:p>
            <a:endParaRPr/>
          </a:p>
        </p:txBody>
      </p:sp>
      <p:sp>
        <p:nvSpPr>
          <p:cNvPr id="20" name="Text 18">
            <a:extLst>
              <a:ext uri="{FF2B5EF4-FFF2-40B4-BE49-F238E27FC236}">
                <a16:creationId xmlns:a16="http://schemas.microsoft.com/office/drawing/2014/main" id="{07AC56A1-9D41-4944-ABD2-AB99BABB24B1}"/>
              </a:ext>
            </a:extLst>
          </p:cNvPr>
          <p:cNvSpPr>
            <a:spLocks noGrp="1"/>
          </p:cNvSpPr>
          <p:nvPr/>
        </p:nvSpPr>
        <p:spPr>
          <a:xfrm>
            <a:off x="8183880" y="4617720"/>
            <a:ext cx="2834640" cy="493776"/>
          </a:xfrm>
          <a:prstGeom prst="rect">
            <a:avLst/>
          </a:prstGeom>
          <a:noFill/>
        </p:spPr>
        <p:txBody>
          <a:bodyPr wrap="square" lIns="0" tIns="0" rIns="0" bIns="0" anchor="t"/>
          <a:lstStyle/>
          <a:p>
            <a:pPr marL="0" indent="0" algn="l">
              <a:buNone/>
            </a:pPr>
            <a:r>
              <a:rPr sz="1500">
                <a:solidFill>
                  <a:srgbClr val="667085"/>
                </a:solidFill>
                <a:latin typeface="Inter"/>
                <a:ea typeface="Inter"/>
                <a:cs typeface="Inter"/>
              </a:rPr>
              <a:t>Sources remain the source of truth.</a:t>
            </a:r>
            <a:endParaRPr sz="1500"/>
          </a:p>
        </p:txBody>
      </p:sp>
      <p:sp>
        <p:nvSpPr>
          <p:cNvPr id="21" name="Shape 19">
            <a:extLst>
              <a:ext uri="{FF2B5EF4-FFF2-40B4-BE49-F238E27FC236}">
                <a16:creationId xmlns:a16="http://schemas.microsoft.com/office/drawing/2014/main" id="{A770715B-A22E-4E23-AEDE-637737507259}"/>
              </a:ext>
            </a:extLst>
          </p:cNvPr>
          <p:cNvSpPr>
            <a:spLocks noGrp="1"/>
          </p:cNvSpPr>
          <p:nvPr/>
        </p:nvSpPr>
        <p:spPr>
          <a:xfrm>
            <a:off x="749808" y="5971032"/>
            <a:ext cx="10707624" cy="0"/>
          </a:xfrm>
          <a:prstGeom prst="line">
            <a:avLst/>
          </a:prstGeom>
          <a:noFill/>
          <a:ln w="12700">
            <a:solidFill>
              <a:srgbClr val="E5EAF2"/>
            </a:solidFill>
            <a:prstDash val="solid"/>
          </a:ln>
        </p:spPr>
        <p:txBody>
          <a:bodyPr/>
          <a:lstStyle/>
          <a:p>
            <a:endParaRPr/>
          </a:p>
        </p:txBody>
      </p:sp>
      <p:sp>
        <p:nvSpPr>
          <p:cNvPr id="22" name="Text 20">
            <a:extLst>
              <a:ext uri="{FF2B5EF4-FFF2-40B4-BE49-F238E27FC236}">
                <a16:creationId xmlns:a16="http://schemas.microsoft.com/office/drawing/2014/main" id="{396B6182-241A-474B-9D0F-A0B63A75F919}"/>
              </a:ext>
            </a:extLst>
          </p:cNvPr>
          <p:cNvSpPr>
            <a:spLocks noGrp="1"/>
          </p:cNvSpPr>
          <p:nvPr/>
        </p:nvSpPr>
        <p:spPr>
          <a:xfrm>
            <a:off x="749808" y="6144768"/>
            <a:ext cx="1399032" cy="219456"/>
          </a:xfrm>
          <a:prstGeom prst="rect">
            <a:avLst/>
          </a:prstGeom>
          <a:noFill/>
        </p:spPr>
        <p:txBody>
          <a:bodyPr wrap="square" lIns="0" tIns="0" rIns="0" bIns="0" anchor="ctr"/>
          <a:lstStyle/>
          <a:p>
            <a:pPr marL="0" indent="0" algn="l">
              <a:buNone/>
            </a:pPr>
            <a:r>
              <a:rPr sz="1050" b="1" spc="70">
                <a:solidFill>
                  <a:srgbClr val="667085"/>
                </a:solidFill>
                <a:latin typeface="Inter"/>
                <a:ea typeface="Inter"/>
                <a:cs typeface="Inter"/>
              </a:rPr>
              <a:t>CONFLUENCE</a:t>
            </a:r>
            <a:endParaRPr sz="1050"/>
          </a:p>
        </p:txBody>
      </p:sp>
      <p:sp>
        <p:nvSpPr>
          <p:cNvPr id="23" name="Shape 21">
            <a:extLst>
              <a:ext uri="{FF2B5EF4-FFF2-40B4-BE49-F238E27FC236}">
                <a16:creationId xmlns:a16="http://schemas.microsoft.com/office/drawing/2014/main" id="{CF71E312-4A18-428C-878E-F53F07F0AD20}"/>
              </a:ext>
            </a:extLst>
          </p:cNvPr>
          <p:cNvSpPr>
            <a:spLocks noGrp="1"/>
          </p:cNvSpPr>
          <p:nvPr/>
        </p:nvSpPr>
        <p:spPr>
          <a:xfrm>
            <a:off x="2350008" y="6190488"/>
            <a:ext cx="64008" cy="64008"/>
          </a:xfrm>
          <a:prstGeom prst="ellipse">
            <a:avLst/>
          </a:prstGeom>
          <a:solidFill>
            <a:srgbClr val="5253D7"/>
          </a:solidFill>
          <a:ln w="12700">
            <a:solidFill>
              <a:srgbClr val="5253D7"/>
            </a:solidFill>
            <a:prstDash val="solid"/>
          </a:ln>
        </p:spPr>
        <p:txBody>
          <a:bodyPr/>
          <a:lstStyle/>
          <a:p>
            <a:endParaRPr/>
          </a:p>
        </p:txBody>
      </p:sp>
      <p:sp>
        <p:nvSpPr>
          <p:cNvPr id="24" name="Text 22">
            <a:extLst>
              <a:ext uri="{FF2B5EF4-FFF2-40B4-BE49-F238E27FC236}">
                <a16:creationId xmlns:a16="http://schemas.microsoft.com/office/drawing/2014/main" id="{A8168CD7-D694-4B19-99EF-63037A3CBC58}"/>
              </a:ext>
            </a:extLst>
          </p:cNvPr>
          <p:cNvSpPr>
            <a:spLocks noGrp="1"/>
          </p:cNvSpPr>
          <p:nvPr/>
        </p:nvSpPr>
        <p:spPr>
          <a:xfrm>
            <a:off x="2569464" y="6144768"/>
            <a:ext cx="667512" cy="219456"/>
          </a:xfrm>
          <a:prstGeom prst="rect">
            <a:avLst/>
          </a:prstGeom>
          <a:noFill/>
        </p:spPr>
        <p:txBody>
          <a:bodyPr wrap="square" lIns="0" tIns="0" rIns="0" bIns="0" anchor="ctr"/>
          <a:lstStyle/>
          <a:p>
            <a:pPr marL="0" indent="0" algn="l">
              <a:buNone/>
            </a:pPr>
            <a:r>
              <a:rPr sz="1050" b="1" spc="70">
                <a:solidFill>
                  <a:srgbClr val="667085"/>
                </a:solidFill>
                <a:latin typeface="Inter"/>
                <a:ea typeface="Inter"/>
                <a:cs typeface="Inter"/>
              </a:rPr>
              <a:t>JIRA</a:t>
            </a:r>
            <a:endParaRPr sz="1050"/>
          </a:p>
        </p:txBody>
      </p:sp>
      <p:sp>
        <p:nvSpPr>
          <p:cNvPr id="25" name="Shape 23">
            <a:extLst>
              <a:ext uri="{FF2B5EF4-FFF2-40B4-BE49-F238E27FC236}">
                <a16:creationId xmlns:a16="http://schemas.microsoft.com/office/drawing/2014/main" id="{845979D7-55C9-48CB-8A05-7742107C928C}"/>
              </a:ext>
            </a:extLst>
          </p:cNvPr>
          <p:cNvSpPr>
            <a:spLocks noGrp="1"/>
          </p:cNvSpPr>
          <p:nvPr/>
        </p:nvSpPr>
        <p:spPr>
          <a:xfrm>
            <a:off x="3383280" y="6190488"/>
            <a:ext cx="64008" cy="64008"/>
          </a:xfrm>
          <a:prstGeom prst="ellipse">
            <a:avLst/>
          </a:prstGeom>
          <a:solidFill>
            <a:srgbClr val="5253D7"/>
          </a:solidFill>
          <a:ln w="12700">
            <a:solidFill>
              <a:srgbClr val="5253D7"/>
            </a:solidFill>
            <a:prstDash val="solid"/>
          </a:ln>
        </p:spPr>
        <p:txBody>
          <a:bodyPr/>
          <a:lstStyle/>
          <a:p>
            <a:endParaRPr/>
          </a:p>
        </p:txBody>
      </p:sp>
      <p:sp>
        <p:nvSpPr>
          <p:cNvPr id="26" name="Text 24">
            <a:extLst>
              <a:ext uri="{FF2B5EF4-FFF2-40B4-BE49-F238E27FC236}">
                <a16:creationId xmlns:a16="http://schemas.microsoft.com/office/drawing/2014/main" id="{B24270B1-EAFF-4037-9B48-812D146F887C}"/>
              </a:ext>
            </a:extLst>
          </p:cNvPr>
          <p:cNvSpPr>
            <a:spLocks noGrp="1"/>
          </p:cNvSpPr>
          <p:nvPr/>
        </p:nvSpPr>
        <p:spPr>
          <a:xfrm>
            <a:off x="3602736" y="6144768"/>
            <a:ext cx="813816" cy="219456"/>
          </a:xfrm>
          <a:prstGeom prst="rect">
            <a:avLst/>
          </a:prstGeom>
          <a:noFill/>
        </p:spPr>
        <p:txBody>
          <a:bodyPr wrap="square" lIns="0" tIns="0" rIns="0" bIns="0" anchor="ctr"/>
          <a:lstStyle/>
          <a:p>
            <a:pPr marL="0" indent="0" algn="l">
              <a:buNone/>
            </a:pPr>
            <a:r>
              <a:rPr sz="1050" b="1" spc="70">
                <a:solidFill>
                  <a:srgbClr val="667085"/>
                </a:solidFill>
                <a:latin typeface="Inter"/>
                <a:ea typeface="Inter"/>
                <a:cs typeface="Inter"/>
              </a:rPr>
              <a:t>SLACK</a:t>
            </a:r>
            <a:endParaRPr sz="1050"/>
          </a:p>
        </p:txBody>
      </p:sp>
      <p:sp>
        <p:nvSpPr>
          <p:cNvPr id="27" name="Shape 25">
            <a:extLst>
              <a:ext uri="{FF2B5EF4-FFF2-40B4-BE49-F238E27FC236}">
                <a16:creationId xmlns:a16="http://schemas.microsoft.com/office/drawing/2014/main" id="{F397E133-F847-488B-92D4-2BC61628EA8B}"/>
              </a:ext>
            </a:extLst>
          </p:cNvPr>
          <p:cNvSpPr>
            <a:spLocks noGrp="1"/>
          </p:cNvSpPr>
          <p:nvPr/>
        </p:nvSpPr>
        <p:spPr>
          <a:xfrm>
            <a:off x="4617720" y="6190488"/>
            <a:ext cx="64008" cy="64008"/>
          </a:xfrm>
          <a:prstGeom prst="ellipse">
            <a:avLst/>
          </a:prstGeom>
          <a:solidFill>
            <a:srgbClr val="5253D7"/>
          </a:solidFill>
          <a:ln w="12700">
            <a:solidFill>
              <a:srgbClr val="5253D7"/>
            </a:solidFill>
            <a:prstDash val="solid"/>
          </a:ln>
        </p:spPr>
        <p:txBody>
          <a:bodyPr/>
          <a:lstStyle/>
          <a:p>
            <a:endParaRPr/>
          </a:p>
        </p:txBody>
      </p:sp>
      <p:sp>
        <p:nvSpPr>
          <p:cNvPr id="28" name="Text 26">
            <a:extLst>
              <a:ext uri="{FF2B5EF4-FFF2-40B4-BE49-F238E27FC236}">
                <a16:creationId xmlns:a16="http://schemas.microsoft.com/office/drawing/2014/main" id="{F3FAEC05-D9B0-4916-B786-72FB5EB75F77}"/>
              </a:ext>
            </a:extLst>
          </p:cNvPr>
          <p:cNvSpPr>
            <a:spLocks noGrp="1"/>
          </p:cNvSpPr>
          <p:nvPr/>
        </p:nvSpPr>
        <p:spPr>
          <a:xfrm>
            <a:off x="4837176" y="6144768"/>
            <a:ext cx="1545336" cy="219456"/>
          </a:xfrm>
          <a:prstGeom prst="rect">
            <a:avLst/>
          </a:prstGeom>
          <a:noFill/>
        </p:spPr>
        <p:txBody>
          <a:bodyPr wrap="square" lIns="0" tIns="0" rIns="0" bIns="0" anchor="ctr"/>
          <a:lstStyle/>
          <a:p>
            <a:pPr marL="0" indent="0" algn="l">
              <a:buNone/>
            </a:pPr>
            <a:r>
              <a:rPr sz="1050" b="1" spc="70">
                <a:solidFill>
                  <a:srgbClr val="667085"/>
                </a:solidFill>
                <a:latin typeface="Inter"/>
                <a:ea typeface="Inter"/>
                <a:cs typeface="Inter"/>
              </a:rPr>
              <a:t>GOOGLE DRIVE</a:t>
            </a:r>
            <a:endParaRPr sz="1050"/>
          </a:p>
        </p:txBody>
      </p:sp>
      <p:sp>
        <p:nvSpPr>
          <p:cNvPr id="29" name="Text 27">
            <a:extLst>
              <a:ext uri="{FF2B5EF4-FFF2-40B4-BE49-F238E27FC236}">
                <a16:creationId xmlns:a16="http://schemas.microsoft.com/office/drawing/2014/main" id="{063B433F-F0D3-4D13-8553-42A6F8051604}"/>
              </a:ext>
            </a:extLst>
          </p:cNvPr>
          <p:cNvSpPr>
            <a:spLocks noGrp="1"/>
          </p:cNvSpPr>
          <p:nvPr/>
        </p:nvSpPr>
        <p:spPr>
          <a:xfrm>
            <a:off x="11027664" y="6153912"/>
            <a:ext cx="411480" cy="210312"/>
          </a:xfrm>
          <a:prstGeom prst="rect">
            <a:avLst/>
          </a:prstGeom>
          <a:noFill/>
        </p:spPr>
        <p:txBody>
          <a:bodyPr wrap="square" lIns="0" tIns="0" rIns="0" bIns="0" anchor="ctr"/>
          <a:lstStyle/>
          <a:p>
            <a:pPr marL="0" indent="0" algn="r">
              <a:buNone/>
            </a:pPr>
            <a:r>
              <a:rPr sz="1000" b="1">
                <a:solidFill>
                  <a:srgbClr val="94A3B8"/>
                </a:solidFill>
                <a:latin typeface="Inter"/>
                <a:ea typeface="Inter"/>
                <a:cs typeface="Inter"/>
              </a:rPr>
              <a:t>01</a:t>
            </a:r>
            <a:endParaRPr sz="1000"/>
          </a:p>
        </p:txBody>
      </p:sp>
    </p:spTree>
    <p:extLst>
      <p:ext uri="{BB962C8B-B14F-4D97-AF65-F5344CB8AC3E}">
        <p14:creationId xmlns:p14="http://schemas.microsoft.com/office/powerpoint/2010/main" val="4221942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0BD542D-7B97-41A3-A4ED-E43542DBBCDD}"/>
              </a:ext>
            </a:extLst>
          </p:cNvPr>
          <p:cNvSpPr>
            <a:spLocks noGrp="1"/>
          </p:cNvSpPr>
          <p:nvPr/>
        </p:nvSpPr>
        <p:spPr>
          <a:xfrm>
            <a:off x="0" y="0"/>
            <a:ext cx="12192000" cy="50292"/>
          </a:xfrm>
          <a:prstGeom prst="rect">
            <a:avLst/>
          </a:prstGeom>
          <a:solidFill>
            <a:srgbClr val="5253D7"/>
          </a:solidFill>
          <a:ln w="12700">
            <a:solidFill>
              <a:srgbClr val="5253D7"/>
            </a:solidFill>
            <a:prstDash val="solid"/>
          </a:ln>
        </p:spPr>
        <p:txBody>
          <a:bodyPr/>
          <a:lstStyle/>
          <a:p>
            <a:endParaRPr/>
          </a:p>
        </p:txBody>
      </p:sp>
      <p:sp>
        <p:nvSpPr>
          <p:cNvPr id="3" name="Text 1">
            <a:extLst>
              <a:ext uri="{FF2B5EF4-FFF2-40B4-BE49-F238E27FC236}">
                <a16:creationId xmlns:a16="http://schemas.microsoft.com/office/drawing/2014/main" id="{0C15C0AD-85A0-4DEC-9A3A-40D94A9EF06D}"/>
              </a:ext>
            </a:extLst>
          </p:cNvPr>
          <p:cNvSpPr>
            <a:spLocks noGrp="1"/>
          </p:cNvSpPr>
          <p:nvPr/>
        </p:nvSpPr>
        <p:spPr>
          <a:xfrm>
            <a:off x="640080" y="393192"/>
            <a:ext cx="9144000" cy="237744"/>
          </a:xfrm>
          <a:prstGeom prst="rect">
            <a:avLst/>
          </a:prstGeom>
          <a:noFill/>
        </p:spPr>
        <p:txBody>
          <a:bodyPr wrap="square" lIns="0" tIns="0" rIns="0" bIns="0" anchor="ctr"/>
          <a:lstStyle/>
          <a:p>
            <a:pPr marL="0" indent="0" algn="l">
              <a:buNone/>
            </a:pPr>
            <a:r>
              <a:rPr sz="1010" b="1" spc="120">
                <a:solidFill>
                  <a:srgbClr val="5253D7"/>
                </a:solidFill>
                <a:latin typeface="Inter"/>
                <a:ea typeface="Inter"/>
                <a:cs typeface="Inter"/>
              </a:rPr>
              <a:t>PROJECT OVERVIEW</a:t>
            </a:r>
            <a:endParaRPr sz="1010"/>
          </a:p>
        </p:txBody>
      </p:sp>
      <p:sp>
        <p:nvSpPr>
          <p:cNvPr id="4" name="Text 2">
            <a:extLst>
              <a:ext uri="{FF2B5EF4-FFF2-40B4-BE49-F238E27FC236}">
                <a16:creationId xmlns:a16="http://schemas.microsoft.com/office/drawing/2014/main" id="{D6E42DC9-8202-463C-AC9D-EDDEC9558836}"/>
              </a:ext>
            </a:extLst>
          </p:cNvPr>
          <p:cNvSpPr>
            <a:spLocks noGrp="1"/>
          </p:cNvSpPr>
          <p:nvPr/>
        </p:nvSpPr>
        <p:spPr>
          <a:xfrm>
            <a:off x="640080" y="740664"/>
            <a:ext cx="10954512" cy="512064"/>
          </a:xfrm>
          <a:prstGeom prst="rect">
            <a:avLst/>
          </a:prstGeom>
          <a:noFill/>
        </p:spPr>
        <p:txBody>
          <a:bodyPr wrap="square" lIns="0" tIns="0" rIns="0" bIns="0" anchor="ctr"/>
          <a:lstStyle/>
          <a:p>
            <a:pPr marL="0" indent="0" algn="l">
              <a:buNone/>
            </a:pPr>
            <a:r>
              <a:rPr sz="2950" b="1">
                <a:solidFill>
                  <a:srgbClr val="172033"/>
                </a:solidFill>
                <a:latin typeface="Inter"/>
                <a:ea typeface="Inter"/>
                <a:cs typeface="Inter"/>
              </a:rPr>
              <a:t>Why Relay</a:t>
            </a:r>
            <a:endParaRPr sz="2950"/>
          </a:p>
        </p:txBody>
      </p:sp>
      <p:sp>
        <p:nvSpPr>
          <p:cNvPr id="5" name="Text 3">
            <a:extLst>
              <a:ext uri="{FF2B5EF4-FFF2-40B4-BE49-F238E27FC236}">
                <a16:creationId xmlns:a16="http://schemas.microsoft.com/office/drawing/2014/main" id="{4702BAD8-7B12-4904-B097-6B2ABB0A04D7}"/>
              </a:ext>
            </a:extLst>
          </p:cNvPr>
          <p:cNvSpPr>
            <a:spLocks noGrp="1"/>
          </p:cNvSpPr>
          <p:nvPr/>
        </p:nvSpPr>
        <p:spPr>
          <a:xfrm>
            <a:off x="640080" y="1399032"/>
            <a:ext cx="10844784" cy="329184"/>
          </a:xfrm>
          <a:prstGeom prst="rect">
            <a:avLst/>
          </a:prstGeom>
          <a:noFill/>
        </p:spPr>
        <p:txBody>
          <a:bodyPr wrap="square" lIns="0" tIns="0" rIns="0" bIns="0" anchor="ctr"/>
          <a:lstStyle/>
          <a:p>
            <a:pPr marL="0" indent="0" algn="l">
              <a:buNone/>
            </a:pPr>
            <a:r>
              <a:rPr sz="1410">
                <a:solidFill>
                  <a:srgbClr val="667085"/>
                </a:solidFill>
                <a:latin typeface="Inter"/>
                <a:ea typeface="Inter"/>
                <a:cs typeface="Inter"/>
              </a:rPr>
              <a:t>One answer across the workspace, with the source permissions intact.</a:t>
            </a:r>
            <a:endParaRPr sz="1410"/>
          </a:p>
        </p:txBody>
      </p:sp>
      <p:sp>
        <p:nvSpPr>
          <p:cNvPr id="6" name="Shape 4">
            <a:extLst>
              <a:ext uri="{FF2B5EF4-FFF2-40B4-BE49-F238E27FC236}">
                <a16:creationId xmlns:a16="http://schemas.microsoft.com/office/drawing/2014/main" id="{36DBE279-8C42-4042-A091-11D9015A22CF}"/>
              </a:ext>
            </a:extLst>
          </p:cNvPr>
          <p:cNvSpPr>
            <a:spLocks noGrp="1"/>
          </p:cNvSpPr>
          <p:nvPr/>
        </p:nvSpPr>
        <p:spPr>
          <a:xfrm>
            <a:off x="640080" y="6437376"/>
            <a:ext cx="10908792" cy="0"/>
          </a:xfrm>
          <a:prstGeom prst="line">
            <a:avLst/>
          </a:prstGeom>
          <a:noFill/>
          <a:ln w="10160">
            <a:solidFill>
              <a:srgbClr val="E5EAF2"/>
            </a:solidFill>
            <a:prstDash val="solid"/>
          </a:ln>
        </p:spPr>
        <p:txBody>
          <a:bodyPr/>
          <a:lstStyle/>
          <a:p>
            <a:endParaRPr/>
          </a:p>
        </p:txBody>
      </p:sp>
      <p:sp>
        <p:nvSpPr>
          <p:cNvPr id="7" name="Text 5">
            <a:extLst>
              <a:ext uri="{FF2B5EF4-FFF2-40B4-BE49-F238E27FC236}">
                <a16:creationId xmlns:a16="http://schemas.microsoft.com/office/drawing/2014/main" id="{610C683F-595C-4338-A31C-EC2AD387C2D1}"/>
              </a:ext>
            </a:extLst>
          </p:cNvPr>
          <p:cNvSpPr>
            <a:spLocks noGrp="1"/>
          </p:cNvSpPr>
          <p:nvPr/>
        </p:nvSpPr>
        <p:spPr>
          <a:xfrm>
            <a:off x="640080" y="6528816"/>
            <a:ext cx="585216" cy="155448"/>
          </a:xfrm>
          <a:prstGeom prst="rect">
            <a:avLst/>
          </a:prstGeom>
          <a:noFill/>
        </p:spPr>
        <p:txBody>
          <a:bodyPr wrap="square" lIns="0" tIns="0" rIns="0" bIns="0" anchor="ctr"/>
          <a:lstStyle/>
          <a:p>
            <a:pPr marL="0" indent="0" algn="l">
              <a:buNone/>
            </a:pPr>
            <a:r>
              <a:rPr sz="1040" b="1">
                <a:solidFill>
                  <a:srgbClr val="172033"/>
                </a:solidFill>
                <a:latin typeface="Inter"/>
                <a:ea typeface="Inter"/>
                <a:cs typeface="Inter"/>
              </a:rPr>
              <a:t>relay</a:t>
            </a:r>
            <a:endParaRPr sz="1040"/>
          </a:p>
        </p:txBody>
      </p:sp>
      <p:sp>
        <p:nvSpPr>
          <p:cNvPr id="8" name="Text 6">
            <a:extLst>
              <a:ext uri="{FF2B5EF4-FFF2-40B4-BE49-F238E27FC236}">
                <a16:creationId xmlns:a16="http://schemas.microsoft.com/office/drawing/2014/main" id="{9E881EE1-CCC1-4BD4-84A6-5EA9E350EECA}"/>
              </a:ext>
            </a:extLst>
          </p:cNvPr>
          <p:cNvSpPr>
            <a:spLocks noGrp="1"/>
          </p:cNvSpPr>
          <p:nvPr/>
        </p:nvSpPr>
        <p:spPr>
          <a:xfrm>
            <a:off x="1307592" y="6528816"/>
            <a:ext cx="2743200" cy="155448"/>
          </a:xfrm>
          <a:prstGeom prst="rect">
            <a:avLst/>
          </a:prstGeom>
          <a:noFill/>
        </p:spPr>
        <p:txBody>
          <a:bodyPr wrap="square" lIns="0" tIns="0" rIns="0" bIns="0" anchor="ctr"/>
          <a:lstStyle/>
          <a:p>
            <a:pPr marL="0" indent="0" algn="l">
              <a:buNone/>
            </a:pPr>
            <a:r>
              <a:rPr sz="970">
                <a:solidFill>
                  <a:srgbClr val="94A3B8"/>
                </a:solidFill>
                <a:latin typeface="Inter"/>
                <a:ea typeface="Inter"/>
                <a:cs typeface="Inter"/>
              </a:rPr>
              <a:t>/ Tencent Hackathon demo</a:t>
            </a:r>
            <a:endParaRPr sz="970"/>
          </a:p>
        </p:txBody>
      </p:sp>
      <p:sp>
        <p:nvSpPr>
          <p:cNvPr id="9" name="Text 7">
            <a:extLst>
              <a:ext uri="{FF2B5EF4-FFF2-40B4-BE49-F238E27FC236}">
                <a16:creationId xmlns:a16="http://schemas.microsoft.com/office/drawing/2014/main" id="{DC8E293B-D201-4A42-AF86-038C13374DF2}"/>
              </a:ext>
            </a:extLst>
          </p:cNvPr>
          <p:cNvSpPr>
            <a:spLocks noGrp="1"/>
          </p:cNvSpPr>
          <p:nvPr/>
        </p:nvSpPr>
        <p:spPr>
          <a:xfrm>
            <a:off x="11036808" y="6519672"/>
            <a:ext cx="502920" cy="164592"/>
          </a:xfrm>
          <a:prstGeom prst="rect">
            <a:avLst/>
          </a:prstGeom>
          <a:noFill/>
        </p:spPr>
        <p:txBody>
          <a:bodyPr wrap="square" lIns="0" tIns="0" rIns="0" bIns="0" anchor="ctr"/>
          <a:lstStyle/>
          <a:p>
            <a:pPr marL="0" indent="0" algn="r">
              <a:buNone/>
            </a:pPr>
            <a:r>
              <a:rPr sz="1000" b="1">
                <a:solidFill>
                  <a:srgbClr val="94A3B8"/>
                </a:solidFill>
                <a:latin typeface="Inter"/>
                <a:ea typeface="Inter"/>
                <a:cs typeface="Inter"/>
              </a:rPr>
              <a:t>02</a:t>
            </a:r>
            <a:endParaRPr sz="1000"/>
          </a:p>
        </p:txBody>
      </p:sp>
      <p:sp>
        <p:nvSpPr>
          <p:cNvPr id="10" name="Shape 8">
            <a:extLst>
              <a:ext uri="{FF2B5EF4-FFF2-40B4-BE49-F238E27FC236}">
                <a16:creationId xmlns:a16="http://schemas.microsoft.com/office/drawing/2014/main" id="{AD085A9B-42E3-413F-9236-7D69B6A10D16}"/>
              </a:ext>
            </a:extLst>
          </p:cNvPr>
          <p:cNvSpPr>
            <a:spLocks noGrp="1"/>
          </p:cNvSpPr>
          <p:nvPr/>
        </p:nvSpPr>
        <p:spPr>
          <a:xfrm>
            <a:off x="640080" y="2029968"/>
            <a:ext cx="5833872" cy="3291840"/>
          </a:xfrm>
          <a:prstGeom prst="roundRect">
            <a:avLst>
              <a:gd name="adj" fmla="val 5000"/>
            </a:avLst>
          </a:prstGeom>
          <a:solidFill>
            <a:srgbClr val="FFFFFF"/>
          </a:solidFill>
          <a:ln w="10160">
            <a:solidFill>
              <a:srgbClr val="E5EAF2"/>
            </a:solidFill>
            <a:prstDash val="solid"/>
          </a:ln>
        </p:spPr>
        <p:txBody>
          <a:bodyPr/>
          <a:lstStyle/>
          <a:p>
            <a:endParaRPr/>
          </a:p>
        </p:txBody>
      </p:sp>
      <p:sp>
        <p:nvSpPr>
          <p:cNvPr id="11" name="Text 9">
            <a:extLst>
              <a:ext uri="{FF2B5EF4-FFF2-40B4-BE49-F238E27FC236}">
                <a16:creationId xmlns:a16="http://schemas.microsoft.com/office/drawing/2014/main" id="{E64FFBC7-3127-488D-8DA4-D11351F2E9CE}"/>
              </a:ext>
            </a:extLst>
          </p:cNvPr>
          <p:cNvSpPr>
            <a:spLocks noGrp="1"/>
          </p:cNvSpPr>
          <p:nvPr/>
        </p:nvSpPr>
        <p:spPr>
          <a:xfrm>
            <a:off x="886968" y="2286000"/>
            <a:ext cx="9144000" cy="237744"/>
          </a:xfrm>
          <a:prstGeom prst="rect">
            <a:avLst/>
          </a:prstGeom>
          <a:noFill/>
        </p:spPr>
        <p:txBody>
          <a:bodyPr wrap="square" lIns="0" tIns="0" rIns="0" bIns="0" anchor="ctr"/>
          <a:lstStyle/>
          <a:p>
            <a:pPr marL="0" indent="0" algn="l">
              <a:buNone/>
            </a:pPr>
            <a:r>
              <a:rPr sz="1010" b="1" spc="120">
                <a:solidFill>
                  <a:srgbClr val="5253D7"/>
                </a:solidFill>
                <a:latin typeface="Inter"/>
                <a:ea typeface="Inter"/>
                <a:cs typeface="Inter"/>
              </a:rPr>
              <a:t>THE PROBLEM</a:t>
            </a:r>
            <a:endParaRPr sz="1010"/>
          </a:p>
        </p:txBody>
      </p:sp>
      <p:sp>
        <p:nvSpPr>
          <p:cNvPr id="12" name="Text 10">
            <a:extLst>
              <a:ext uri="{FF2B5EF4-FFF2-40B4-BE49-F238E27FC236}">
                <a16:creationId xmlns:a16="http://schemas.microsoft.com/office/drawing/2014/main" id="{2EDE349B-8400-4BD5-B163-2EEBCE2D20F5}"/>
              </a:ext>
            </a:extLst>
          </p:cNvPr>
          <p:cNvSpPr>
            <a:spLocks noGrp="1"/>
          </p:cNvSpPr>
          <p:nvPr/>
        </p:nvSpPr>
        <p:spPr>
          <a:xfrm>
            <a:off x="877824" y="2715768"/>
            <a:ext cx="5394960" cy="1197864"/>
          </a:xfrm>
          <a:prstGeom prst="rect">
            <a:avLst/>
          </a:prstGeom>
          <a:noFill/>
        </p:spPr>
        <p:txBody>
          <a:bodyPr wrap="square" lIns="0" tIns="0" rIns="0" bIns="0" anchor="t"/>
          <a:lstStyle/>
          <a:p>
            <a:pPr marL="0" indent="0" algn="l">
              <a:buNone/>
            </a:pPr>
            <a:r>
              <a:rPr sz="2200" b="1">
                <a:solidFill>
                  <a:srgbClr val="172033"/>
                </a:solidFill>
                <a:latin typeface="Inter"/>
                <a:ea typeface="Inter"/>
                <a:cs typeface="Inter"/>
              </a:rPr>
              <a:t>Teams lose time reconstructing</a:t>
            </a:r>
            <a:endParaRPr sz="2200"/>
          </a:p>
          <a:p>
            <a:pPr marL="0" indent="0" algn="l">
              <a:buNone/>
            </a:pPr>
            <a:r>
              <a:rPr sz="2200" b="1">
                <a:solidFill>
                  <a:srgbClr val="172033"/>
                </a:solidFill>
                <a:latin typeface="Inter"/>
                <a:ea typeface="Inter"/>
                <a:cs typeface="Inter"/>
              </a:rPr>
              <a:t>decisions across documents,</a:t>
            </a:r>
            <a:endParaRPr sz="2200"/>
          </a:p>
          <a:p>
            <a:pPr marL="0" indent="0" algn="l">
              <a:buNone/>
            </a:pPr>
            <a:r>
              <a:rPr sz="2200" b="1">
                <a:solidFill>
                  <a:srgbClr val="172033"/>
                </a:solidFill>
                <a:latin typeface="Inter"/>
                <a:ea typeface="Inter"/>
                <a:cs typeface="Inter"/>
              </a:rPr>
              <a:t>tickets and conversations.</a:t>
            </a:r>
            <a:endParaRPr sz="2200"/>
          </a:p>
        </p:txBody>
      </p:sp>
      <p:sp>
        <p:nvSpPr>
          <p:cNvPr id="13" name="Shape 11">
            <a:extLst>
              <a:ext uri="{FF2B5EF4-FFF2-40B4-BE49-F238E27FC236}">
                <a16:creationId xmlns:a16="http://schemas.microsoft.com/office/drawing/2014/main" id="{5FB87FF8-19D8-41CA-BC4E-BFFA4C81D1FD}"/>
              </a:ext>
            </a:extLst>
          </p:cNvPr>
          <p:cNvSpPr>
            <a:spLocks noGrp="1"/>
          </p:cNvSpPr>
          <p:nvPr/>
        </p:nvSpPr>
        <p:spPr>
          <a:xfrm>
            <a:off x="896112" y="4114800"/>
            <a:ext cx="5303520" cy="0"/>
          </a:xfrm>
          <a:prstGeom prst="line">
            <a:avLst/>
          </a:prstGeom>
          <a:noFill/>
          <a:ln w="11430">
            <a:solidFill>
              <a:srgbClr val="E5EAF2"/>
            </a:solidFill>
            <a:prstDash val="solid"/>
          </a:ln>
        </p:spPr>
        <p:txBody>
          <a:bodyPr/>
          <a:lstStyle/>
          <a:p>
            <a:endParaRPr/>
          </a:p>
        </p:txBody>
      </p:sp>
      <p:sp>
        <p:nvSpPr>
          <p:cNvPr id="14" name="Text 12">
            <a:extLst>
              <a:ext uri="{FF2B5EF4-FFF2-40B4-BE49-F238E27FC236}">
                <a16:creationId xmlns:a16="http://schemas.microsoft.com/office/drawing/2014/main" id="{AE2C9E5A-43B9-461D-A159-AB191715EBF8}"/>
              </a:ext>
            </a:extLst>
          </p:cNvPr>
          <p:cNvSpPr>
            <a:spLocks noGrp="1"/>
          </p:cNvSpPr>
          <p:nvPr/>
        </p:nvSpPr>
        <p:spPr>
          <a:xfrm>
            <a:off x="886968" y="4315968"/>
            <a:ext cx="5303520" cy="813816"/>
          </a:xfrm>
          <a:prstGeom prst="rect">
            <a:avLst/>
          </a:prstGeom>
          <a:noFill/>
        </p:spPr>
        <p:txBody>
          <a:bodyPr wrap="square" lIns="0" tIns="0" rIns="0" bIns="0" anchor="t"/>
          <a:lstStyle/>
          <a:p>
            <a:pPr marL="0" indent="0" algn="l">
              <a:buNone/>
            </a:pPr>
            <a:r>
              <a:rPr sz="1420">
                <a:solidFill>
                  <a:srgbClr val="667085"/>
                </a:solidFill>
                <a:latin typeface="Inter"/>
                <a:ea typeface="Inter"/>
                <a:cs typeface="Inter"/>
              </a:rPr>
              <a:t>During an incident, the answer may sit across a Jira issue, Slack thread, Confluence runbook and Drive postmortem. Searching tool by tool slows response and weakens confidence.</a:t>
            </a:r>
            <a:endParaRPr sz="1420"/>
          </a:p>
        </p:txBody>
      </p:sp>
      <p:sp>
        <p:nvSpPr>
          <p:cNvPr id="15" name="Shape 13">
            <a:extLst>
              <a:ext uri="{FF2B5EF4-FFF2-40B4-BE49-F238E27FC236}">
                <a16:creationId xmlns:a16="http://schemas.microsoft.com/office/drawing/2014/main" id="{8FF57168-C0F3-4670-A023-D517E98E7708}"/>
              </a:ext>
            </a:extLst>
          </p:cNvPr>
          <p:cNvSpPr>
            <a:spLocks noGrp="1"/>
          </p:cNvSpPr>
          <p:nvPr/>
        </p:nvSpPr>
        <p:spPr>
          <a:xfrm>
            <a:off x="6702552" y="2029968"/>
            <a:ext cx="4846320" cy="1545336"/>
          </a:xfrm>
          <a:prstGeom prst="roundRect">
            <a:avLst>
              <a:gd name="adj" fmla="val 10651"/>
            </a:avLst>
          </a:prstGeom>
          <a:solidFill>
            <a:srgbClr val="EFF0FF"/>
          </a:solidFill>
          <a:ln w="10160">
            <a:solidFill>
              <a:srgbClr val="E1E5FF"/>
            </a:solidFill>
            <a:prstDash val="solid"/>
          </a:ln>
        </p:spPr>
        <p:txBody>
          <a:bodyPr/>
          <a:lstStyle/>
          <a:p>
            <a:endParaRPr/>
          </a:p>
        </p:txBody>
      </p:sp>
      <p:sp>
        <p:nvSpPr>
          <p:cNvPr id="16" name="Text 14">
            <a:extLst>
              <a:ext uri="{FF2B5EF4-FFF2-40B4-BE49-F238E27FC236}">
                <a16:creationId xmlns:a16="http://schemas.microsoft.com/office/drawing/2014/main" id="{85E34B05-844C-4149-A2A2-5AE9F3BAC966}"/>
              </a:ext>
            </a:extLst>
          </p:cNvPr>
          <p:cNvSpPr>
            <a:spLocks noGrp="1"/>
          </p:cNvSpPr>
          <p:nvPr/>
        </p:nvSpPr>
        <p:spPr>
          <a:xfrm>
            <a:off x="6958584" y="2267712"/>
            <a:ext cx="4590288" cy="237744"/>
          </a:xfrm>
          <a:prstGeom prst="rect">
            <a:avLst/>
          </a:prstGeom>
          <a:noFill/>
        </p:spPr>
        <p:txBody>
          <a:bodyPr wrap="square" lIns="0" tIns="0" rIns="0" bIns="0" anchor="ctr"/>
          <a:lstStyle/>
          <a:p>
            <a:pPr marL="0" indent="0" algn="l">
              <a:buNone/>
            </a:pPr>
            <a:r>
              <a:rPr sz="1010" b="1" spc="120">
                <a:solidFill>
                  <a:srgbClr val="5253D7"/>
                </a:solidFill>
                <a:latin typeface="Inter"/>
                <a:ea typeface="Inter"/>
                <a:cs typeface="Inter"/>
              </a:rPr>
              <a:t>PRIMARY USERS</a:t>
            </a:r>
            <a:endParaRPr sz="1010"/>
          </a:p>
        </p:txBody>
      </p:sp>
      <p:sp>
        <p:nvSpPr>
          <p:cNvPr id="17" name="Text 15">
            <a:extLst>
              <a:ext uri="{FF2B5EF4-FFF2-40B4-BE49-F238E27FC236}">
                <a16:creationId xmlns:a16="http://schemas.microsoft.com/office/drawing/2014/main" id="{8AC43149-78C3-4A07-93E7-DCAEBCA0AA9A}"/>
              </a:ext>
            </a:extLst>
          </p:cNvPr>
          <p:cNvSpPr>
            <a:spLocks noGrp="1"/>
          </p:cNvSpPr>
          <p:nvPr/>
        </p:nvSpPr>
        <p:spPr>
          <a:xfrm>
            <a:off x="6949440" y="2624328"/>
            <a:ext cx="4315968" cy="685800"/>
          </a:xfrm>
          <a:prstGeom prst="rect">
            <a:avLst/>
          </a:prstGeom>
          <a:noFill/>
        </p:spPr>
        <p:txBody>
          <a:bodyPr wrap="square" lIns="0" tIns="0" rIns="0" bIns="0" anchor="t"/>
          <a:lstStyle/>
          <a:p>
            <a:pPr marL="0" indent="0" algn="l">
              <a:buNone/>
            </a:pPr>
            <a:r>
              <a:rPr sz="1570">
                <a:solidFill>
                  <a:srgbClr val="172033"/>
                </a:solidFill>
                <a:latin typeface="Inter"/>
                <a:ea typeface="Inter"/>
                <a:cs typeface="Inter"/>
              </a:rPr>
              <a:t>Employees who need an answer they can act on, without knowing where the evidence lives.</a:t>
            </a:r>
            <a:endParaRPr sz="1570"/>
          </a:p>
        </p:txBody>
      </p:sp>
      <p:sp>
        <p:nvSpPr>
          <p:cNvPr id="18" name="Shape 16">
            <a:extLst>
              <a:ext uri="{FF2B5EF4-FFF2-40B4-BE49-F238E27FC236}">
                <a16:creationId xmlns:a16="http://schemas.microsoft.com/office/drawing/2014/main" id="{B5266229-D546-4CF9-82A4-FFCAE38F02F2}"/>
              </a:ext>
            </a:extLst>
          </p:cNvPr>
          <p:cNvSpPr>
            <a:spLocks noGrp="1"/>
          </p:cNvSpPr>
          <p:nvPr/>
        </p:nvSpPr>
        <p:spPr>
          <a:xfrm>
            <a:off x="6702552" y="3739896"/>
            <a:ext cx="4846320" cy="1581912"/>
          </a:xfrm>
          <a:prstGeom prst="roundRect">
            <a:avLst>
              <a:gd name="adj" fmla="val 10405"/>
            </a:avLst>
          </a:prstGeom>
          <a:solidFill>
            <a:srgbClr val="ECF9F5"/>
          </a:solidFill>
          <a:ln w="10160">
            <a:solidFill>
              <a:srgbClr val="CFEEE5"/>
            </a:solidFill>
            <a:prstDash val="solid"/>
          </a:ln>
        </p:spPr>
        <p:txBody>
          <a:bodyPr/>
          <a:lstStyle/>
          <a:p>
            <a:endParaRPr/>
          </a:p>
        </p:txBody>
      </p:sp>
      <p:sp>
        <p:nvSpPr>
          <p:cNvPr id="19" name="Text 17">
            <a:extLst>
              <a:ext uri="{FF2B5EF4-FFF2-40B4-BE49-F238E27FC236}">
                <a16:creationId xmlns:a16="http://schemas.microsoft.com/office/drawing/2014/main" id="{C7E4274A-732F-474F-8BB6-E51CFBF20AA6}"/>
              </a:ext>
            </a:extLst>
          </p:cNvPr>
          <p:cNvSpPr>
            <a:spLocks noGrp="1"/>
          </p:cNvSpPr>
          <p:nvPr/>
        </p:nvSpPr>
        <p:spPr>
          <a:xfrm>
            <a:off x="6958584" y="3968496"/>
            <a:ext cx="4590288" cy="237744"/>
          </a:xfrm>
          <a:prstGeom prst="rect">
            <a:avLst/>
          </a:prstGeom>
          <a:noFill/>
        </p:spPr>
        <p:txBody>
          <a:bodyPr wrap="square" lIns="0" tIns="0" rIns="0" bIns="0" anchor="ctr"/>
          <a:lstStyle/>
          <a:p>
            <a:pPr marL="0" indent="0" algn="l">
              <a:buNone/>
            </a:pPr>
            <a:r>
              <a:rPr sz="1010" b="1" spc="120">
                <a:solidFill>
                  <a:srgbClr val="0B927D"/>
                </a:solidFill>
                <a:latin typeface="Inter"/>
                <a:ea typeface="Inter"/>
                <a:cs typeface="Inter"/>
              </a:rPr>
              <a:t>TRUST REQUIREMENT</a:t>
            </a:r>
            <a:endParaRPr sz="1010"/>
          </a:p>
        </p:txBody>
      </p:sp>
      <p:sp>
        <p:nvSpPr>
          <p:cNvPr id="20" name="Text 18">
            <a:extLst>
              <a:ext uri="{FF2B5EF4-FFF2-40B4-BE49-F238E27FC236}">
                <a16:creationId xmlns:a16="http://schemas.microsoft.com/office/drawing/2014/main" id="{616F8022-3CF4-40F3-A994-851FA6F16173}"/>
              </a:ext>
            </a:extLst>
          </p:cNvPr>
          <p:cNvSpPr>
            <a:spLocks noGrp="1"/>
          </p:cNvSpPr>
          <p:nvPr/>
        </p:nvSpPr>
        <p:spPr>
          <a:xfrm>
            <a:off x="6949440" y="4325112"/>
            <a:ext cx="4334256" cy="704088"/>
          </a:xfrm>
          <a:prstGeom prst="rect">
            <a:avLst/>
          </a:prstGeom>
          <a:noFill/>
        </p:spPr>
        <p:txBody>
          <a:bodyPr wrap="square" lIns="0" tIns="0" rIns="0" bIns="0" anchor="t"/>
          <a:lstStyle/>
          <a:p>
            <a:pPr marL="0" indent="0" algn="l">
              <a:buNone/>
            </a:pPr>
            <a:r>
              <a:rPr sz="1570">
                <a:solidFill>
                  <a:srgbClr val="172033"/>
                </a:solidFill>
                <a:latin typeface="Inter"/>
                <a:ea typeface="Inter"/>
                <a:cs typeface="Inter"/>
              </a:rPr>
              <a:t>Administrators and compliance teams need to see who asked, what was used and why access was allowed.</a:t>
            </a:r>
            <a:endParaRPr sz="1570"/>
          </a:p>
        </p:txBody>
      </p:sp>
      <p:sp>
        <p:nvSpPr>
          <p:cNvPr id="21" name="Shape 19">
            <a:extLst>
              <a:ext uri="{FF2B5EF4-FFF2-40B4-BE49-F238E27FC236}">
                <a16:creationId xmlns:a16="http://schemas.microsoft.com/office/drawing/2014/main" id="{3FD1F1C6-9310-4B3E-886D-B1A3E9A45E0E}"/>
              </a:ext>
            </a:extLst>
          </p:cNvPr>
          <p:cNvSpPr>
            <a:spLocks noGrp="1"/>
          </p:cNvSpPr>
          <p:nvPr/>
        </p:nvSpPr>
        <p:spPr>
          <a:xfrm>
            <a:off x="640080" y="5532120"/>
            <a:ext cx="10908792" cy="603504"/>
          </a:xfrm>
          <a:prstGeom prst="roundRect">
            <a:avLst>
              <a:gd name="adj" fmla="val 21212"/>
            </a:avLst>
          </a:prstGeom>
          <a:solidFill>
            <a:srgbClr val="FFFFFF"/>
          </a:solidFill>
          <a:ln w="10160">
            <a:solidFill>
              <a:srgbClr val="E5EAF2"/>
            </a:solidFill>
            <a:prstDash val="solid"/>
          </a:ln>
        </p:spPr>
        <p:txBody>
          <a:bodyPr/>
          <a:lstStyle/>
          <a:p>
            <a:endParaRPr/>
          </a:p>
        </p:txBody>
      </p:sp>
      <p:sp>
        <p:nvSpPr>
          <p:cNvPr id="22" name="Text 20">
            <a:extLst>
              <a:ext uri="{FF2B5EF4-FFF2-40B4-BE49-F238E27FC236}">
                <a16:creationId xmlns:a16="http://schemas.microsoft.com/office/drawing/2014/main" id="{8AE9BCE5-54EF-4A6C-80E7-B52AB442EE1F}"/>
              </a:ext>
            </a:extLst>
          </p:cNvPr>
          <p:cNvSpPr>
            <a:spLocks noGrp="1"/>
          </p:cNvSpPr>
          <p:nvPr/>
        </p:nvSpPr>
        <p:spPr>
          <a:xfrm>
            <a:off x="859536" y="5705856"/>
            <a:ext cx="1499616" cy="182880"/>
          </a:xfrm>
          <a:prstGeom prst="rect">
            <a:avLst/>
          </a:prstGeom>
          <a:noFill/>
        </p:spPr>
        <p:txBody>
          <a:bodyPr wrap="square" lIns="0" tIns="0" rIns="0" bIns="0" anchor="ctr"/>
          <a:lstStyle/>
          <a:p>
            <a:pPr marL="0" indent="0" algn="l">
              <a:buNone/>
            </a:pPr>
            <a:r>
              <a:rPr sz="1100" b="1" spc="50">
                <a:solidFill>
                  <a:srgbClr val="5253D7"/>
                </a:solidFill>
                <a:latin typeface="Inter"/>
                <a:ea typeface="Inter"/>
                <a:cs typeface="Inter"/>
              </a:rPr>
              <a:t>RELAY CONNECTS</a:t>
            </a:r>
            <a:endParaRPr sz="1100"/>
          </a:p>
        </p:txBody>
      </p:sp>
      <p:sp>
        <p:nvSpPr>
          <p:cNvPr id="23" name="Shape 21">
            <a:extLst>
              <a:ext uri="{FF2B5EF4-FFF2-40B4-BE49-F238E27FC236}">
                <a16:creationId xmlns:a16="http://schemas.microsoft.com/office/drawing/2014/main" id="{AF7063FB-B4BF-43A8-910F-5522D0F677D5}"/>
              </a:ext>
            </a:extLst>
          </p:cNvPr>
          <p:cNvSpPr>
            <a:spLocks noGrp="1"/>
          </p:cNvSpPr>
          <p:nvPr/>
        </p:nvSpPr>
        <p:spPr>
          <a:xfrm>
            <a:off x="2395728" y="5632704"/>
            <a:ext cx="1490472" cy="374904"/>
          </a:xfrm>
          <a:prstGeom prst="roundRect">
            <a:avLst>
              <a:gd name="adj" fmla="val 31707"/>
            </a:avLst>
          </a:prstGeom>
          <a:solidFill>
            <a:srgbClr val="F2F5FA"/>
          </a:solidFill>
          <a:ln w="10160">
            <a:solidFill>
              <a:srgbClr val="F2F5FA"/>
            </a:solidFill>
            <a:prstDash val="solid"/>
          </a:ln>
        </p:spPr>
        <p:txBody>
          <a:bodyPr/>
          <a:lstStyle/>
          <a:p>
            <a:endParaRPr/>
          </a:p>
        </p:txBody>
      </p:sp>
      <p:sp>
        <p:nvSpPr>
          <p:cNvPr id="24" name="Text 22">
            <a:extLst>
              <a:ext uri="{FF2B5EF4-FFF2-40B4-BE49-F238E27FC236}">
                <a16:creationId xmlns:a16="http://schemas.microsoft.com/office/drawing/2014/main" id="{E638F57D-8B9B-4E0F-8215-FDBA8FC57232}"/>
              </a:ext>
            </a:extLst>
          </p:cNvPr>
          <p:cNvSpPr>
            <a:spLocks noGrp="1"/>
          </p:cNvSpPr>
          <p:nvPr/>
        </p:nvSpPr>
        <p:spPr>
          <a:xfrm>
            <a:off x="2487168" y="5646420"/>
            <a:ext cx="1307592" cy="347472"/>
          </a:xfrm>
          <a:prstGeom prst="rect">
            <a:avLst/>
          </a:prstGeom>
          <a:noFill/>
        </p:spPr>
        <p:txBody>
          <a:bodyPr wrap="square" lIns="0" tIns="0" rIns="0" bIns="0" anchor="ctr"/>
          <a:lstStyle/>
          <a:p>
            <a:pPr marL="0" indent="0" algn="ctr">
              <a:buNone/>
            </a:pPr>
            <a:r>
              <a:rPr sz="1140" b="1">
                <a:solidFill>
                  <a:srgbClr val="172033"/>
                </a:solidFill>
                <a:latin typeface="Inter"/>
                <a:ea typeface="Inter"/>
                <a:cs typeface="Inter"/>
              </a:rPr>
              <a:t>Confluence</a:t>
            </a:r>
            <a:endParaRPr sz="1140"/>
          </a:p>
        </p:txBody>
      </p:sp>
      <p:sp>
        <p:nvSpPr>
          <p:cNvPr id="25" name="Shape 23">
            <a:extLst>
              <a:ext uri="{FF2B5EF4-FFF2-40B4-BE49-F238E27FC236}">
                <a16:creationId xmlns:a16="http://schemas.microsoft.com/office/drawing/2014/main" id="{A0406B2C-90B8-48D8-A6DD-8075E9D5EF20}"/>
              </a:ext>
            </a:extLst>
          </p:cNvPr>
          <p:cNvSpPr>
            <a:spLocks noGrp="1"/>
          </p:cNvSpPr>
          <p:nvPr/>
        </p:nvSpPr>
        <p:spPr>
          <a:xfrm>
            <a:off x="4069080" y="5632704"/>
            <a:ext cx="731520" cy="374904"/>
          </a:xfrm>
          <a:prstGeom prst="roundRect">
            <a:avLst>
              <a:gd name="adj" fmla="val 31707"/>
            </a:avLst>
          </a:prstGeom>
          <a:solidFill>
            <a:srgbClr val="F2F5FA"/>
          </a:solidFill>
          <a:ln w="10160">
            <a:solidFill>
              <a:srgbClr val="F2F5FA"/>
            </a:solidFill>
            <a:prstDash val="solid"/>
          </a:ln>
        </p:spPr>
        <p:txBody>
          <a:bodyPr/>
          <a:lstStyle/>
          <a:p>
            <a:endParaRPr/>
          </a:p>
        </p:txBody>
      </p:sp>
      <p:sp>
        <p:nvSpPr>
          <p:cNvPr id="26" name="Text 24">
            <a:extLst>
              <a:ext uri="{FF2B5EF4-FFF2-40B4-BE49-F238E27FC236}">
                <a16:creationId xmlns:a16="http://schemas.microsoft.com/office/drawing/2014/main" id="{A7BC3ADB-6363-4053-8621-0EBDDB9C7AAD}"/>
              </a:ext>
            </a:extLst>
          </p:cNvPr>
          <p:cNvSpPr>
            <a:spLocks noGrp="1"/>
          </p:cNvSpPr>
          <p:nvPr/>
        </p:nvSpPr>
        <p:spPr>
          <a:xfrm>
            <a:off x="4160520" y="5646420"/>
            <a:ext cx="548640" cy="347472"/>
          </a:xfrm>
          <a:prstGeom prst="rect">
            <a:avLst/>
          </a:prstGeom>
          <a:noFill/>
        </p:spPr>
        <p:txBody>
          <a:bodyPr wrap="square" lIns="0" tIns="0" rIns="0" bIns="0" anchor="ctr"/>
          <a:lstStyle/>
          <a:p>
            <a:pPr marL="0" indent="0" algn="ctr">
              <a:buNone/>
            </a:pPr>
            <a:r>
              <a:rPr sz="1140" b="1">
                <a:solidFill>
                  <a:srgbClr val="172033"/>
                </a:solidFill>
                <a:latin typeface="Inter"/>
                <a:ea typeface="Inter"/>
                <a:cs typeface="Inter"/>
              </a:rPr>
              <a:t>Jira</a:t>
            </a:r>
            <a:endParaRPr sz="1140"/>
          </a:p>
        </p:txBody>
      </p:sp>
      <p:sp>
        <p:nvSpPr>
          <p:cNvPr id="27" name="Shape 25">
            <a:extLst>
              <a:ext uri="{FF2B5EF4-FFF2-40B4-BE49-F238E27FC236}">
                <a16:creationId xmlns:a16="http://schemas.microsoft.com/office/drawing/2014/main" id="{D7F54EE3-44AF-482F-A50B-4171BE56793D}"/>
              </a:ext>
            </a:extLst>
          </p:cNvPr>
          <p:cNvSpPr>
            <a:spLocks noGrp="1"/>
          </p:cNvSpPr>
          <p:nvPr/>
        </p:nvSpPr>
        <p:spPr>
          <a:xfrm>
            <a:off x="5047488" y="5632704"/>
            <a:ext cx="1042416" cy="374904"/>
          </a:xfrm>
          <a:prstGeom prst="roundRect">
            <a:avLst>
              <a:gd name="adj" fmla="val 31707"/>
            </a:avLst>
          </a:prstGeom>
          <a:solidFill>
            <a:srgbClr val="F2F5FA"/>
          </a:solidFill>
          <a:ln w="10160">
            <a:solidFill>
              <a:srgbClr val="F2F5FA"/>
            </a:solidFill>
            <a:prstDash val="solid"/>
          </a:ln>
        </p:spPr>
        <p:txBody>
          <a:bodyPr/>
          <a:lstStyle/>
          <a:p>
            <a:endParaRPr/>
          </a:p>
        </p:txBody>
      </p:sp>
      <p:sp>
        <p:nvSpPr>
          <p:cNvPr id="28" name="Text 26">
            <a:extLst>
              <a:ext uri="{FF2B5EF4-FFF2-40B4-BE49-F238E27FC236}">
                <a16:creationId xmlns:a16="http://schemas.microsoft.com/office/drawing/2014/main" id="{0D1AD15D-54F5-41B2-957C-31EAB8D96B9A}"/>
              </a:ext>
            </a:extLst>
          </p:cNvPr>
          <p:cNvSpPr>
            <a:spLocks noGrp="1"/>
          </p:cNvSpPr>
          <p:nvPr/>
        </p:nvSpPr>
        <p:spPr>
          <a:xfrm>
            <a:off x="5138928" y="5646420"/>
            <a:ext cx="859536" cy="347472"/>
          </a:xfrm>
          <a:prstGeom prst="rect">
            <a:avLst/>
          </a:prstGeom>
          <a:noFill/>
        </p:spPr>
        <p:txBody>
          <a:bodyPr wrap="square" lIns="0" tIns="0" rIns="0" bIns="0" anchor="ctr"/>
          <a:lstStyle/>
          <a:p>
            <a:pPr marL="0" indent="0" algn="ctr">
              <a:buNone/>
            </a:pPr>
            <a:r>
              <a:rPr sz="1140" b="1">
                <a:solidFill>
                  <a:srgbClr val="172033"/>
                </a:solidFill>
                <a:latin typeface="Inter"/>
                <a:ea typeface="Inter"/>
                <a:cs typeface="Inter"/>
              </a:rPr>
              <a:t>Slack</a:t>
            </a:r>
            <a:endParaRPr sz="1140"/>
          </a:p>
        </p:txBody>
      </p:sp>
      <p:sp>
        <p:nvSpPr>
          <p:cNvPr id="29" name="Shape 27">
            <a:extLst>
              <a:ext uri="{FF2B5EF4-FFF2-40B4-BE49-F238E27FC236}">
                <a16:creationId xmlns:a16="http://schemas.microsoft.com/office/drawing/2014/main" id="{F9F120A6-1A99-4087-98D7-82869140CAE3}"/>
              </a:ext>
            </a:extLst>
          </p:cNvPr>
          <p:cNvSpPr>
            <a:spLocks noGrp="1"/>
          </p:cNvSpPr>
          <p:nvPr/>
        </p:nvSpPr>
        <p:spPr>
          <a:xfrm>
            <a:off x="6364224" y="5632704"/>
            <a:ext cx="1508760" cy="374904"/>
          </a:xfrm>
          <a:prstGeom prst="roundRect">
            <a:avLst>
              <a:gd name="adj" fmla="val 31707"/>
            </a:avLst>
          </a:prstGeom>
          <a:solidFill>
            <a:srgbClr val="F2F5FA"/>
          </a:solidFill>
          <a:ln w="10160">
            <a:solidFill>
              <a:srgbClr val="F2F5FA"/>
            </a:solidFill>
            <a:prstDash val="solid"/>
          </a:ln>
        </p:spPr>
        <p:txBody>
          <a:bodyPr/>
          <a:lstStyle/>
          <a:p>
            <a:endParaRPr/>
          </a:p>
        </p:txBody>
      </p:sp>
      <p:sp>
        <p:nvSpPr>
          <p:cNvPr id="30" name="Text 28">
            <a:extLst>
              <a:ext uri="{FF2B5EF4-FFF2-40B4-BE49-F238E27FC236}">
                <a16:creationId xmlns:a16="http://schemas.microsoft.com/office/drawing/2014/main" id="{AA6F2728-5BB6-4246-AB70-7A0BB3486F01}"/>
              </a:ext>
            </a:extLst>
          </p:cNvPr>
          <p:cNvSpPr>
            <a:spLocks noGrp="1"/>
          </p:cNvSpPr>
          <p:nvPr/>
        </p:nvSpPr>
        <p:spPr>
          <a:xfrm>
            <a:off x="6455664" y="5646420"/>
            <a:ext cx="1325880" cy="347472"/>
          </a:xfrm>
          <a:prstGeom prst="rect">
            <a:avLst/>
          </a:prstGeom>
          <a:noFill/>
        </p:spPr>
        <p:txBody>
          <a:bodyPr wrap="square" lIns="0" tIns="0" rIns="0" bIns="0" anchor="ctr"/>
          <a:lstStyle/>
          <a:p>
            <a:pPr marL="0" indent="0" algn="ctr">
              <a:buNone/>
            </a:pPr>
            <a:r>
              <a:rPr sz="1140" b="1">
                <a:solidFill>
                  <a:srgbClr val="172033"/>
                </a:solidFill>
                <a:latin typeface="Inter"/>
                <a:ea typeface="Inter"/>
                <a:cs typeface="Inter"/>
              </a:rPr>
              <a:t>Google Drive</a:t>
            </a:r>
            <a:endParaRPr sz="1140"/>
          </a:p>
        </p:txBody>
      </p:sp>
      <p:sp>
        <p:nvSpPr>
          <p:cNvPr id="31" name="Text 29">
            <a:extLst>
              <a:ext uri="{FF2B5EF4-FFF2-40B4-BE49-F238E27FC236}">
                <a16:creationId xmlns:a16="http://schemas.microsoft.com/office/drawing/2014/main" id="{6750DDD5-3EEF-4555-B48C-EB09DC260112}"/>
              </a:ext>
            </a:extLst>
          </p:cNvPr>
          <p:cNvSpPr>
            <a:spLocks noGrp="1"/>
          </p:cNvSpPr>
          <p:nvPr/>
        </p:nvSpPr>
        <p:spPr>
          <a:xfrm>
            <a:off x="8247888" y="5715000"/>
            <a:ext cx="3017520" cy="182880"/>
          </a:xfrm>
          <a:prstGeom prst="rect">
            <a:avLst/>
          </a:prstGeom>
          <a:noFill/>
        </p:spPr>
        <p:txBody>
          <a:bodyPr wrap="square" lIns="0" tIns="0" rIns="0" bIns="0" anchor="ctr"/>
          <a:lstStyle/>
          <a:p>
            <a:pPr marL="0" indent="0" algn="r">
              <a:buNone/>
            </a:pPr>
            <a:r>
              <a:rPr sz="1100" b="1">
                <a:solidFill>
                  <a:srgbClr val="0B927D"/>
                </a:solidFill>
                <a:latin typeface="Inter"/>
                <a:ea typeface="Inter"/>
                <a:cs typeface="Inter"/>
              </a:rPr>
              <a:t>Permissions checked at retrieval</a:t>
            </a:r>
            <a:endParaRPr sz="1100"/>
          </a:p>
        </p:txBody>
      </p:sp>
    </p:spTree>
    <p:extLst>
      <p:ext uri="{BB962C8B-B14F-4D97-AF65-F5344CB8AC3E}">
        <p14:creationId xmlns:p14="http://schemas.microsoft.com/office/powerpoint/2010/main" val="13679565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1B5A66B-89A7-4A83-9549-415BFBD8028E}"/>
              </a:ext>
            </a:extLst>
          </p:cNvPr>
          <p:cNvSpPr>
            <a:spLocks noGrp="1"/>
          </p:cNvSpPr>
          <p:nvPr/>
        </p:nvSpPr>
        <p:spPr>
          <a:xfrm>
            <a:off x="0" y="0"/>
            <a:ext cx="12192000" cy="50292"/>
          </a:xfrm>
          <a:prstGeom prst="rect">
            <a:avLst/>
          </a:prstGeom>
          <a:solidFill>
            <a:srgbClr val="5253D7"/>
          </a:solidFill>
          <a:ln w="12700">
            <a:solidFill>
              <a:srgbClr val="5253D7"/>
            </a:solidFill>
            <a:prstDash val="solid"/>
          </a:ln>
        </p:spPr>
        <p:txBody>
          <a:bodyPr/>
          <a:lstStyle/>
          <a:p>
            <a:endParaRPr/>
          </a:p>
        </p:txBody>
      </p:sp>
      <p:sp>
        <p:nvSpPr>
          <p:cNvPr id="3" name="Text 1">
            <a:extLst>
              <a:ext uri="{FF2B5EF4-FFF2-40B4-BE49-F238E27FC236}">
                <a16:creationId xmlns:a16="http://schemas.microsoft.com/office/drawing/2014/main" id="{FB0F1462-DB47-4929-804D-D595D269BFD6}"/>
              </a:ext>
            </a:extLst>
          </p:cNvPr>
          <p:cNvSpPr>
            <a:spLocks noGrp="1"/>
          </p:cNvSpPr>
          <p:nvPr/>
        </p:nvSpPr>
        <p:spPr>
          <a:xfrm>
            <a:off x="640080" y="393192"/>
            <a:ext cx="9144000" cy="237744"/>
          </a:xfrm>
          <a:prstGeom prst="rect">
            <a:avLst/>
          </a:prstGeom>
          <a:noFill/>
        </p:spPr>
        <p:txBody>
          <a:bodyPr wrap="square" lIns="0" tIns="0" rIns="0" bIns="0" anchor="ctr"/>
          <a:lstStyle/>
          <a:p>
            <a:pPr marL="0" indent="0" algn="l">
              <a:buNone/>
            </a:pPr>
            <a:r>
              <a:rPr sz="1010" b="1" spc="120">
                <a:solidFill>
                  <a:srgbClr val="5253D7"/>
                </a:solidFill>
                <a:latin typeface="Inter"/>
                <a:ea typeface="Inter"/>
                <a:cs typeface="Inter"/>
              </a:rPr>
              <a:t>TECHNICAL OVERVIEW</a:t>
            </a:r>
            <a:endParaRPr sz="1010"/>
          </a:p>
        </p:txBody>
      </p:sp>
      <p:sp>
        <p:nvSpPr>
          <p:cNvPr id="4" name="Text 2">
            <a:extLst>
              <a:ext uri="{FF2B5EF4-FFF2-40B4-BE49-F238E27FC236}">
                <a16:creationId xmlns:a16="http://schemas.microsoft.com/office/drawing/2014/main" id="{2B1F1D67-D5F5-40BE-9435-6D5C3B8E42B3}"/>
              </a:ext>
            </a:extLst>
          </p:cNvPr>
          <p:cNvSpPr>
            <a:spLocks noGrp="1"/>
          </p:cNvSpPr>
          <p:nvPr/>
        </p:nvSpPr>
        <p:spPr>
          <a:xfrm>
            <a:off x="640080" y="740664"/>
            <a:ext cx="10954512" cy="512064"/>
          </a:xfrm>
          <a:prstGeom prst="rect">
            <a:avLst/>
          </a:prstGeom>
          <a:noFill/>
        </p:spPr>
        <p:txBody>
          <a:bodyPr wrap="square" lIns="0" tIns="0" rIns="0" bIns="0" anchor="ctr"/>
          <a:lstStyle/>
          <a:p>
            <a:pPr marL="0" indent="0" algn="l">
              <a:buNone/>
            </a:pPr>
            <a:r>
              <a:rPr sz="2950" b="1">
                <a:solidFill>
                  <a:srgbClr val="172033"/>
                </a:solidFill>
                <a:latin typeface="Inter"/>
                <a:ea typeface="Inter"/>
                <a:cs typeface="Inter"/>
              </a:rPr>
              <a:t>Ingestion and the knowledge index</a:t>
            </a:r>
            <a:endParaRPr sz="2950"/>
          </a:p>
        </p:txBody>
      </p:sp>
      <p:sp>
        <p:nvSpPr>
          <p:cNvPr id="5" name="Text 3">
            <a:extLst>
              <a:ext uri="{FF2B5EF4-FFF2-40B4-BE49-F238E27FC236}">
                <a16:creationId xmlns:a16="http://schemas.microsoft.com/office/drawing/2014/main" id="{ADD7FB51-73E3-4F5F-BE49-59C006960755}"/>
              </a:ext>
            </a:extLst>
          </p:cNvPr>
          <p:cNvSpPr>
            <a:spLocks noGrp="1"/>
          </p:cNvSpPr>
          <p:nvPr/>
        </p:nvSpPr>
        <p:spPr>
          <a:xfrm>
            <a:off x="640080" y="1399032"/>
            <a:ext cx="10844784" cy="329184"/>
          </a:xfrm>
          <a:prstGeom prst="rect">
            <a:avLst/>
          </a:prstGeom>
          <a:noFill/>
        </p:spPr>
        <p:txBody>
          <a:bodyPr wrap="square" lIns="0" tIns="0" rIns="0" bIns="0" anchor="ctr"/>
          <a:lstStyle/>
          <a:p>
            <a:pPr marL="0" indent="0" algn="l">
              <a:buNone/>
            </a:pPr>
            <a:r>
              <a:rPr sz="1410">
                <a:solidFill>
                  <a:srgbClr val="667085"/>
                </a:solidFill>
                <a:latin typeface="Inter"/>
                <a:ea typeface="Inter"/>
                <a:cs typeface="Inter"/>
              </a:rPr>
              <a:t>Retrieval-augmented generation (RAG) grounds each answer in retrieved source evidence.</a:t>
            </a:r>
            <a:endParaRPr sz="1410"/>
          </a:p>
        </p:txBody>
      </p:sp>
      <p:sp>
        <p:nvSpPr>
          <p:cNvPr id="6" name="Shape 4">
            <a:extLst>
              <a:ext uri="{FF2B5EF4-FFF2-40B4-BE49-F238E27FC236}">
                <a16:creationId xmlns:a16="http://schemas.microsoft.com/office/drawing/2014/main" id="{D4759355-B5E3-4815-93FB-10CD3D108B25}"/>
              </a:ext>
            </a:extLst>
          </p:cNvPr>
          <p:cNvSpPr>
            <a:spLocks noGrp="1"/>
          </p:cNvSpPr>
          <p:nvPr/>
        </p:nvSpPr>
        <p:spPr>
          <a:xfrm>
            <a:off x="640080" y="6437376"/>
            <a:ext cx="10908792" cy="0"/>
          </a:xfrm>
          <a:prstGeom prst="line">
            <a:avLst/>
          </a:prstGeom>
          <a:noFill/>
          <a:ln w="10160">
            <a:solidFill>
              <a:srgbClr val="E5EAF2"/>
            </a:solidFill>
            <a:prstDash val="solid"/>
          </a:ln>
        </p:spPr>
        <p:txBody>
          <a:bodyPr/>
          <a:lstStyle/>
          <a:p>
            <a:endParaRPr/>
          </a:p>
        </p:txBody>
      </p:sp>
      <p:sp>
        <p:nvSpPr>
          <p:cNvPr id="7" name="Text 5">
            <a:extLst>
              <a:ext uri="{FF2B5EF4-FFF2-40B4-BE49-F238E27FC236}">
                <a16:creationId xmlns:a16="http://schemas.microsoft.com/office/drawing/2014/main" id="{C800A3F7-5707-4CCD-ABDA-CB12A2F7BABC}"/>
              </a:ext>
            </a:extLst>
          </p:cNvPr>
          <p:cNvSpPr>
            <a:spLocks noGrp="1"/>
          </p:cNvSpPr>
          <p:nvPr/>
        </p:nvSpPr>
        <p:spPr>
          <a:xfrm>
            <a:off x="640080" y="6528816"/>
            <a:ext cx="585216" cy="155448"/>
          </a:xfrm>
          <a:prstGeom prst="rect">
            <a:avLst/>
          </a:prstGeom>
          <a:noFill/>
        </p:spPr>
        <p:txBody>
          <a:bodyPr wrap="square" lIns="0" tIns="0" rIns="0" bIns="0" anchor="ctr"/>
          <a:lstStyle/>
          <a:p>
            <a:pPr marL="0" indent="0" algn="l">
              <a:buNone/>
            </a:pPr>
            <a:r>
              <a:rPr sz="1040" b="1">
                <a:solidFill>
                  <a:srgbClr val="172033"/>
                </a:solidFill>
                <a:latin typeface="Inter"/>
                <a:ea typeface="Inter"/>
                <a:cs typeface="Inter"/>
              </a:rPr>
              <a:t>relay</a:t>
            </a:r>
            <a:endParaRPr sz="1040"/>
          </a:p>
        </p:txBody>
      </p:sp>
      <p:sp>
        <p:nvSpPr>
          <p:cNvPr id="8" name="Text 6">
            <a:extLst>
              <a:ext uri="{FF2B5EF4-FFF2-40B4-BE49-F238E27FC236}">
                <a16:creationId xmlns:a16="http://schemas.microsoft.com/office/drawing/2014/main" id="{BF7A4967-DE7C-4E6A-914E-CDF31A034A00}"/>
              </a:ext>
            </a:extLst>
          </p:cNvPr>
          <p:cNvSpPr>
            <a:spLocks noGrp="1"/>
          </p:cNvSpPr>
          <p:nvPr/>
        </p:nvSpPr>
        <p:spPr>
          <a:xfrm>
            <a:off x="1307592" y="6528816"/>
            <a:ext cx="2743200" cy="155448"/>
          </a:xfrm>
          <a:prstGeom prst="rect">
            <a:avLst/>
          </a:prstGeom>
          <a:noFill/>
        </p:spPr>
        <p:txBody>
          <a:bodyPr wrap="square" lIns="0" tIns="0" rIns="0" bIns="0" anchor="ctr"/>
          <a:lstStyle/>
          <a:p>
            <a:pPr marL="0" indent="0" algn="l">
              <a:buNone/>
            </a:pPr>
            <a:r>
              <a:rPr sz="970">
                <a:solidFill>
                  <a:srgbClr val="94A3B8"/>
                </a:solidFill>
                <a:latin typeface="Inter"/>
                <a:ea typeface="Inter"/>
                <a:cs typeface="Inter"/>
              </a:rPr>
              <a:t>/ Tencent Hackathon demo</a:t>
            </a:r>
            <a:endParaRPr sz="970"/>
          </a:p>
        </p:txBody>
      </p:sp>
      <p:sp>
        <p:nvSpPr>
          <p:cNvPr id="9" name="Text 7">
            <a:extLst>
              <a:ext uri="{FF2B5EF4-FFF2-40B4-BE49-F238E27FC236}">
                <a16:creationId xmlns:a16="http://schemas.microsoft.com/office/drawing/2014/main" id="{8C97F1D6-34AB-4F6B-A011-230AEE833307}"/>
              </a:ext>
            </a:extLst>
          </p:cNvPr>
          <p:cNvSpPr>
            <a:spLocks noGrp="1"/>
          </p:cNvSpPr>
          <p:nvPr/>
        </p:nvSpPr>
        <p:spPr>
          <a:xfrm>
            <a:off x="11036808" y="6519672"/>
            <a:ext cx="502920" cy="164592"/>
          </a:xfrm>
          <a:prstGeom prst="rect">
            <a:avLst/>
          </a:prstGeom>
          <a:noFill/>
        </p:spPr>
        <p:txBody>
          <a:bodyPr wrap="square" lIns="0" tIns="0" rIns="0" bIns="0" anchor="ctr"/>
          <a:lstStyle/>
          <a:p>
            <a:pPr marL="0" indent="0" algn="r">
              <a:buNone/>
            </a:pPr>
            <a:r>
              <a:rPr sz="1000" b="1">
                <a:solidFill>
                  <a:srgbClr val="94A3B8"/>
                </a:solidFill>
                <a:latin typeface="Inter"/>
                <a:ea typeface="Inter"/>
                <a:cs typeface="Inter"/>
              </a:rPr>
              <a:t>03</a:t>
            </a:r>
            <a:endParaRPr sz="1000"/>
          </a:p>
        </p:txBody>
      </p:sp>
      <p:sp>
        <p:nvSpPr>
          <p:cNvPr id="10" name="Shape 8">
            <a:extLst>
              <a:ext uri="{FF2B5EF4-FFF2-40B4-BE49-F238E27FC236}">
                <a16:creationId xmlns:a16="http://schemas.microsoft.com/office/drawing/2014/main" id="{A20D0875-C2C5-49F3-8602-30C399A6E2A7}"/>
              </a:ext>
            </a:extLst>
          </p:cNvPr>
          <p:cNvSpPr>
            <a:spLocks noGrp="1"/>
          </p:cNvSpPr>
          <p:nvPr/>
        </p:nvSpPr>
        <p:spPr>
          <a:xfrm>
            <a:off x="640080" y="2057400"/>
            <a:ext cx="3511296" cy="3054096"/>
          </a:xfrm>
          <a:prstGeom prst="roundRect">
            <a:avLst>
              <a:gd name="adj" fmla="val 5988"/>
            </a:avLst>
          </a:prstGeom>
          <a:solidFill>
            <a:srgbClr val="FFFFFF"/>
          </a:solidFill>
          <a:ln w="10160">
            <a:solidFill>
              <a:srgbClr val="E5EAF2"/>
            </a:solidFill>
            <a:prstDash val="solid"/>
          </a:ln>
        </p:spPr>
        <p:txBody>
          <a:bodyPr/>
          <a:lstStyle/>
          <a:p>
            <a:endParaRPr/>
          </a:p>
        </p:txBody>
      </p:sp>
      <p:sp>
        <p:nvSpPr>
          <p:cNvPr id="11" name="Shape 9">
            <a:extLst>
              <a:ext uri="{FF2B5EF4-FFF2-40B4-BE49-F238E27FC236}">
                <a16:creationId xmlns:a16="http://schemas.microsoft.com/office/drawing/2014/main" id="{0D0FD8BD-EBEB-4132-B710-E16E10DAE873}"/>
              </a:ext>
            </a:extLst>
          </p:cNvPr>
          <p:cNvSpPr>
            <a:spLocks noGrp="1"/>
          </p:cNvSpPr>
          <p:nvPr/>
        </p:nvSpPr>
        <p:spPr>
          <a:xfrm>
            <a:off x="841248" y="2276856"/>
            <a:ext cx="429768" cy="429768"/>
          </a:xfrm>
          <a:prstGeom prst="ellipse">
            <a:avLst/>
          </a:prstGeom>
          <a:solidFill>
            <a:srgbClr val="EFF0FF"/>
          </a:solidFill>
          <a:ln w="12700">
            <a:solidFill>
              <a:srgbClr val="EFF0FF"/>
            </a:solidFill>
            <a:prstDash val="solid"/>
          </a:ln>
        </p:spPr>
        <p:txBody>
          <a:bodyPr/>
          <a:lstStyle/>
          <a:p>
            <a:endParaRPr/>
          </a:p>
        </p:txBody>
      </p:sp>
      <p:sp>
        <p:nvSpPr>
          <p:cNvPr id="12" name="Text 10">
            <a:extLst>
              <a:ext uri="{FF2B5EF4-FFF2-40B4-BE49-F238E27FC236}">
                <a16:creationId xmlns:a16="http://schemas.microsoft.com/office/drawing/2014/main" id="{B7E810DE-56CC-458A-8E26-38F9D3F2723B}"/>
              </a:ext>
            </a:extLst>
          </p:cNvPr>
          <p:cNvSpPr>
            <a:spLocks noGrp="1"/>
          </p:cNvSpPr>
          <p:nvPr/>
        </p:nvSpPr>
        <p:spPr>
          <a:xfrm>
            <a:off x="841248" y="2340864"/>
            <a:ext cx="429768" cy="210312"/>
          </a:xfrm>
          <a:prstGeom prst="rect">
            <a:avLst/>
          </a:prstGeom>
          <a:noFill/>
        </p:spPr>
        <p:txBody>
          <a:bodyPr wrap="square" lIns="0" tIns="0" rIns="0" bIns="0" anchor="ctr"/>
          <a:lstStyle/>
          <a:p>
            <a:pPr marL="0" indent="0" algn="ctr">
              <a:buNone/>
            </a:pPr>
            <a:r>
              <a:rPr sz="1300" b="1">
                <a:solidFill>
                  <a:srgbClr val="5253D7"/>
                </a:solidFill>
                <a:latin typeface="Inter"/>
                <a:ea typeface="Inter"/>
                <a:cs typeface="Inter"/>
              </a:rPr>
              <a:t>01</a:t>
            </a:r>
            <a:endParaRPr sz="1300"/>
          </a:p>
        </p:txBody>
      </p:sp>
      <p:sp>
        <p:nvSpPr>
          <p:cNvPr id="13" name="Text 11">
            <a:extLst>
              <a:ext uri="{FF2B5EF4-FFF2-40B4-BE49-F238E27FC236}">
                <a16:creationId xmlns:a16="http://schemas.microsoft.com/office/drawing/2014/main" id="{7074F2E0-B2F0-413D-B52E-6B8E12181CE8}"/>
              </a:ext>
            </a:extLst>
          </p:cNvPr>
          <p:cNvSpPr>
            <a:spLocks noGrp="1"/>
          </p:cNvSpPr>
          <p:nvPr/>
        </p:nvSpPr>
        <p:spPr>
          <a:xfrm>
            <a:off x="841248" y="2898648"/>
            <a:ext cx="3108960" cy="484632"/>
          </a:xfrm>
          <a:prstGeom prst="rect">
            <a:avLst/>
          </a:prstGeom>
          <a:noFill/>
        </p:spPr>
        <p:txBody>
          <a:bodyPr wrap="square" lIns="0" tIns="0" rIns="0" bIns="0" anchor="t"/>
          <a:lstStyle/>
          <a:p>
            <a:pPr marL="0" indent="0" algn="l">
              <a:buNone/>
            </a:pPr>
            <a:r>
              <a:rPr sz="1920" b="1">
                <a:solidFill>
                  <a:srgbClr val="172033"/>
                </a:solidFill>
                <a:latin typeface="Inter"/>
                <a:ea typeface="Inter"/>
                <a:cs typeface="Inter"/>
              </a:rPr>
              <a:t>Connect and fetch</a:t>
            </a:r>
            <a:endParaRPr sz="1920"/>
          </a:p>
        </p:txBody>
      </p:sp>
      <p:sp>
        <p:nvSpPr>
          <p:cNvPr id="14" name="Text 12">
            <a:extLst>
              <a:ext uri="{FF2B5EF4-FFF2-40B4-BE49-F238E27FC236}">
                <a16:creationId xmlns:a16="http://schemas.microsoft.com/office/drawing/2014/main" id="{5EF7CAA0-36A8-4937-ACBA-25A15ABBBEB4}"/>
              </a:ext>
            </a:extLst>
          </p:cNvPr>
          <p:cNvSpPr>
            <a:spLocks noGrp="1"/>
          </p:cNvSpPr>
          <p:nvPr/>
        </p:nvSpPr>
        <p:spPr>
          <a:xfrm>
            <a:off x="841248" y="3493008"/>
            <a:ext cx="3108960" cy="1417320"/>
          </a:xfrm>
          <a:prstGeom prst="rect">
            <a:avLst/>
          </a:prstGeom>
          <a:noFill/>
        </p:spPr>
        <p:txBody>
          <a:bodyPr wrap="square" lIns="0" tIns="0" rIns="0" bIns="0" anchor="t"/>
          <a:lstStyle/>
          <a:p>
            <a:pPr marL="0" indent="0" algn="l">
              <a:buNone/>
            </a:pPr>
            <a:r>
              <a:rPr sz="1460">
                <a:solidFill>
                  <a:srgbClr val="667085"/>
                </a:solidFill>
                <a:latin typeface="Inter"/>
                <a:ea typeface="Inter"/>
                <a:cs typeface="Inter"/>
              </a:rPr>
              <a:t>Delegated OAuth links source identities. Celery workers import content and reconcile provider changes.</a:t>
            </a:r>
            <a:endParaRPr sz="1460"/>
          </a:p>
        </p:txBody>
      </p:sp>
      <p:sp>
        <p:nvSpPr>
          <p:cNvPr id="15" name="Shape 13">
            <a:extLst>
              <a:ext uri="{FF2B5EF4-FFF2-40B4-BE49-F238E27FC236}">
                <a16:creationId xmlns:a16="http://schemas.microsoft.com/office/drawing/2014/main" id="{E149E1D7-925B-461B-964A-D48115034C86}"/>
              </a:ext>
            </a:extLst>
          </p:cNvPr>
          <p:cNvSpPr>
            <a:spLocks noGrp="1"/>
          </p:cNvSpPr>
          <p:nvPr/>
        </p:nvSpPr>
        <p:spPr>
          <a:xfrm>
            <a:off x="4334256" y="2057400"/>
            <a:ext cx="3511296" cy="3054096"/>
          </a:xfrm>
          <a:prstGeom prst="roundRect">
            <a:avLst>
              <a:gd name="adj" fmla="val 5988"/>
            </a:avLst>
          </a:prstGeom>
          <a:solidFill>
            <a:srgbClr val="FFFFFF"/>
          </a:solidFill>
          <a:ln w="10160">
            <a:solidFill>
              <a:srgbClr val="E5EAF2"/>
            </a:solidFill>
            <a:prstDash val="solid"/>
          </a:ln>
        </p:spPr>
        <p:txBody>
          <a:bodyPr/>
          <a:lstStyle/>
          <a:p>
            <a:endParaRPr/>
          </a:p>
        </p:txBody>
      </p:sp>
      <p:sp>
        <p:nvSpPr>
          <p:cNvPr id="16" name="Shape 14">
            <a:extLst>
              <a:ext uri="{FF2B5EF4-FFF2-40B4-BE49-F238E27FC236}">
                <a16:creationId xmlns:a16="http://schemas.microsoft.com/office/drawing/2014/main" id="{FA848936-79B5-4789-8B18-B58DFAD5CD08}"/>
              </a:ext>
            </a:extLst>
          </p:cNvPr>
          <p:cNvSpPr>
            <a:spLocks noGrp="1"/>
          </p:cNvSpPr>
          <p:nvPr/>
        </p:nvSpPr>
        <p:spPr>
          <a:xfrm>
            <a:off x="4535424" y="2276856"/>
            <a:ext cx="429768" cy="429768"/>
          </a:xfrm>
          <a:prstGeom prst="ellipse">
            <a:avLst/>
          </a:prstGeom>
          <a:solidFill>
            <a:srgbClr val="EFF0FF"/>
          </a:solidFill>
          <a:ln w="12700">
            <a:solidFill>
              <a:srgbClr val="EFF0FF"/>
            </a:solidFill>
            <a:prstDash val="solid"/>
          </a:ln>
        </p:spPr>
        <p:txBody>
          <a:bodyPr/>
          <a:lstStyle/>
          <a:p>
            <a:endParaRPr/>
          </a:p>
        </p:txBody>
      </p:sp>
      <p:sp>
        <p:nvSpPr>
          <p:cNvPr id="17" name="Text 15">
            <a:extLst>
              <a:ext uri="{FF2B5EF4-FFF2-40B4-BE49-F238E27FC236}">
                <a16:creationId xmlns:a16="http://schemas.microsoft.com/office/drawing/2014/main" id="{1AA06DD8-5CFA-4052-8666-5D1A49F7923A}"/>
              </a:ext>
            </a:extLst>
          </p:cNvPr>
          <p:cNvSpPr>
            <a:spLocks noGrp="1"/>
          </p:cNvSpPr>
          <p:nvPr/>
        </p:nvSpPr>
        <p:spPr>
          <a:xfrm>
            <a:off x="4535424" y="2340864"/>
            <a:ext cx="429768" cy="210312"/>
          </a:xfrm>
          <a:prstGeom prst="rect">
            <a:avLst/>
          </a:prstGeom>
          <a:noFill/>
        </p:spPr>
        <p:txBody>
          <a:bodyPr wrap="square" lIns="0" tIns="0" rIns="0" bIns="0" anchor="ctr"/>
          <a:lstStyle/>
          <a:p>
            <a:pPr marL="0" indent="0" algn="ctr">
              <a:buNone/>
            </a:pPr>
            <a:r>
              <a:rPr sz="1300" b="1">
                <a:solidFill>
                  <a:srgbClr val="5253D7"/>
                </a:solidFill>
                <a:latin typeface="Inter"/>
                <a:ea typeface="Inter"/>
                <a:cs typeface="Inter"/>
              </a:rPr>
              <a:t>02</a:t>
            </a:r>
            <a:endParaRPr sz="1300"/>
          </a:p>
        </p:txBody>
      </p:sp>
      <p:sp>
        <p:nvSpPr>
          <p:cNvPr id="18" name="Text 16">
            <a:extLst>
              <a:ext uri="{FF2B5EF4-FFF2-40B4-BE49-F238E27FC236}">
                <a16:creationId xmlns:a16="http://schemas.microsoft.com/office/drawing/2014/main" id="{499AE96C-6862-4E9F-86E1-61A06F90DCAD}"/>
              </a:ext>
            </a:extLst>
          </p:cNvPr>
          <p:cNvSpPr>
            <a:spLocks noGrp="1"/>
          </p:cNvSpPr>
          <p:nvPr/>
        </p:nvSpPr>
        <p:spPr>
          <a:xfrm>
            <a:off x="4535424" y="2898648"/>
            <a:ext cx="3108960" cy="484632"/>
          </a:xfrm>
          <a:prstGeom prst="rect">
            <a:avLst/>
          </a:prstGeom>
          <a:noFill/>
        </p:spPr>
        <p:txBody>
          <a:bodyPr wrap="square" lIns="0" tIns="0" rIns="0" bIns="0" anchor="t"/>
          <a:lstStyle/>
          <a:p>
            <a:pPr marL="0" indent="0" algn="l">
              <a:buNone/>
            </a:pPr>
            <a:r>
              <a:rPr sz="1920" b="1">
                <a:solidFill>
                  <a:srgbClr val="172033"/>
                </a:solidFill>
                <a:latin typeface="Inter"/>
                <a:ea typeface="Inter"/>
                <a:cs typeface="Inter"/>
              </a:rPr>
              <a:t>Prepare evidence</a:t>
            </a:r>
            <a:endParaRPr sz="1920"/>
          </a:p>
        </p:txBody>
      </p:sp>
      <p:sp>
        <p:nvSpPr>
          <p:cNvPr id="19" name="Text 17">
            <a:extLst>
              <a:ext uri="{FF2B5EF4-FFF2-40B4-BE49-F238E27FC236}">
                <a16:creationId xmlns:a16="http://schemas.microsoft.com/office/drawing/2014/main" id="{8CCB137B-BC07-4C89-8532-42C5ADF56B19}"/>
              </a:ext>
            </a:extLst>
          </p:cNvPr>
          <p:cNvSpPr>
            <a:spLocks noGrp="1"/>
          </p:cNvSpPr>
          <p:nvPr/>
        </p:nvSpPr>
        <p:spPr>
          <a:xfrm>
            <a:off x="4535424" y="3493008"/>
            <a:ext cx="3108960" cy="1417320"/>
          </a:xfrm>
          <a:prstGeom prst="rect">
            <a:avLst/>
          </a:prstGeom>
          <a:noFill/>
        </p:spPr>
        <p:txBody>
          <a:bodyPr wrap="square" lIns="0" tIns="0" rIns="0" bIns="0" anchor="t"/>
          <a:lstStyle/>
          <a:p>
            <a:pPr marL="0" indent="0" algn="l">
              <a:buNone/>
            </a:pPr>
            <a:r>
              <a:rPr sz="1460">
                <a:solidFill>
                  <a:srgbClr val="667085"/>
                </a:solidFill>
                <a:latin typeface="Inter"/>
                <a:ea typeface="Inter"/>
                <a:cs typeface="Inter"/>
              </a:rPr>
              <a:t>Normalise source content, resolve access-control metadata and split text into searchable chunks.</a:t>
            </a:r>
            <a:endParaRPr sz="1460"/>
          </a:p>
        </p:txBody>
      </p:sp>
      <p:sp>
        <p:nvSpPr>
          <p:cNvPr id="20" name="Shape 18">
            <a:extLst>
              <a:ext uri="{FF2B5EF4-FFF2-40B4-BE49-F238E27FC236}">
                <a16:creationId xmlns:a16="http://schemas.microsoft.com/office/drawing/2014/main" id="{81F737B6-723B-4DAD-AD42-D8B41A6B47CE}"/>
              </a:ext>
            </a:extLst>
          </p:cNvPr>
          <p:cNvSpPr>
            <a:spLocks noGrp="1"/>
          </p:cNvSpPr>
          <p:nvPr/>
        </p:nvSpPr>
        <p:spPr>
          <a:xfrm>
            <a:off x="8037576" y="2057400"/>
            <a:ext cx="3511296" cy="3054096"/>
          </a:xfrm>
          <a:prstGeom prst="roundRect">
            <a:avLst>
              <a:gd name="adj" fmla="val 5988"/>
            </a:avLst>
          </a:prstGeom>
          <a:solidFill>
            <a:srgbClr val="FFFFFF"/>
          </a:solidFill>
          <a:ln w="10160">
            <a:solidFill>
              <a:srgbClr val="E5EAF2"/>
            </a:solidFill>
            <a:prstDash val="solid"/>
          </a:ln>
        </p:spPr>
        <p:txBody>
          <a:bodyPr/>
          <a:lstStyle/>
          <a:p>
            <a:endParaRPr/>
          </a:p>
        </p:txBody>
      </p:sp>
      <p:sp>
        <p:nvSpPr>
          <p:cNvPr id="21" name="Shape 19">
            <a:extLst>
              <a:ext uri="{FF2B5EF4-FFF2-40B4-BE49-F238E27FC236}">
                <a16:creationId xmlns:a16="http://schemas.microsoft.com/office/drawing/2014/main" id="{C104FE1E-E5AE-4414-A18E-AB8E7E9CD6F4}"/>
              </a:ext>
            </a:extLst>
          </p:cNvPr>
          <p:cNvSpPr>
            <a:spLocks noGrp="1"/>
          </p:cNvSpPr>
          <p:nvPr/>
        </p:nvSpPr>
        <p:spPr>
          <a:xfrm>
            <a:off x="8238744" y="2276856"/>
            <a:ext cx="429768" cy="429768"/>
          </a:xfrm>
          <a:prstGeom prst="ellipse">
            <a:avLst/>
          </a:prstGeom>
          <a:solidFill>
            <a:srgbClr val="EFF0FF"/>
          </a:solidFill>
          <a:ln w="12700">
            <a:solidFill>
              <a:srgbClr val="EFF0FF"/>
            </a:solidFill>
            <a:prstDash val="solid"/>
          </a:ln>
        </p:spPr>
        <p:txBody>
          <a:bodyPr/>
          <a:lstStyle/>
          <a:p>
            <a:endParaRPr/>
          </a:p>
        </p:txBody>
      </p:sp>
      <p:sp>
        <p:nvSpPr>
          <p:cNvPr id="22" name="Text 20">
            <a:extLst>
              <a:ext uri="{FF2B5EF4-FFF2-40B4-BE49-F238E27FC236}">
                <a16:creationId xmlns:a16="http://schemas.microsoft.com/office/drawing/2014/main" id="{51214B2D-A62E-4963-8939-75FC2424A291}"/>
              </a:ext>
            </a:extLst>
          </p:cNvPr>
          <p:cNvSpPr>
            <a:spLocks noGrp="1"/>
          </p:cNvSpPr>
          <p:nvPr/>
        </p:nvSpPr>
        <p:spPr>
          <a:xfrm>
            <a:off x="8238744" y="2340864"/>
            <a:ext cx="429768" cy="210312"/>
          </a:xfrm>
          <a:prstGeom prst="rect">
            <a:avLst/>
          </a:prstGeom>
          <a:noFill/>
        </p:spPr>
        <p:txBody>
          <a:bodyPr wrap="square" lIns="0" tIns="0" rIns="0" bIns="0" anchor="ctr"/>
          <a:lstStyle/>
          <a:p>
            <a:pPr marL="0" indent="0" algn="ctr">
              <a:buNone/>
            </a:pPr>
            <a:r>
              <a:rPr sz="1300" b="1">
                <a:solidFill>
                  <a:srgbClr val="5253D7"/>
                </a:solidFill>
                <a:latin typeface="Inter"/>
                <a:ea typeface="Inter"/>
                <a:cs typeface="Inter"/>
              </a:rPr>
              <a:t>03</a:t>
            </a:r>
            <a:endParaRPr sz="1300"/>
          </a:p>
        </p:txBody>
      </p:sp>
      <p:sp>
        <p:nvSpPr>
          <p:cNvPr id="23" name="Text 21">
            <a:extLst>
              <a:ext uri="{FF2B5EF4-FFF2-40B4-BE49-F238E27FC236}">
                <a16:creationId xmlns:a16="http://schemas.microsoft.com/office/drawing/2014/main" id="{1FAFD916-0798-4B3D-99E8-BA2943931805}"/>
              </a:ext>
            </a:extLst>
          </p:cNvPr>
          <p:cNvSpPr>
            <a:spLocks noGrp="1"/>
          </p:cNvSpPr>
          <p:nvPr/>
        </p:nvSpPr>
        <p:spPr>
          <a:xfrm>
            <a:off x="8238744" y="2898648"/>
            <a:ext cx="3108960" cy="484632"/>
          </a:xfrm>
          <a:prstGeom prst="rect">
            <a:avLst/>
          </a:prstGeom>
          <a:noFill/>
        </p:spPr>
        <p:txBody>
          <a:bodyPr wrap="square" lIns="0" tIns="0" rIns="0" bIns="0" anchor="t"/>
          <a:lstStyle/>
          <a:p>
            <a:pPr marL="0" indent="0" algn="l">
              <a:buNone/>
            </a:pPr>
            <a:r>
              <a:rPr sz="1920" b="1">
                <a:solidFill>
                  <a:srgbClr val="172033"/>
                </a:solidFill>
                <a:latin typeface="Inter"/>
                <a:ea typeface="Inter"/>
                <a:cs typeface="Inter"/>
              </a:rPr>
              <a:t>Index and activate</a:t>
            </a:r>
            <a:endParaRPr sz="1920"/>
          </a:p>
        </p:txBody>
      </p:sp>
      <p:sp>
        <p:nvSpPr>
          <p:cNvPr id="24" name="Text 22">
            <a:extLst>
              <a:ext uri="{FF2B5EF4-FFF2-40B4-BE49-F238E27FC236}">
                <a16:creationId xmlns:a16="http://schemas.microsoft.com/office/drawing/2014/main" id="{07893489-9271-4EB9-AF6D-D2DA2264363A}"/>
              </a:ext>
            </a:extLst>
          </p:cNvPr>
          <p:cNvSpPr>
            <a:spLocks noGrp="1"/>
          </p:cNvSpPr>
          <p:nvPr/>
        </p:nvSpPr>
        <p:spPr>
          <a:xfrm>
            <a:off x="8238744" y="3493008"/>
            <a:ext cx="3108960" cy="1417320"/>
          </a:xfrm>
          <a:prstGeom prst="rect">
            <a:avLst/>
          </a:prstGeom>
          <a:noFill/>
        </p:spPr>
        <p:txBody>
          <a:bodyPr wrap="square" lIns="0" tIns="0" rIns="0" bIns="0" anchor="t"/>
          <a:lstStyle/>
          <a:p>
            <a:pPr marL="0" indent="0" algn="l">
              <a:buNone/>
            </a:pPr>
            <a:r>
              <a:rPr sz="1460">
                <a:solidFill>
                  <a:srgbClr val="667085"/>
                </a:solidFill>
                <a:latin typeface="Inter"/>
                <a:ea typeface="Inter"/>
                <a:cs typeface="Inter"/>
              </a:rPr>
              <a:t>Store embeddings and full-text indexes in PostgreSQL with pgvector. Activate a version only when ready.</a:t>
            </a:r>
            <a:endParaRPr sz="1460"/>
          </a:p>
        </p:txBody>
      </p:sp>
      <p:sp>
        <p:nvSpPr>
          <p:cNvPr id="25" name="Shape 23">
            <a:extLst>
              <a:ext uri="{FF2B5EF4-FFF2-40B4-BE49-F238E27FC236}">
                <a16:creationId xmlns:a16="http://schemas.microsoft.com/office/drawing/2014/main" id="{35E38A73-763C-4239-A734-9FDA15F2F0BD}"/>
              </a:ext>
            </a:extLst>
          </p:cNvPr>
          <p:cNvSpPr>
            <a:spLocks noGrp="1"/>
          </p:cNvSpPr>
          <p:nvPr/>
        </p:nvSpPr>
        <p:spPr>
          <a:xfrm>
            <a:off x="640080" y="5394960"/>
            <a:ext cx="10908792" cy="768096"/>
          </a:xfrm>
          <a:prstGeom prst="roundRect">
            <a:avLst>
              <a:gd name="adj" fmla="val 21429"/>
            </a:avLst>
          </a:prstGeom>
          <a:solidFill>
            <a:srgbClr val="ECF9F5"/>
          </a:solidFill>
          <a:ln w="10160">
            <a:solidFill>
              <a:srgbClr val="D3EBE4"/>
            </a:solidFill>
            <a:prstDash val="solid"/>
          </a:ln>
        </p:spPr>
        <p:txBody>
          <a:bodyPr/>
          <a:lstStyle/>
          <a:p>
            <a:endParaRPr/>
          </a:p>
        </p:txBody>
      </p:sp>
      <p:sp>
        <p:nvSpPr>
          <p:cNvPr id="26" name="Shape 24">
            <a:extLst>
              <a:ext uri="{FF2B5EF4-FFF2-40B4-BE49-F238E27FC236}">
                <a16:creationId xmlns:a16="http://schemas.microsoft.com/office/drawing/2014/main" id="{62320EBF-398F-4A94-B3A5-5088488765F8}"/>
              </a:ext>
            </a:extLst>
          </p:cNvPr>
          <p:cNvSpPr>
            <a:spLocks noGrp="1"/>
          </p:cNvSpPr>
          <p:nvPr/>
        </p:nvSpPr>
        <p:spPr>
          <a:xfrm>
            <a:off x="841248" y="5632704"/>
            <a:ext cx="256032" cy="256032"/>
          </a:xfrm>
          <a:prstGeom prst="ellipse">
            <a:avLst/>
          </a:prstGeom>
          <a:solidFill>
            <a:srgbClr val="0B927D"/>
          </a:solidFill>
          <a:ln w="12700">
            <a:solidFill>
              <a:srgbClr val="0B927D"/>
            </a:solidFill>
            <a:prstDash val="solid"/>
          </a:ln>
        </p:spPr>
        <p:txBody>
          <a:bodyPr/>
          <a:lstStyle/>
          <a:p>
            <a:endParaRPr/>
          </a:p>
        </p:txBody>
      </p:sp>
      <p:sp>
        <p:nvSpPr>
          <p:cNvPr id="27" name="Shape 25">
            <a:extLst>
              <a:ext uri="{FF2B5EF4-FFF2-40B4-BE49-F238E27FC236}">
                <a16:creationId xmlns:a16="http://schemas.microsoft.com/office/drawing/2014/main" id="{25222C1E-BBED-40C7-8BB5-92385103FC50}"/>
              </a:ext>
            </a:extLst>
          </p:cNvPr>
          <p:cNvSpPr>
            <a:spLocks noGrp="1"/>
          </p:cNvSpPr>
          <p:nvPr/>
        </p:nvSpPr>
        <p:spPr>
          <a:xfrm>
            <a:off x="902513" y="5773522"/>
            <a:ext cx="52121" cy="51206"/>
          </a:xfrm>
          <a:prstGeom prst="line">
            <a:avLst/>
          </a:prstGeom>
          <a:noFill/>
          <a:ln w="25400">
            <a:solidFill>
              <a:srgbClr val="FFFFFF"/>
            </a:solidFill>
            <a:prstDash val="solid"/>
          </a:ln>
        </p:spPr>
        <p:txBody>
          <a:bodyPr/>
          <a:lstStyle/>
          <a:p>
            <a:endParaRPr/>
          </a:p>
        </p:txBody>
      </p:sp>
      <p:sp>
        <p:nvSpPr>
          <p:cNvPr id="29" name="Text 27">
            <a:extLst>
              <a:ext uri="{FF2B5EF4-FFF2-40B4-BE49-F238E27FC236}">
                <a16:creationId xmlns:a16="http://schemas.microsoft.com/office/drawing/2014/main" id="{A407E83A-DA1F-4FB1-9C79-1B15560CF464}"/>
              </a:ext>
            </a:extLst>
          </p:cNvPr>
          <p:cNvSpPr>
            <a:spLocks noGrp="1"/>
          </p:cNvSpPr>
          <p:nvPr/>
        </p:nvSpPr>
        <p:spPr>
          <a:xfrm>
            <a:off x="1243584" y="5541264"/>
            <a:ext cx="2770632" cy="182880"/>
          </a:xfrm>
          <a:prstGeom prst="rect">
            <a:avLst/>
          </a:prstGeom>
          <a:noFill/>
        </p:spPr>
        <p:txBody>
          <a:bodyPr wrap="square" lIns="0" tIns="0" rIns="0" bIns="0" anchor="ctr"/>
          <a:lstStyle/>
          <a:p>
            <a:pPr marL="0" indent="0" algn="l">
              <a:buNone/>
            </a:pPr>
            <a:r>
              <a:rPr sz="1080" b="1" spc="50">
                <a:solidFill>
                  <a:srgbClr val="0B927D"/>
                </a:solidFill>
                <a:latin typeface="Inter"/>
                <a:ea typeface="Inter"/>
                <a:cs typeface="Inter"/>
              </a:rPr>
              <a:t>FRESHNESS + PROVENANCE</a:t>
            </a:r>
            <a:endParaRPr sz="1080"/>
          </a:p>
        </p:txBody>
      </p:sp>
      <p:sp>
        <p:nvSpPr>
          <p:cNvPr id="30" name="Text 28">
            <a:extLst>
              <a:ext uri="{FF2B5EF4-FFF2-40B4-BE49-F238E27FC236}">
                <a16:creationId xmlns:a16="http://schemas.microsoft.com/office/drawing/2014/main" id="{E5BC6029-B92B-4ADF-9042-A17A5D0C68F5}"/>
              </a:ext>
            </a:extLst>
          </p:cNvPr>
          <p:cNvSpPr>
            <a:spLocks noGrp="1"/>
          </p:cNvSpPr>
          <p:nvPr/>
        </p:nvSpPr>
        <p:spPr>
          <a:xfrm>
            <a:off x="1243584" y="5788152"/>
            <a:ext cx="9784080" cy="228600"/>
          </a:xfrm>
          <a:prstGeom prst="rect">
            <a:avLst/>
          </a:prstGeom>
          <a:noFill/>
        </p:spPr>
        <p:txBody>
          <a:bodyPr wrap="square" lIns="0" tIns="0" rIns="0" bIns="0" anchor="ctr"/>
          <a:lstStyle/>
          <a:p>
            <a:pPr marL="0" indent="0" algn="l">
              <a:buNone/>
            </a:pPr>
            <a:r>
              <a:rPr sz="1340">
                <a:solidFill>
                  <a:srgbClr val="172033"/>
                </a:solidFill>
                <a:latin typeface="Inter"/>
                <a:ea typeface="Inter"/>
                <a:cs typeface="Inter"/>
              </a:rPr>
              <a:t>Reconciliation finds changes; immutable revisions preserve provenance. Indexed ACLs narrow candidates, but live provider checks decide access.</a:t>
            </a:r>
            <a:endParaRPr sz="1340"/>
          </a:p>
        </p:txBody>
      </p:sp>
    </p:spTree>
    <p:extLst>
      <p:ext uri="{BB962C8B-B14F-4D97-AF65-F5344CB8AC3E}">
        <p14:creationId xmlns:p14="http://schemas.microsoft.com/office/powerpoint/2010/main" val="6258557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85568EA8-C357-4D99-8787-36961E70D11C}"/>
              </a:ext>
            </a:extLst>
          </p:cNvPr>
          <p:cNvSpPr>
            <a:spLocks noGrp="1"/>
          </p:cNvSpPr>
          <p:nvPr/>
        </p:nvSpPr>
        <p:spPr>
          <a:xfrm>
            <a:off x="0" y="0"/>
            <a:ext cx="12192000" cy="50292"/>
          </a:xfrm>
          <a:prstGeom prst="rect">
            <a:avLst/>
          </a:prstGeom>
          <a:solidFill>
            <a:srgbClr val="5253D7"/>
          </a:solidFill>
          <a:ln w="12700">
            <a:solidFill>
              <a:srgbClr val="5253D7"/>
            </a:solidFill>
            <a:prstDash val="solid"/>
          </a:ln>
        </p:spPr>
        <p:txBody>
          <a:bodyPr/>
          <a:lstStyle/>
          <a:p>
            <a:endParaRPr/>
          </a:p>
        </p:txBody>
      </p:sp>
      <p:sp>
        <p:nvSpPr>
          <p:cNvPr id="3" name="Text 1">
            <a:extLst>
              <a:ext uri="{FF2B5EF4-FFF2-40B4-BE49-F238E27FC236}">
                <a16:creationId xmlns:a16="http://schemas.microsoft.com/office/drawing/2014/main" id="{5ADDF965-A0AF-44BA-938C-F1485322DD9B}"/>
              </a:ext>
            </a:extLst>
          </p:cNvPr>
          <p:cNvSpPr>
            <a:spLocks noGrp="1"/>
          </p:cNvSpPr>
          <p:nvPr/>
        </p:nvSpPr>
        <p:spPr>
          <a:xfrm>
            <a:off x="640080" y="393192"/>
            <a:ext cx="9144000" cy="237744"/>
          </a:xfrm>
          <a:prstGeom prst="rect">
            <a:avLst/>
          </a:prstGeom>
          <a:noFill/>
        </p:spPr>
        <p:txBody>
          <a:bodyPr wrap="square" lIns="0" tIns="0" rIns="0" bIns="0" anchor="ctr"/>
          <a:lstStyle/>
          <a:p>
            <a:pPr marL="0" indent="0" algn="l">
              <a:buNone/>
            </a:pPr>
            <a:r>
              <a:rPr sz="1010" b="1" spc="120">
                <a:solidFill>
                  <a:srgbClr val="5253D7"/>
                </a:solidFill>
                <a:latin typeface="Inter"/>
                <a:ea typeface="Inter"/>
                <a:cs typeface="Inter"/>
              </a:rPr>
              <a:t>TECHNICAL OVERVIEW</a:t>
            </a:r>
            <a:endParaRPr sz="1010"/>
          </a:p>
        </p:txBody>
      </p:sp>
      <p:sp>
        <p:nvSpPr>
          <p:cNvPr id="4" name="Text 2">
            <a:extLst>
              <a:ext uri="{FF2B5EF4-FFF2-40B4-BE49-F238E27FC236}">
                <a16:creationId xmlns:a16="http://schemas.microsoft.com/office/drawing/2014/main" id="{E27FB200-DDA5-4FE6-94A7-C9CAC143C329}"/>
              </a:ext>
            </a:extLst>
          </p:cNvPr>
          <p:cNvSpPr>
            <a:spLocks noGrp="1"/>
          </p:cNvSpPr>
          <p:nvPr/>
        </p:nvSpPr>
        <p:spPr>
          <a:xfrm>
            <a:off x="640080" y="740664"/>
            <a:ext cx="10954512" cy="512064"/>
          </a:xfrm>
          <a:prstGeom prst="rect">
            <a:avLst/>
          </a:prstGeom>
          <a:noFill/>
        </p:spPr>
        <p:txBody>
          <a:bodyPr wrap="square" lIns="0" tIns="0" rIns="0" bIns="0" anchor="ctr"/>
          <a:lstStyle/>
          <a:p>
            <a:pPr marL="0" indent="0" algn="l">
              <a:buNone/>
            </a:pPr>
            <a:r>
              <a:rPr sz="2950" b="1">
                <a:solidFill>
                  <a:srgbClr val="172033"/>
                </a:solidFill>
                <a:latin typeface="Inter"/>
                <a:ea typeface="Inter"/>
                <a:cs typeface="Inter"/>
              </a:rPr>
              <a:t>Permission-safe retrieval and RAG</a:t>
            </a:r>
            <a:endParaRPr sz="2950"/>
          </a:p>
        </p:txBody>
      </p:sp>
      <p:sp>
        <p:nvSpPr>
          <p:cNvPr id="5" name="Text 3">
            <a:extLst>
              <a:ext uri="{FF2B5EF4-FFF2-40B4-BE49-F238E27FC236}">
                <a16:creationId xmlns:a16="http://schemas.microsoft.com/office/drawing/2014/main" id="{99172781-F63C-4CFB-9FFD-F3F6FCF09F3D}"/>
              </a:ext>
            </a:extLst>
          </p:cNvPr>
          <p:cNvSpPr>
            <a:spLocks noGrp="1"/>
          </p:cNvSpPr>
          <p:nvPr/>
        </p:nvSpPr>
        <p:spPr>
          <a:xfrm>
            <a:off x="640080" y="1399032"/>
            <a:ext cx="10844784" cy="329184"/>
          </a:xfrm>
          <a:prstGeom prst="rect">
            <a:avLst/>
          </a:prstGeom>
          <a:noFill/>
        </p:spPr>
        <p:txBody>
          <a:bodyPr wrap="square" lIns="0" tIns="0" rIns="0" bIns="0" anchor="ctr"/>
          <a:lstStyle/>
          <a:p>
            <a:pPr marL="0" indent="0" algn="l">
              <a:buNone/>
            </a:pPr>
            <a:r>
              <a:rPr sz="1410">
                <a:solidFill>
                  <a:srgbClr val="667085"/>
                </a:solidFill>
                <a:latin typeface="Inter"/>
                <a:ea typeface="Inter"/>
                <a:cs typeface="Inter"/>
              </a:rPr>
              <a:t>Hybrid search finds evidence. Live authorisation controls what may enter the answer.</a:t>
            </a:r>
            <a:endParaRPr sz="1410"/>
          </a:p>
        </p:txBody>
      </p:sp>
      <p:sp>
        <p:nvSpPr>
          <p:cNvPr id="6" name="Shape 4">
            <a:extLst>
              <a:ext uri="{FF2B5EF4-FFF2-40B4-BE49-F238E27FC236}">
                <a16:creationId xmlns:a16="http://schemas.microsoft.com/office/drawing/2014/main" id="{A82991C7-9E46-43A4-AB9A-19B94E2DCCFA}"/>
              </a:ext>
            </a:extLst>
          </p:cNvPr>
          <p:cNvSpPr>
            <a:spLocks noGrp="1"/>
          </p:cNvSpPr>
          <p:nvPr/>
        </p:nvSpPr>
        <p:spPr>
          <a:xfrm>
            <a:off x="640080" y="6437376"/>
            <a:ext cx="10908792" cy="0"/>
          </a:xfrm>
          <a:prstGeom prst="line">
            <a:avLst/>
          </a:prstGeom>
          <a:noFill/>
          <a:ln w="10160">
            <a:solidFill>
              <a:srgbClr val="E5EAF2"/>
            </a:solidFill>
            <a:prstDash val="solid"/>
          </a:ln>
        </p:spPr>
        <p:txBody>
          <a:bodyPr/>
          <a:lstStyle/>
          <a:p>
            <a:endParaRPr/>
          </a:p>
        </p:txBody>
      </p:sp>
      <p:sp>
        <p:nvSpPr>
          <p:cNvPr id="7" name="Text 5">
            <a:extLst>
              <a:ext uri="{FF2B5EF4-FFF2-40B4-BE49-F238E27FC236}">
                <a16:creationId xmlns:a16="http://schemas.microsoft.com/office/drawing/2014/main" id="{61EAB6F2-C203-4F37-BE30-250389372F60}"/>
              </a:ext>
            </a:extLst>
          </p:cNvPr>
          <p:cNvSpPr>
            <a:spLocks noGrp="1"/>
          </p:cNvSpPr>
          <p:nvPr/>
        </p:nvSpPr>
        <p:spPr>
          <a:xfrm>
            <a:off x="640080" y="6528816"/>
            <a:ext cx="585216" cy="155448"/>
          </a:xfrm>
          <a:prstGeom prst="rect">
            <a:avLst/>
          </a:prstGeom>
          <a:noFill/>
        </p:spPr>
        <p:txBody>
          <a:bodyPr wrap="square" lIns="0" tIns="0" rIns="0" bIns="0" anchor="ctr"/>
          <a:lstStyle/>
          <a:p>
            <a:pPr marL="0" indent="0" algn="l">
              <a:buNone/>
            </a:pPr>
            <a:r>
              <a:rPr sz="1040" b="1">
                <a:solidFill>
                  <a:srgbClr val="172033"/>
                </a:solidFill>
                <a:latin typeface="Inter"/>
                <a:ea typeface="Inter"/>
                <a:cs typeface="Inter"/>
              </a:rPr>
              <a:t>relay</a:t>
            </a:r>
            <a:endParaRPr sz="1040"/>
          </a:p>
        </p:txBody>
      </p:sp>
      <p:sp>
        <p:nvSpPr>
          <p:cNvPr id="8" name="Text 6">
            <a:extLst>
              <a:ext uri="{FF2B5EF4-FFF2-40B4-BE49-F238E27FC236}">
                <a16:creationId xmlns:a16="http://schemas.microsoft.com/office/drawing/2014/main" id="{61A4E8F6-5E2A-44FD-AD5F-FCCA871C6321}"/>
              </a:ext>
            </a:extLst>
          </p:cNvPr>
          <p:cNvSpPr>
            <a:spLocks noGrp="1"/>
          </p:cNvSpPr>
          <p:nvPr/>
        </p:nvSpPr>
        <p:spPr>
          <a:xfrm>
            <a:off x="1307592" y="6528816"/>
            <a:ext cx="2743200" cy="155448"/>
          </a:xfrm>
          <a:prstGeom prst="rect">
            <a:avLst/>
          </a:prstGeom>
          <a:noFill/>
        </p:spPr>
        <p:txBody>
          <a:bodyPr wrap="square" lIns="0" tIns="0" rIns="0" bIns="0" anchor="ctr"/>
          <a:lstStyle/>
          <a:p>
            <a:pPr marL="0" indent="0" algn="l">
              <a:buNone/>
            </a:pPr>
            <a:r>
              <a:rPr sz="970">
                <a:solidFill>
                  <a:srgbClr val="94A3B8"/>
                </a:solidFill>
                <a:latin typeface="Inter"/>
                <a:ea typeface="Inter"/>
                <a:cs typeface="Inter"/>
              </a:rPr>
              <a:t>/ Tencent Hackathon demo</a:t>
            </a:r>
            <a:endParaRPr sz="970"/>
          </a:p>
        </p:txBody>
      </p:sp>
      <p:sp>
        <p:nvSpPr>
          <p:cNvPr id="9" name="Text 7">
            <a:extLst>
              <a:ext uri="{FF2B5EF4-FFF2-40B4-BE49-F238E27FC236}">
                <a16:creationId xmlns:a16="http://schemas.microsoft.com/office/drawing/2014/main" id="{DC66538D-294F-4A39-A285-FC263B285319}"/>
              </a:ext>
            </a:extLst>
          </p:cNvPr>
          <p:cNvSpPr>
            <a:spLocks noGrp="1"/>
          </p:cNvSpPr>
          <p:nvPr/>
        </p:nvSpPr>
        <p:spPr>
          <a:xfrm>
            <a:off x="11036808" y="6519672"/>
            <a:ext cx="502920" cy="164592"/>
          </a:xfrm>
          <a:prstGeom prst="rect">
            <a:avLst/>
          </a:prstGeom>
          <a:noFill/>
        </p:spPr>
        <p:txBody>
          <a:bodyPr wrap="square" lIns="0" tIns="0" rIns="0" bIns="0" anchor="ctr"/>
          <a:lstStyle/>
          <a:p>
            <a:pPr marL="0" indent="0" algn="r">
              <a:buNone/>
            </a:pPr>
            <a:r>
              <a:rPr sz="1000" b="1">
                <a:solidFill>
                  <a:srgbClr val="94A3B8"/>
                </a:solidFill>
                <a:latin typeface="Inter"/>
                <a:ea typeface="Inter"/>
                <a:cs typeface="Inter"/>
              </a:rPr>
              <a:t>04</a:t>
            </a:r>
            <a:endParaRPr sz="1000"/>
          </a:p>
        </p:txBody>
      </p:sp>
      <p:sp>
        <p:nvSpPr>
          <p:cNvPr id="10" name="Shape 8">
            <a:extLst>
              <a:ext uri="{FF2B5EF4-FFF2-40B4-BE49-F238E27FC236}">
                <a16:creationId xmlns:a16="http://schemas.microsoft.com/office/drawing/2014/main" id="{9F836A2D-F04D-4024-974C-F510E211EAF4}"/>
              </a:ext>
            </a:extLst>
          </p:cNvPr>
          <p:cNvSpPr>
            <a:spLocks noGrp="1"/>
          </p:cNvSpPr>
          <p:nvPr/>
        </p:nvSpPr>
        <p:spPr>
          <a:xfrm>
            <a:off x="640080" y="2039112"/>
            <a:ext cx="2020824" cy="2990088"/>
          </a:xfrm>
          <a:prstGeom prst="roundRect">
            <a:avLst>
              <a:gd name="adj" fmla="val 8145"/>
            </a:avLst>
          </a:prstGeom>
          <a:solidFill>
            <a:srgbClr val="FFFFFF"/>
          </a:solidFill>
          <a:ln w="10160">
            <a:solidFill>
              <a:srgbClr val="E5EAF2"/>
            </a:solidFill>
            <a:prstDash val="solid"/>
          </a:ln>
        </p:spPr>
        <p:txBody>
          <a:bodyPr/>
          <a:lstStyle/>
          <a:p>
            <a:endParaRPr/>
          </a:p>
        </p:txBody>
      </p:sp>
      <p:sp>
        <p:nvSpPr>
          <p:cNvPr id="11" name="Shape 9">
            <a:extLst>
              <a:ext uri="{FF2B5EF4-FFF2-40B4-BE49-F238E27FC236}">
                <a16:creationId xmlns:a16="http://schemas.microsoft.com/office/drawing/2014/main" id="{888B791C-7DD0-4A6B-95EA-DB548C12762C}"/>
              </a:ext>
            </a:extLst>
          </p:cNvPr>
          <p:cNvSpPr>
            <a:spLocks noGrp="1"/>
          </p:cNvSpPr>
          <p:nvPr/>
        </p:nvSpPr>
        <p:spPr>
          <a:xfrm>
            <a:off x="813816" y="2240280"/>
            <a:ext cx="521208" cy="338328"/>
          </a:xfrm>
          <a:prstGeom prst="roundRect">
            <a:avLst>
              <a:gd name="adj" fmla="val 35135"/>
            </a:avLst>
          </a:prstGeom>
          <a:solidFill>
            <a:srgbClr val="EFF0FF"/>
          </a:solidFill>
          <a:ln w="10160">
            <a:solidFill>
              <a:srgbClr val="EFF0FF"/>
            </a:solidFill>
            <a:prstDash val="solid"/>
          </a:ln>
        </p:spPr>
        <p:txBody>
          <a:bodyPr/>
          <a:lstStyle/>
          <a:p>
            <a:endParaRPr/>
          </a:p>
        </p:txBody>
      </p:sp>
      <p:sp>
        <p:nvSpPr>
          <p:cNvPr id="12" name="Text 10">
            <a:extLst>
              <a:ext uri="{FF2B5EF4-FFF2-40B4-BE49-F238E27FC236}">
                <a16:creationId xmlns:a16="http://schemas.microsoft.com/office/drawing/2014/main" id="{0E632BC9-6A8A-41EF-A299-7E83633DDD03}"/>
              </a:ext>
            </a:extLst>
          </p:cNvPr>
          <p:cNvSpPr>
            <a:spLocks noGrp="1"/>
          </p:cNvSpPr>
          <p:nvPr/>
        </p:nvSpPr>
        <p:spPr>
          <a:xfrm>
            <a:off x="905256" y="2253996"/>
            <a:ext cx="338328" cy="310896"/>
          </a:xfrm>
          <a:prstGeom prst="rect">
            <a:avLst/>
          </a:prstGeom>
          <a:noFill/>
        </p:spPr>
        <p:txBody>
          <a:bodyPr wrap="square" lIns="0" tIns="0" rIns="0" bIns="0" anchor="ctr"/>
          <a:lstStyle/>
          <a:p>
            <a:pPr marL="0" indent="0" algn="ctr">
              <a:buNone/>
            </a:pPr>
            <a:r>
              <a:rPr sz="1110" b="1">
                <a:solidFill>
                  <a:srgbClr val="5253D7"/>
                </a:solidFill>
                <a:latin typeface="Inter"/>
                <a:ea typeface="Inter"/>
                <a:cs typeface="Inter"/>
              </a:rPr>
              <a:t>01</a:t>
            </a:r>
            <a:endParaRPr sz="1110"/>
          </a:p>
        </p:txBody>
      </p:sp>
      <p:sp>
        <p:nvSpPr>
          <p:cNvPr id="13" name="Text 11">
            <a:extLst>
              <a:ext uri="{FF2B5EF4-FFF2-40B4-BE49-F238E27FC236}">
                <a16:creationId xmlns:a16="http://schemas.microsoft.com/office/drawing/2014/main" id="{8B504D69-C59D-4947-BE99-631493CC797C}"/>
              </a:ext>
            </a:extLst>
          </p:cNvPr>
          <p:cNvSpPr>
            <a:spLocks noGrp="1"/>
          </p:cNvSpPr>
          <p:nvPr/>
        </p:nvSpPr>
        <p:spPr>
          <a:xfrm>
            <a:off x="813816" y="2770632"/>
            <a:ext cx="1673352" cy="539496"/>
          </a:xfrm>
          <a:prstGeom prst="rect">
            <a:avLst/>
          </a:prstGeom>
          <a:noFill/>
        </p:spPr>
        <p:txBody>
          <a:bodyPr wrap="square" lIns="0" tIns="0" rIns="0" bIns="0" anchor="t"/>
          <a:lstStyle/>
          <a:p>
            <a:pPr marL="0" indent="0" algn="l">
              <a:buNone/>
            </a:pPr>
            <a:r>
              <a:rPr sz="1690" b="1">
                <a:solidFill>
                  <a:srgbClr val="172033"/>
                </a:solidFill>
                <a:latin typeface="Inter"/>
                <a:ea typeface="Inter"/>
                <a:cs typeface="Inter"/>
              </a:rPr>
              <a:t>Hybrid search</a:t>
            </a:r>
            <a:endParaRPr sz="1690"/>
          </a:p>
        </p:txBody>
      </p:sp>
      <p:sp>
        <p:nvSpPr>
          <p:cNvPr id="14" name="Text 12">
            <a:extLst>
              <a:ext uri="{FF2B5EF4-FFF2-40B4-BE49-F238E27FC236}">
                <a16:creationId xmlns:a16="http://schemas.microsoft.com/office/drawing/2014/main" id="{33A85914-6912-4B70-9AA5-7E5D0F494CA0}"/>
              </a:ext>
            </a:extLst>
          </p:cNvPr>
          <p:cNvSpPr>
            <a:spLocks noGrp="1"/>
          </p:cNvSpPr>
          <p:nvPr/>
        </p:nvSpPr>
        <p:spPr>
          <a:xfrm>
            <a:off x="813816" y="3483864"/>
            <a:ext cx="1673352" cy="1289304"/>
          </a:xfrm>
          <a:prstGeom prst="rect">
            <a:avLst/>
          </a:prstGeom>
          <a:noFill/>
        </p:spPr>
        <p:txBody>
          <a:bodyPr wrap="square" lIns="0" tIns="0" rIns="0" bIns="0" anchor="t"/>
          <a:lstStyle/>
          <a:p>
            <a:pPr marL="0" indent="0" algn="l">
              <a:buNone/>
            </a:pPr>
            <a:r>
              <a:rPr sz="1375">
                <a:solidFill>
                  <a:srgbClr val="667085"/>
                </a:solidFill>
                <a:latin typeface="Inter"/>
                <a:ea typeface="Inter"/>
                <a:cs typeface="Inter"/>
              </a:rPr>
              <a:t>Vector similarity and full-text search. RRF merges candidate ranks.</a:t>
            </a:r>
            <a:endParaRPr sz="1375"/>
          </a:p>
        </p:txBody>
      </p:sp>
      <p:sp>
        <p:nvSpPr>
          <p:cNvPr id="15" name="Shape 13">
            <a:extLst>
              <a:ext uri="{FF2B5EF4-FFF2-40B4-BE49-F238E27FC236}">
                <a16:creationId xmlns:a16="http://schemas.microsoft.com/office/drawing/2014/main" id="{42434438-6E11-4394-A7D6-2ABB2CC37625}"/>
              </a:ext>
            </a:extLst>
          </p:cNvPr>
          <p:cNvSpPr>
            <a:spLocks noGrp="1"/>
          </p:cNvSpPr>
          <p:nvPr/>
        </p:nvSpPr>
        <p:spPr>
          <a:xfrm>
            <a:off x="2862072" y="2039112"/>
            <a:ext cx="2020824" cy="2990088"/>
          </a:xfrm>
          <a:prstGeom prst="roundRect">
            <a:avLst>
              <a:gd name="adj" fmla="val 8145"/>
            </a:avLst>
          </a:prstGeom>
          <a:solidFill>
            <a:srgbClr val="F0FBF7"/>
          </a:solidFill>
          <a:ln w="10160">
            <a:solidFill>
              <a:srgbClr val="97D6C4"/>
            </a:solidFill>
            <a:prstDash val="solid"/>
          </a:ln>
        </p:spPr>
        <p:txBody>
          <a:bodyPr/>
          <a:lstStyle/>
          <a:p>
            <a:endParaRPr/>
          </a:p>
        </p:txBody>
      </p:sp>
      <p:sp>
        <p:nvSpPr>
          <p:cNvPr id="16" name="Shape 14">
            <a:extLst>
              <a:ext uri="{FF2B5EF4-FFF2-40B4-BE49-F238E27FC236}">
                <a16:creationId xmlns:a16="http://schemas.microsoft.com/office/drawing/2014/main" id="{C3395D4D-8FB8-45B8-8F66-EEE5EDBEB7F3}"/>
              </a:ext>
            </a:extLst>
          </p:cNvPr>
          <p:cNvSpPr>
            <a:spLocks noGrp="1"/>
          </p:cNvSpPr>
          <p:nvPr/>
        </p:nvSpPr>
        <p:spPr>
          <a:xfrm>
            <a:off x="3035808" y="2240280"/>
            <a:ext cx="521208" cy="338328"/>
          </a:xfrm>
          <a:prstGeom prst="roundRect">
            <a:avLst>
              <a:gd name="adj" fmla="val 35135"/>
            </a:avLst>
          </a:prstGeom>
          <a:solidFill>
            <a:srgbClr val="0B927D"/>
          </a:solidFill>
          <a:ln w="10160">
            <a:solidFill>
              <a:srgbClr val="0B927D"/>
            </a:solidFill>
            <a:prstDash val="solid"/>
          </a:ln>
        </p:spPr>
        <p:txBody>
          <a:bodyPr/>
          <a:lstStyle/>
          <a:p>
            <a:endParaRPr/>
          </a:p>
        </p:txBody>
      </p:sp>
      <p:sp>
        <p:nvSpPr>
          <p:cNvPr id="17" name="Text 15">
            <a:extLst>
              <a:ext uri="{FF2B5EF4-FFF2-40B4-BE49-F238E27FC236}">
                <a16:creationId xmlns:a16="http://schemas.microsoft.com/office/drawing/2014/main" id="{D9E70D1E-0A6A-415E-861E-5C000054851F}"/>
              </a:ext>
            </a:extLst>
          </p:cNvPr>
          <p:cNvSpPr>
            <a:spLocks noGrp="1"/>
          </p:cNvSpPr>
          <p:nvPr/>
        </p:nvSpPr>
        <p:spPr>
          <a:xfrm>
            <a:off x="3127248" y="2253996"/>
            <a:ext cx="338328" cy="310896"/>
          </a:xfrm>
          <a:prstGeom prst="rect">
            <a:avLst/>
          </a:prstGeom>
          <a:noFill/>
        </p:spPr>
        <p:txBody>
          <a:bodyPr wrap="square" lIns="0" tIns="0" rIns="0" bIns="0" anchor="ctr"/>
          <a:lstStyle/>
          <a:p>
            <a:pPr marL="0" indent="0" algn="ctr">
              <a:buNone/>
            </a:pPr>
            <a:r>
              <a:rPr sz="1110" b="1">
                <a:solidFill>
                  <a:srgbClr val="FFFFFF"/>
                </a:solidFill>
                <a:latin typeface="Inter"/>
                <a:ea typeface="Inter"/>
                <a:cs typeface="Inter"/>
              </a:rPr>
              <a:t>02</a:t>
            </a:r>
            <a:endParaRPr sz="1110"/>
          </a:p>
        </p:txBody>
      </p:sp>
      <p:sp>
        <p:nvSpPr>
          <p:cNvPr id="18" name="Text 16">
            <a:extLst>
              <a:ext uri="{FF2B5EF4-FFF2-40B4-BE49-F238E27FC236}">
                <a16:creationId xmlns:a16="http://schemas.microsoft.com/office/drawing/2014/main" id="{8EA809B3-1AF3-4502-ACF3-8785BD8556CB}"/>
              </a:ext>
            </a:extLst>
          </p:cNvPr>
          <p:cNvSpPr>
            <a:spLocks noGrp="1"/>
          </p:cNvSpPr>
          <p:nvPr/>
        </p:nvSpPr>
        <p:spPr>
          <a:xfrm>
            <a:off x="3035808" y="2770632"/>
            <a:ext cx="1673352" cy="539496"/>
          </a:xfrm>
          <a:prstGeom prst="rect">
            <a:avLst/>
          </a:prstGeom>
          <a:noFill/>
        </p:spPr>
        <p:txBody>
          <a:bodyPr wrap="square" lIns="0" tIns="0" rIns="0" bIns="0" anchor="t"/>
          <a:lstStyle/>
          <a:p>
            <a:pPr marL="0" indent="0" algn="l">
              <a:buNone/>
            </a:pPr>
            <a:r>
              <a:rPr sz="1690" b="1">
                <a:solidFill>
                  <a:srgbClr val="172033"/>
                </a:solidFill>
                <a:latin typeface="Inter"/>
                <a:ea typeface="Inter"/>
                <a:cs typeface="Inter"/>
              </a:rPr>
              <a:t>Live access</a:t>
            </a:r>
            <a:endParaRPr sz="1690"/>
          </a:p>
        </p:txBody>
      </p:sp>
      <p:sp>
        <p:nvSpPr>
          <p:cNvPr id="19" name="Text 17">
            <a:extLst>
              <a:ext uri="{FF2B5EF4-FFF2-40B4-BE49-F238E27FC236}">
                <a16:creationId xmlns:a16="http://schemas.microsoft.com/office/drawing/2014/main" id="{2E1DF105-C25D-44AD-89C1-A5F1EEF98445}"/>
              </a:ext>
            </a:extLst>
          </p:cNvPr>
          <p:cNvSpPr>
            <a:spLocks noGrp="1"/>
          </p:cNvSpPr>
          <p:nvPr/>
        </p:nvSpPr>
        <p:spPr>
          <a:xfrm>
            <a:off x="3035808" y="3483864"/>
            <a:ext cx="1673352" cy="1289304"/>
          </a:xfrm>
          <a:prstGeom prst="rect">
            <a:avLst/>
          </a:prstGeom>
          <a:noFill/>
        </p:spPr>
        <p:txBody>
          <a:bodyPr wrap="square" lIns="0" tIns="0" rIns="0" bIns="0" anchor="t"/>
          <a:lstStyle/>
          <a:p>
            <a:pPr marL="0" indent="0" algn="l">
              <a:buNone/>
            </a:pPr>
            <a:r>
              <a:rPr sz="1375">
                <a:solidFill>
                  <a:srgbClr val="667085"/>
                </a:solidFill>
                <a:latin typeface="Inter"/>
                <a:ea typeface="Inter"/>
                <a:cs typeface="Inter"/>
              </a:rPr>
              <a:t>Tenant-scoped identity; delegated provider checks. Uncertain access is denied.</a:t>
            </a:r>
            <a:endParaRPr sz="1375"/>
          </a:p>
        </p:txBody>
      </p:sp>
      <p:sp>
        <p:nvSpPr>
          <p:cNvPr id="20" name="Shape 18">
            <a:extLst>
              <a:ext uri="{FF2B5EF4-FFF2-40B4-BE49-F238E27FC236}">
                <a16:creationId xmlns:a16="http://schemas.microsoft.com/office/drawing/2014/main" id="{6ADE68B1-EE17-4ABD-A5C5-9A09328DA3E8}"/>
              </a:ext>
            </a:extLst>
          </p:cNvPr>
          <p:cNvSpPr>
            <a:spLocks noGrp="1"/>
          </p:cNvSpPr>
          <p:nvPr/>
        </p:nvSpPr>
        <p:spPr>
          <a:xfrm>
            <a:off x="5084064" y="2039112"/>
            <a:ext cx="2020824" cy="2990088"/>
          </a:xfrm>
          <a:prstGeom prst="roundRect">
            <a:avLst>
              <a:gd name="adj" fmla="val 8145"/>
            </a:avLst>
          </a:prstGeom>
          <a:solidFill>
            <a:srgbClr val="FFFFFF"/>
          </a:solidFill>
          <a:ln w="10160">
            <a:solidFill>
              <a:srgbClr val="E5EAF2"/>
            </a:solidFill>
            <a:prstDash val="solid"/>
          </a:ln>
        </p:spPr>
        <p:txBody>
          <a:bodyPr/>
          <a:lstStyle/>
          <a:p>
            <a:endParaRPr/>
          </a:p>
        </p:txBody>
      </p:sp>
      <p:sp>
        <p:nvSpPr>
          <p:cNvPr id="21" name="Shape 19">
            <a:extLst>
              <a:ext uri="{FF2B5EF4-FFF2-40B4-BE49-F238E27FC236}">
                <a16:creationId xmlns:a16="http://schemas.microsoft.com/office/drawing/2014/main" id="{7B0BE278-0869-450F-B1B5-E5C060217BD2}"/>
              </a:ext>
            </a:extLst>
          </p:cNvPr>
          <p:cNvSpPr>
            <a:spLocks noGrp="1"/>
          </p:cNvSpPr>
          <p:nvPr/>
        </p:nvSpPr>
        <p:spPr>
          <a:xfrm>
            <a:off x="5257800" y="2240280"/>
            <a:ext cx="521208" cy="338328"/>
          </a:xfrm>
          <a:prstGeom prst="roundRect">
            <a:avLst>
              <a:gd name="adj" fmla="val 35135"/>
            </a:avLst>
          </a:prstGeom>
          <a:solidFill>
            <a:srgbClr val="EFF0FF"/>
          </a:solidFill>
          <a:ln w="10160">
            <a:solidFill>
              <a:srgbClr val="EFF0FF"/>
            </a:solidFill>
            <a:prstDash val="solid"/>
          </a:ln>
        </p:spPr>
        <p:txBody>
          <a:bodyPr/>
          <a:lstStyle/>
          <a:p>
            <a:endParaRPr/>
          </a:p>
        </p:txBody>
      </p:sp>
      <p:sp>
        <p:nvSpPr>
          <p:cNvPr id="22" name="Text 20">
            <a:extLst>
              <a:ext uri="{FF2B5EF4-FFF2-40B4-BE49-F238E27FC236}">
                <a16:creationId xmlns:a16="http://schemas.microsoft.com/office/drawing/2014/main" id="{27188C9E-612A-421B-9C21-F84D4AD865BD}"/>
              </a:ext>
            </a:extLst>
          </p:cNvPr>
          <p:cNvSpPr>
            <a:spLocks noGrp="1"/>
          </p:cNvSpPr>
          <p:nvPr/>
        </p:nvSpPr>
        <p:spPr>
          <a:xfrm>
            <a:off x="5349240" y="2253996"/>
            <a:ext cx="338328" cy="310896"/>
          </a:xfrm>
          <a:prstGeom prst="rect">
            <a:avLst/>
          </a:prstGeom>
          <a:noFill/>
        </p:spPr>
        <p:txBody>
          <a:bodyPr wrap="square" lIns="0" tIns="0" rIns="0" bIns="0" anchor="ctr"/>
          <a:lstStyle/>
          <a:p>
            <a:pPr marL="0" indent="0" algn="ctr">
              <a:buNone/>
            </a:pPr>
            <a:r>
              <a:rPr sz="1110" b="1">
                <a:solidFill>
                  <a:srgbClr val="5253D7"/>
                </a:solidFill>
                <a:latin typeface="Inter"/>
                <a:ea typeface="Inter"/>
                <a:cs typeface="Inter"/>
              </a:rPr>
              <a:t>03</a:t>
            </a:r>
            <a:endParaRPr sz="1110"/>
          </a:p>
        </p:txBody>
      </p:sp>
      <p:sp>
        <p:nvSpPr>
          <p:cNvPr id="23" name="Text 21">
            <a:extLst>
              <a:ext uri="{FF2B5EF4-FFF2-40B4-BE49-F238E27FC236}">
                <a16:creationId xmlns:a16="http://schemas.microsoft.com/office/drawing/2014/main" id="{0580F254-EA87-4B72-9C98-95B66D2377CF}"/>
              </a:ext>
            </a:extLst>
          </p:cNvPr>
          <p:cNvSpPr>
            <a:spLocks noGrp="1"/>
          </p:cNvSpPr>
          <p:nvPr/>
        </p:nvSpPr>
        <p:spPr>
          <a:xfrm>
            <a:off x="5257800" y="2770632"/>
            <a:ext cx="1673352" cy="539496"/>
          </a:xfrm>
          <a:prstGeom prst="rect">
            <a:avLst/>
          </a:prstGeom>
          <a:noFill/>
        </p:spPr>
        <p:txBody>
          <a:bodyPr wrap="square" lIns="0" tIns="0" rIns="0" bIns="0" anchor="t"/>
          <a:lstStyle/>
          <a:p>
            <a:pPr marL="0" indent="0" algn="l">
              <a:buNone/>
            </a:pPr>
            <a:r>
              <a:rPr sz="1690" b="1">
                <a:solidFill>
                  <a:srgbClr val="172033"/>
                </a:solidFill>
                <a:latin typeface="Inter"/>
                <a:ea typeface="Inter"/>
                <a:cs typeface="Inter"/>
              </a:rPr>
              <a:t>Context</a:t>
            </a:r>
            <a:endParaRPr sz="1690"/>
          </a:p>
        </p:txBody>
      </p:sp>
      <p:sp>
        <p:nvSpPr>
          <p:cNvPr id="24" name="Text 22">
            <a:extLst>
              <a:ext uri="{FF2B5EF4-FFF2-40B4-BE49-F238E27FC236}">
                <a16:creationId xmlns:a16="http://schemas.microsoft.com/office/drawing/2014/main" id="{08837E16-5842-4C35-AF5B-C9793699E267}"/>
              </a:ext>
            </a:extLst>
          </p:cNvPr>
          <p:cNvSpPr>
            <a:spLocks noGrp="1"/>
          </p:cNvSpPr>
          <p:nvPr/>
        </p:nvSpPr>
        <p:spPr>
          <a:xfrm>
            <a:off x="5257800" y="3483864"/>
            <a:ext cx="1673352" cy="1289304"/>
          </a:xfrm>
          <a:prstGeom prst="rect">
            <a:avLst/>
          </a:prstGeom>
          <a:noFill/>
        </p:spPr>
        <p:txBody>
          <a:bodyPr wrap="square" lIns="0" tIns="0" rIns="0" bIns="0" anchor="t"/>
          <a:lstStyle/>
          <a:p>
            <a:pPr marL="0" indent="0" algn="l">
              <a:buNone/>
            </a:pPr>
            <a:r>
              <a:rPr sz="1375">
                <a:solidFill>
                  <a:srgbClr val="667085"/>
                </a:solidFill>
                <a:latin typeface="Inter"/>
                <a:ea typeface="Inter"/>
                <a:cs typeface="Inter"/>
              </a:rPr>
              <a:t>Load permitted text, rerank, then compile evidence IDs within a token budget.</a:t>
            </a:r>
            <a:endParaRPr sz="1375"/>
          </a:p>
        </p:txBody>
      </p:sp>
      <p:sp>
        <p:nvSpPr>
          <p:cNvPr id="25" name="Shape 23">
            <a:extLst>
              <a:ext uri="{FF2B5EF4-FFF2-40B4-BE49-F238E27FC236}">
                <a16:creationId xmlns:a16="http://schemas.microsoft.com/office/drawing/2014/main" id="{ADEBEA59-56AC-46F6-840F-E32097D5FD94}"/>
              </a:ext>
            </a:extLst>
          </p:cNvPr>
          <p:cNvSpPr>
            <a:spLocks noGrp="1"/>
          </p:cNvSpPr>
          <p:nvPr/>
        </p:nvSpPr>
        <p:spPr>
          <a:xfrm>
            <a:off x="7306056" y="2039112"/>
            <a:ext cx="2020824" cy="2990088"/>
          </a:xfrm>
          <a:prstGeom prst="roundRect">
            <a:avLst>
              <a:gd name="adj" fmla="val 8145"/>
            </a:avLst>
          </a:prstGeom>
          <a:solidFill>
            <a:srgbClr val="FFFFFF"/>
          </a:solidFill>
          <a:ln w="10160">
            <a:solidFill>
              <a:srgbClr val="E5EAF2"/>
            </a:solidFill>
            <a:prstDash val="solid"/>
          </a:ln>
        </p:spPr>
        <p:txBody>
          <a:bodyPr/>
          <a:lstStyle/>
          <a:p>
            <a:endParaRPr/>
          </a:p>
        </p:txBody>
      </p:sp>
      <p:sp>
        <p:nvSpPr>
          <p:cNvPr id="26" name="Shape 24">
            <a:extLst>
              <a:ext uri="{FF2B5EF4-FFF2-40B4-BE49-F238E27FC236}">
                <a16:creationId xmlns:a16="http://schemas.microsoft.com/office/drawing/2014/main" id="{3E09330B-AA63-4F92-A61A-594FCF3F4A41}"/>
              </a:ext>
            </a:extLst>
          </p:cNvPr>
          <p:cNvSpPr>
            <a:spLocks noGrp="1"/>
          </p:cNvSpPr>
          <p:nvPr/>
        </p:nvSpPr>
        <p:spPr>
          <a:xfrm>
            <a:off x="7479792" y="2240280"/>
            <a:ext cx="521208" cy="338328"/>
          </a:xfrm>
          <a:prstGeom prst="roundRect">
            <a:avLst>
              <a:gd name="adj" fmla="val 35135"/>
            </a:avLst>
          </a:prstGeom>
          <a:solidFill>
            <a:srgbClr val="EFF0FF"/>
          </a:solidFill>
          <a:ln w="10160">
            <a:solidFill>
              <a:srgbClr val="EFF0FF"/>
            </a:solidFill>
            <a:prstDash val="solid"/>
          </a:ln>
        </p:spPr>
        <p:txBody>
          <a:bodyPr/>
          <a:lstStyle/>
          <a:p>
            <a:endParaRPr/>
          </a:p>
        </p:txBody>
      </p:sp>
      <p:sp>
        <p:nvSpPr>
          <p:cNvPr id="27" name="Text 25">
            <a:extLst>
              <a:ext uri="{FF2B5EF4-FFF2-40B4-BE49-F238E27FC236}">
                <a16:creationId xmlns:a16="http://schemas.microsoft.com/office/drawing/2014/main" id="{184ECF6B-C9CD-4606-A94B-BCAC967ECB08}"/>
              </a:ext>
            </a:extLst>
          </p:cNvPr>
          <p:cNvSpPr>
            <a:spLocks noGrp="1"/>
          </p:cNvSpPr>
          <p:nvPr/>
        </p:nvSpPr>
        <p:spPr>
          <a:xfrm>
            <a:off x="7571232" y="2253996"/>
            <a:ext cx="338328" cy="310896"/>
          </a:xfrm>
          <a:prstGeom prst="rect">
            <a:avLst/>
          </a:prstGeom>
          <a:noFill/>
        </p:spPr>
        <p:txBody>
          <a:bodyPr wrap="square" lIns="0" tIns="0" rIns="0" bIns="0" anchor="ctr"/>
          <a:lstStyle/>
          <a:p>
            <a:pPr marL="0" indent="0" algn="ctr">
              <a:buNone/>
            </a:pPr>
            <a:r>
              <a:rPr sz="1110" b="1">
                <a:solidFill>
                  <a:srgbClr val="5253D7"/>
                </a:solidFill>
                <a:latin typeface="Inter"/>
                <a:ea typeface="Inter"/>
                <a:cs typeface="Inter"/>
              </a:rPr>
              <a:t>04</a:t>
            </a:r>
            <a:endParaRPr sz="1110"/>
          </a:p>
        </p:txBody>
      </p:sp>
      <p:sp>
        <p:nvSpPr>
          <p:cNvPr id="28" name="Text 26">
            <a:extLst>
              <a:ext uri="{FF2B5EF4-FFF2-40B4-BE49-F238E27FC236}">
                <a16:creationId xmlns:a16="http://schemas.microsoft.com/office/drawing/2014/main" id="{3B32522C-D8DD-4111-AFAE-C7F5111B86EE}"/>
              </a:ext>
            </a:extLst>
          </p:cNvPr>
          <p:cNvSpPr>
            <a:spLocks noGrp="1"/>
          </p:cNvSpPr>
          <p:nvPr/>
        </p:nvSpPr>
        <p:spPr>
          <a:xfrm>
            <a:off x="7479792" y="2770632"/>
            <a:ext cx="1673352" cy="539496"/>
          </a:xfrm>
          <a:prstGeom prst="rect">
            <a:avLst/>
          </a:prstGeom>
          <a:noFill/>
        </p:spPr>
        <p:txBody>
          <a:bodyPr wrap="square" lIns="0" tIns="0" rIns="0" bIns="0" anchor="t"/>
          <a:lstStyle/>
          <a:p>
            <a:pPr marL="0" indent="0" algn="l">
              <a:buNone/>
            </a:pPr>
            <a:r>
              <a:rPr sz="1690" b="1">
                <a:solidFill>
                  <a:srgbClr val="172033"/>
                </a:solidFill>
                <a:latin typeface="Inter"/>
                <a:ea typeface="Inter"/>
                <a:cs typeface="Inter"/>
              </a:rPr>
              <a:t>Generate</a:t>
            </a:r>
            <a:endParaRPr sz="1690"/>
          </a:p>
        </p:txBody>
      </p:sp>
      <p:sp>
        <p:nvSpPr>
          <p:cNvPr id="29" name="Text 27">
            <a:extLst>
              <a:ext uri="{FF2B5EF4-FFF2-40B4-BE49-F238E27FC236}">
                <a16:creationId xmlns:a16="http://schemas.microsoft.com/office/drawing/2014/main" id="{AF744241-05CA-447F-8E84-ACC2B4E54D9A}"/>
              </a:ext>
            </a:extLst>
          </p:cNvPr>
          <p:cNvSpPr>
            <a:spLocks noGrp="1"/>
          </p:cNvSpPr>
          <p:nvPr/>
        </p:nvSpPr>
        <p:spPr>
          <a:xfrm>
            <a:off x="7479792" y="3483864"/>
            <a:ext cx="1673352" cy="1289304"/>
          </a:xfrm>
          <a:prstGeom prst="rect">
            <a:avLst/>
          </a:prstGeom>
          <a:noFill/>
        </p:spPr>
        <p:txBody>
          <a:bodyPr wrap="square" lIns="0" tIns="0" rIns="0" bIns="0" anchor="t"/>
          <a:lstStyle/>
          <a:p>
            <a:pPr marL="0" indent="0" algn="l">
              <a:buNone/>
            </a:pPr>
            <a:r>
              <a:rPr sz="1375">
                <a:solidFill>
                  <a:srgbClr val="667085"/>
                </a:solidFill>
                <a:latin typeface="Inter"/>
                <a:ea typeface="Inter"/>
                <a:cs typeface="Inter"/>
              </a:rPr>
              <a:t>Treat source text as untrusted data. Attach evidence IDs to answer claims.</a:t>
            </a:r>
            <a:endParaRPr sz="1375"/>
          </a:p>
        </p:txBody>
      </p:sp>
      <p:sp>
        <p:nvSpPr>
          <p:cNvPr id="30" name="Shape 28">
            <a:extLst>
              <a:ext uri="{FF2B5EF4-FFF2-40B4-BE49-F238E27FC236}">
                <a16:creationId xmlns:a16="http://schemas.microsoft.com/office/drawing/2014/main" id="{9C0F2218-183B-4829-B145-76E3A21F4215}"/>
              </a:ext>
            </a:extLst>
          </p:cNvPr>
          <p:cNvSpPr>
            <a:spLocks noGrp="1"/>
          </p:cNvSpPr>
          <p:nvPr/>
        </p:nvSpPr>
        <p:spPr>
          <a:xfrm>
            <a:off x="9528048" y="2039112"/>
            <a:ext cx="2020824" cy="2990088"/>
          </a:xfrm>
          <a:prstGeom prst="roundRect">
            <a:avLst>
              <a:gd name="adj" fmla="val 8145"/>
            </a:avLst>
          </a:prstGeom>
          <a:solidFill>
            <a:srgbClr val="FFFFFF"/>
          </a:solidFill>
          <a:ln w="10160">
            <a:solidFill>
              <a:srgbClr val="E5EAF2"/>
            </a:solidFill>
            <a:prstDash val="solid"/>
          </a:ln>
        </p:spPr>
        <p:txBody>
          <a:bodyPr/>
          <a:lstStyle/>
          <a:p>
            <a:endParaRPr/>
          </a:p>
        </p:txBody>
      </p:sp>
      <p:sp>
        <p:nvSpPr>
          <p:cNvPr id="31" name="Shape 29">
            <a:extLst>
              <a:ext uri="{FF2B5EF4-FFF2-40B4-BE49-F238E27FC236}">
                <a16:creationId xmlns:a16="http://schemas.microsoft.com/office/drawing/2014/main" id="{9EC21E06-7FF8-466D-A57F-5D97FADEC04B}"/>
              </a:ext>
            </a:extLst>
          </p:cNvPr>
          <p:cNvSpPr>
            <a:spLocks noGrp="1"/>
          </p:cNvSpPr>
          <p:nvPr/>
        </p:nvSpPr>
        <p:spPr>
          <a:xfrm>
            <a:off x="9701784" y="2240280"/>
            <a:ext cx="521208" cy="338328"/>
          </a:xfrm>
          <a:prstGeom prst="roundRect">
            <a:avLst>
              <a:gd name="adj" fmla="val 35135"/>
            </a:avLst>
          </a:prstGeom>
          <a:solidFill>
            <a:srgbClr val="EFF0FF"/>
          </a:solidFill>
          <a:ln w="10160">
            <a:solidFill>
              <a:srgbClr val="EFF0FF"/>
            </a:solidFill>
            <a:prstDash val="solid"/>
          </a:ln>
        </p:spPr>
        <p:txBody>
          <a:bodyPr/>
          <a:lstStyle/>
          <a:p>
            <a:endParaRPr/>
          </a:p>
        </p:txBody>
      </p:sp>
      <p:sp>
        <p:nvSpPr>
          <p:cNvPr id="32" name="Text 30">
            <a:extLst>
              <a:ext uri="{FF2B5EF4-FFF2-40B4-BE49-F238E27FC236}">
                <a16:creationId xmlns:a16="http://schemas.microsoft.com/office/drawing/2014/main" id="{27665F14-5ACB-4C61-B4E1-BF87537CD674}"/>
              </a:ext>
            </a:extLst>
          </p:cNvPr>
          <p:cNvSpPr>
            <a:spLocks noGrp="1"/>
          </p:cNvSpPr>
          <p:nvPr/>
        </p:nvSpPr>
        <p:spPr>
          <a:xfrm>
            <a:off x="9793224" y="2253996"/>
            <a:ext cx="338328" cy="310896"/>
          </a:xfrm>
          <a:prstGeom prst="rect">
            <a:avLst/>
          </a:prstGeom>
          <a:noFill/>
        </p:spPr>
        <p:txBody>
          <a:bodyPr wrap="square" lIns="0" tIns="0" rIns="0" bIns="0" anchor="ctr"/>
          <a:lstStyle/>
          <a:p>
            <a:pPr marL="0" indent="0" algn="ctr">
              <a:buNone/>
            </a:pPr>
            <a:r>
              <a:rPr sz="1110" b="1">
                <a:solidFill>
                  <a:srgbClr val="5253D7"/>
                </a:solidFill>
                <a:latin typeface="Inter"/>
                <a:ea typeface="Inter"/>
                <a:cs typeface="Inter"/>
              </a:rPr>
              <a:t>05</a:t>
            </a:r>
            <a:endParaRPr sz="1110"/>
          </a:p>
        </p:txBody>
      </p:sp>
      <p:sp>
        <p:nvSpPr>
          <p:cNvPr id="33" name="Text 31">
            <a:extLst>
              <a:ext uri="{FF2B5EF4-FFF2-40B4-BE49-F238E27FC236}">
                <a16:creationId xmlns:a16="http://schemas.microsoft.com/office/drawing/2014/main" id="{65BFFADB-7C0B-47C8-9F9A-05B2ABEE805E}"/>
              </a:ext>
            </a:extLst>
          </p:cNvPr>
          <p:cNvSpPr>
            <a:spLocks noGrp="1"/>
          </p:cNvSpPr>
          <p:nvPr/>
        </p:nvSpPr>
        <p:spPr>
          <a:xfrm>
            <a:off x="9701784" y="2770632"/>
            <a:ext cx="1673352" cy="539496"/>
          </a:xfrm>
          <a:prstGeom prst="rect">
            <a:avLst/>
          </a:prstGeom>
          <a:noFill/>
        </p:spPr>
        <p:txBody>
          <a:bodyPr wrap="square" lIns="0" tIns="0" rIns="0" bIns="0" anchor="t"/>
          <a:lstStyle/>
          <a:p>
            <a:pPr marL="0" indent="0" algn="l">
              <a:buNone/>
            </a:pPr>
            <a:r>
              <a:rPr sz="1690" b="1">
                <a:solidFill>
                  <a:srgbClr val="172033"/>
                </a:solidFill>
                <a:latin typeface="Inter"/>
                <a:ea typeface="Inter"/>
                <a:cs typeface="Inter"/>
              </a:rPr>
              <a:t>Verify + audit</a:t>
            </a:r>
            <a:endParaRPr sz="1690"/>
          </a:p>
        </p:txBody>
      </p:sp>
      <p:sp>
        <p:nvSpPr>
          <p:cNvPr id="34" name="Text 32">
            <a:extLst>
              <a:ext uri="{FF2B5EF4-FFF2-40B4-BE49-F238E27FC236}">
                <a16:creationId xmlns:a16="http://schemas.microsoft.com/office/drawing/2014/main" id="{32C90367-0CA8-46A4-B16F-FF4FD1009FAF}"/>
              </a:ext>
            </a:extLst>
          </p:cNvPr>
          <p:cNvSpPr>
            <a:spLocks noGrp="1"/>
          </p:cNvSpPr>
          <p:nvPr/>
        </p:nvSpPr>
        <p:spPr>
          <a:xfrm>
            <a:off x="9701784" y="3483864"/>
            <a:ext cx="1673352" cy="1289304"/>
          </a:xfrm>
          <a:prstGeom prst="rect">
            <a:avLst/>
          </a:prstGeom>
          <a:noFill/>
        </p:spPr>
        <p:txBody>
          <a:bodyPr wrap="square" lIns="0" tIns="0" rIns="0" bIns="0" anchor="t"/>
          <a:lstStyle/>
          <a:p>
            <a:pPr marL="0" indent="0" algn="l">
              <a:buNone/>
            </a:pPr>
            <a:r>
              <a:rPr sz="1375">
                <a:solidFill>
                  <a:srgbClr val="667085"/>
                </a:solidFill>
                <a:latin typeface="Inter"/>
                <a:ea typeface="Inter"/>
                <a:cs typeface="Inter"/>
              </a:rPr>
              <a:t>Validate references, repair once, then use an extractive fallback if needed.</a:t>
            </a:r>
            <a:endParaRPr sz="1375"/>
          </a:p>
        </p:txBody>
      </p:sp>
      <p:sp>
        <p:nvSpPr>
          <p:cNvPr id="35" name="Shape 33">
            <a:extLst>
              <a:ext uri="{FF2B5EF4-FFF2-40B4-BE49-F238E27FC236}">
                <a16:creationId xmlns:a16="http://schemas.microsoft.com/office/drawing/2014/main" id="{836ECAE8-2779-413C-B7CA-E64B9EE2C953}"/>
              </a:ext>
            </a:extLst>
          </p:cNvPr>
          <p:cNvSpPr>
            <a:spLocks noGrp="1"/>
          </p:cNvSpPr>
          <p:nvPr/>
        </p:nvSpPr>
        <p:spPr>
          <a:xfrm>
            <a:off x="640080" y="5266944"/>
            <a:ext cx="10908792" cy="923544"/>
          </a:xfrm>
          <a:prstGeom prst="roundRect">
            <a:avLst>
              <a:gd name="adj" fmla="val 17822"/>
            </a:avLst>
          </a:prstGeom>
          <a:solidFill>
            <a:srgbClr val="EFF0FF"/>
          </a:solidFill>
          <a:ln w="10160">
            <a:solidFill>
              <a:srgbClr val="E0E5FD"/>
            </a:solidFill>
            <a:prstDash val="solid"/>
          </a:ln>
        </p:spPr>
        <p:txBody>
          <a:bodyPr/>
          <a:lstStyle/>
          <a:p>
            <a:endParaRPr/>
          </a:p>
        </p:txBody>
      </p:sp>
      <p:sp>
        <p:nvSpPr>
          <p:cNvPr id="36" name="Shape 34">
            <a:extLst>
              <a:ext uri="{FF2B5EF4-FFF2-40B4-BE49-F238E27FC236}">
                <a16:creationId xmlns:a16="http://schemas.microsoft.com/office/drawing/2014/main" id="{6AAC96BA-DBCD-4A0C-9EA7-B62EFFABF362}"/>
              </a:ext>
            </a:extLst>
          </p:cNvPr>
          <p:cNvSpPr>
            <a:spLocks noGrp="1"/>
          </p:cNvSpPr>
          <p:nvPr/>
        </p:nvSpPr>
        <p:spPr>
          <a:xfrm>
            <a:off x="6089904" y="5449824"/>
            <a:ext cx="14630" cy="557784"/>
          </a:xfrm>
          <a:prstGeom prst="rect">
            <a:avLst/>
          </a:prstGeom>
          <a:solidFill>
            <a:srgbClr val="D1D9EF"/>
          </a:solidFill>
          <a:ln w="12700">
            <a:solidFill>
              <a:srgbClr val="D1D9EF"/>
            </a:solidFill>
            <a:prstDash val="solid"/>
          </a:ln>
        </p:spPr>
        <p:txBody>
          <a:bodyPr/>
          <a:lstStyle/>
          <a:p>
            <a:endParaRPr/>
          </a:p>
        </p:txBody>
      </p:sp>
      <p:sp>
        <p:nvSpPr>
          <p:cNvPr id="37" name="Text 35">
            <a:extLst>
              <a:ext uri="{FF2B5EF4-FFF2-40B4-BE49-F238E27FC236}">
                <a16:creationId xmlns:a16="http://schemas.microsoft.com/office/drawing/2014/main" id="{84633440-1C5D-41F2-A4C2-5505B36148D4}"/>
              </a:ext>
            </a:extLst>
          </p:cNvPr>
          <p:cNvSpPr>
            <a:spLocks noGrp="1"/>
          </p:cNvSpPr>
          <p:nvPr/>
        </p:nvSpPr>
        <p:spPr>
          <a:xfrm>
            <a:off x="886968" y="5422392"/>
            <a:ext cx="9144000" cy="237744"/>
          </a:xfrm>
          <a:prstGeom prst="rect">
            <a:avLst/>
          </a:prstGeom>
          <a:noFill/>
        </p:spPr>
        <p:txBody>
          <a:bodyPr wrap="square" lIns="0" tIns="0" rIns="0" bIns="0" anchor="ctr"/>
          <a:lstStyle/>
          <a:p>
            <a:pPr marL="0" indent="0" algn="l">
              <a:buNone/>
            </a:pPr>
            <a:r>
              <a:rPr sz="1010" b="1" spc="120">
                <a:solidFill>
                  <a:srgbClr val="5253D7"/>
                </a:solidFill>
                <a:latin typeface="Inter"/>
                <a:ea typeface="Inter"/>
                <a:cs typeface="Inter"/>
              </a:rPr>
              <a:t>KEEP RESTRICTED TEXT OUT</a:t>
            </a:r>
            <a:endParaRPr sz="1010"/>
          </a:p>
        </p:txBody>
      </p:sp>
      <p:sp>
        <p:nvSpPr>
          <p:cNvPr id="38" name="Text 36">
            <a:extLst>
              <a:ext uri="{FF2B5EF4-FFF2-40B4-BE49-F238E27FC236}">
                <a16:creationId xmlns:a16="http://schemas.microsoft.com/office/drawing/2014/main" id="{C705D12E-49E2-4185-BBFC-CC81677B1FC7}"/>
              </a:ext>
            </a:extLst>
          </p:cNvPr>
          <p:cNvSpPr>
            <a:spLocks noGrp="1"/>
          </p:cNvSpPr>
          <p:nvPr/>
        </p:nvSpPr>
        <p:spPr>
          <a:xfrm>
            <a:off x="886968" y="5733288"/>
            <a:ext cx="4901184" cy="292608"/>
          </a:xfrm>
          <a:prstGeom prst="rect">
            <a:avLst/>
          </a:prstGeom>
          <a:noFill/>
        </p:spPr>
        <p:txBody>
          <a:bodyPr wrap="square" lIns="0" tIns="0" rIns="0" bIns="0" anchor="ctr"/>
          <a:lstStyle/>
          <a:p>
            <a:pPr marL="0" indent="0" algn="l">
              <a:buNone/>
            </a:pPr>
            <a:r>
              <a:rPr sz="1320">
                <a:solidFill>
                  <a:srgbClr val="172033"/>
                </a:solidFill>
                <a:latin typeface="Inter"/>
                <a:ea typeface="Inter"/>
                <a:cs typeface="Inter"/>
              </a:rPr>
              <a:t>No unauthorised text enters reranking, model context, logs or the browser.</a:t>
            </a:r>
            <a:endParaRPr sz="1320"/>
          </a:p>
        </p:txBody>
      </p:sp>
      <p:sp>
        <p:nvSpPr>
          <p:cNvPr id="39" name="Text 37">
            <a:extLst>
              <a:ext uri="{FF2B5EF4-FFF2-40B4-BE49-F238E27FC236}">
                <a16:creationId xmlns:a16="http://schemas.microsoft.com/office/drawing/2014/main" id="{2195E9B8-6566-4143-B807-24B9D97DE4AE}"/>
              </a:ext>
            </a:extLst>
          </p:cNvPr>
          <p:cNvSpPr>
            <a:spLocks noGrp="1"/>
          </p:cNvSpPr>
          <p:nvPr/>
        </p:nvSpPr>
        <p:spPr>
          <a:xfrm>
            <a:off x="6345936" y="5422392"/>
            <a:ext cx="5202936" cy="237744"/>
          </a:xfrm>
          <a:prstGeom prst="rect">
            <a:avLst/>
          </a:prstGeom>
          <a:noFill/>
        </p:spPr>
        <p:txBody>
          <a:bodyPr wrap="square" lIns="0" tIns="0" rIns="0" bIns="0" anchor="ctr"/>
          <a:lstStyle/>
          <a:p>
            <a:pPr marL="0" indent="0" algn="l">
              <a:buNone/>
            </a:pPr>
            <a:r>
              <a:rPr sz="1010" b="1" spc="120">
                <a:solidFill>
                  <a:srgbClr val="0B927D"/>
                </a:solidFill>
                <a:latin typeface="Inter"/>
                <a:ea typeface="Inter"/>
                <a:cs typeface="Inter"/>
              </a:rPr>
              <a:t>AUDIT BEFORE RELEASE</a:t>
            </a:r>
            <a:endParaRPr sz="1010"/>
          </a:p>
        </p:txBody>
      </p:sp>
      <p:sp>
        <p:nvSpPr>
          <p:cNvPr id="40" name="Text 38">
            <a:extLst>
              <a:ext uri="{FF2B5EF4-FFF2-40B4-BE49-F238E27FC236}">
                <a16:creationId xmlns:a16="http://schemas.microsoft.com/office/drawing/2014/main" id="{412724C7-7FAD-458F-872E-1DE48CE9EE7B}"/>
              </a:ext>
            </a:extLst>
          </p:cNvPr>
          <p:cNvSpPr>
            <a:spLocks noGrp="1"/>
          </p:cNvSpPr>
          <p:nvPr/>
        </p:nvSpPr>
        <p:spPr>
          <a:xfrm>
            <a:off x="6345936" y="5733288"/>
            <a:ext cx="4818888" cy="320040"/>
          </a:xfrm>
          <a:prstGeom prst="rect">
            <a:avLst/>
          </a:prstGeom>
          <a:noFill/>
        </p:spPr>
        <p:txBody>
          <a:bodyPr wrap="square" lIns="0" tIns="0" rIns="0" bIns="0" anchor="ctr"/>
          <a:lstStyle/>
          <a:p>
            <a:pPr marL="0" indent="0" algn="l">
              <a:buNone/>
            </a:pPr>
            <a:r>
              <a:rPr sz="1310">
                <a:solidFill>
                  <a:srgbClr val="172033"/>
                </a:solidFill>
                <a:latin typeface="Inter"/>
                <a:ea typeface="Inter"/>
                <a:cs typeface="Inter"/>
              </a:rPr>
              <a:t>Commit SHA-256-chained audit before release; recheck citations when opened. References are not factual proof.</a:t>
            </a:r>
            <a:endParaRPr sz="1310"/>
          </a:p>
        </p:txBody>
      </p:sp>
    </p:spTree>
    <p:extLst>
      <p:ext uri="{BB962C8B-B14F-4D97-AF65-F5344CB8AC3E}">
        <p14:creationId xmlns:p14="http://schemas.microsoft.com/office/powerpoint/2010/main" val="127106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4AB8A90-F06B-478B-BAD5-7668FE46F568}"/>
              </a:ext>
            </a:extLst>
          </p:cNvPr>
          <p:cNvSpPr>
            <a:spLocks noGrp="1"/>
          </p:cNvSpPr>
          <p:nvPr/>
        </p:nvSpPr>
        <p:spPr>
          <a:xfrm>
            <a:off x="0" y="0"/>
            <a:ext cx="12192000" cy="50292"/>
          </a:xfrm>
          <a:prstGeom prst="rect">
            <a:avLst/>
          </a:prstGeom>
          <a:solidFill>
            <a:srgbClr val="5253D7"/>
          </a:solidFill>
          <a:ln w="12700">
            <a:solidFill>
              <a:srgbClr val="5253D7"/>
            </a:solidFill>
            <a:prstDash val="solid"/>
          </a:ln>
        </p:spPr>
        <p:txBody>
          <a:bodyPr/>
          <a:lstStyle/>
          <a:p>
            <a:endParaRPr/>
          </a:p>
        </p:txBody>
      </p:sp>
      <p:sp>
        <p:nvSpPr>
          <p:cNvPr id="3" name="Text 1">
            <a:extLst>
              <a:ext uri="{FF2B5EF4-FFF2-40B4-BE49-F238E27FC236}">
                <a16:creationId xmlns:a16="http://schemas.microsoft.com/office/drawing/2014/main" id="{2E550117-03E7-4FF6-8C80-941EFB72330A}"/>
              </a:ext>
            </a:extLst>
          </p:cNvPr>
          <p:cNvSpPr>
            <a:spLocks noGrp="1"/>
          </p:cNvSpPr>
          <p:nvPr/>
        </p:nvSpPr>
        <p:spPr>
          <a:xfrm>
            <a:off x="640080" y="393192"/>
            <a:ext cx="9144000" cy="237744"/>
          </a:xfrm>
          <a:prstGeom prst="rect">
            <a:avLst/>
          </a:prstGeom>
          <a:noFill/>
        </p:spPr>
        <p:txBody>
          <a:bodyPr wrap="square" lIns="0" tIns="0" rIns="0" bIns="0" anchor="ctr"/>
          <a:lstStyle/>
          <a:p>
            <a:pPr marL="0" indent="0" algn="l">
              <a:buNone/>
            </a:pPr>
            <a:r>
              <a:rPr sz="1010" b="1" spc="120">
                <a:solidFill>
                  <a:srgbClr val="5253D7"/>
                </a:solidFill>
                <a:latin typeface="Inter"/>
                <a:ea typeface="Inter"/>
                <a:cs typeface="Inter"/>
              </a:rPr>
              <a:t>WALKTHROUGH DEMO</a:t>
            </a:r>
            <a:endParaRPr sz="1010"/>
          </a:p>
        </p:txBody>
      </p:sp>
      <p:sp>
        <p:nvSpPr>
          <p:cNvPr id="4" name="Text 2">
            <a:extLst>
              <a:ext uri="{FF2B5EF4-FFF2-40B4-BE49-F238E27FC236}">
                <a16:creationId xmlns:a16="http://schemas.microsoft.com/office/drawing/2014/main" id="{03CA4E00-352D-406F-ADFD-9D9B898F8BB5}"/>
              </a:ext>
            </a:extLst>
          </p:cNvPr>
          <p:cNvSpPr>
            <a:spLocks noGrp="1"/>
          </p:cNvSpPr>
          <p:nvPr/>
        </p:nvSpPr>
        <p:spPr>
          <a:xfrm>
            <a:off x="640080" y="740664"/>
            <a:ext cx="10954512" cy="512064"/>
          </a:xfrm>
          <a:prstGeom prst="rect">
            <a:avLst/>
          </a:prstGeom>
          <a:noFill/>
        </p:spPr>
        <p:txBody>
          <a:bodyPr wrap="square" lIns="0" tIns="0" rIns="0" bIns="0" anchor="ctr"/>
          <a:lstStyle/>
          <a:p>
            <a:pPr marL="0" indent="0" algn="l">
              <a:buNone/>
            </a:pPr>
            <a:r>
              <a:rPr sz="2950" b="1">
                <a:solidFill>
                  <a:srgbClr val="172033"/>
                </a:solidFill>
                <a:latin typeface="Inter"/>
                <a:ea typeface="Inter"/>
                <a:cs typeface="Inter"/>
              </a:rPr>
              <a:t>Demo corpus and access</a:t>
            </a:r>
            <a:endParaRPr sz="2950"/>
          </a:p>
        </p:txBody>
      </p:sp>
      <p:sp>
        <p:nvSpPr>
          <p:cNvPr id="5" name="Text 3">
            <a:extLst>
              <a:ext uri="{FF2B5EF4-FFF2-40B4-BE49-F238E27FC236}">
                <a16:creationId xmlns:a16="http://schemas.microsoft.com/office/drawing/2014/main" id="{BE38655A-DE4F-4B2B-B3F4-B5D7D4C97562}"/>
              </a:ext>
            </a:extLst>
          </p:cNvPr>
          <p:cNvSpPr>
            <a:spLocks noGrp="1"/>
          </p:cNvSpPr>
          <p:nvPr/>
        </p:nvSpPr>
        <p:spPr>
          <a:xfrm>
            <a:off x="640080" y="1399032"/>
            <a:ext cx="10844784" cy="329184"/>
          </a:xfrm>
          <a:prstGeom prst="rect">
            <a:avLst/>
          </a:prstGeom>
          <a:noFill/>
        </p:spPr>
        <p:txBody>
          <a:bodyPr wrap="square" lIns="0" tIns="0" rIns="0" bIns="0" anchor="ctr"/>
          <a:lstStyle/>
          <a:p>
            <a:pPr marL="0" indent="0" algn="l">
              <a:buNone/>
            </a:pPr>
            <a:r>
              <a:rPr sz="1410">
                <a:solidFill>
                  <a:srgbClr val="667085"/>
                </a:solidFill>
                <a:latin typeface="Inter"/>
                <a:ea typeface="Inter"/>
                <a:cs typeface="Inter"/>
              </a:rPr>
              <a:t>Four integrations, ten records or channel groups, with readers beneath each item</a:t>
            </a:r>
            <a:endParaRPr sz="1410"/>
          </a:p>
        </p:txBody>
      </p:sp>
      <p:sp>
        <p:nvSpPr>
          <p:cNvPr id="6" name="Shape 4">
            <a:extLst>
              <a:ext uri="{FF2B5EF4-FFF2-40B4-BE49-F238E27FC236}">
                <a16:creationId xmlns:a16="http://schemas.microsoft.com/office/drawing/2014/main" id="{65C916BC-0786-44DA-992B-A8FDC11E1736}"/>
              </a:ext>
            </a:extLst>
          </p:cNvPr>
          <p:cNvSpPr>
            <a:spLocks noGrp="1"/>
          </p:cNvSpPr>
          <p:nvPr/>
        </p:nvSpPr>
        <p:spPr>
          <a:xfrm>
            <a:off x="640080" y="6437376"/>
            <a:ext cx="10908792" cy="0"/>
          </a:xfrm>
          <a:prstGeom prst="line">
            <a:avLst/>
          </a:prstGeom>
          <a:noFill/>
          <a:ln w="10160">
            <a:solidFill>
              <a:srgbClr val="E5EAF2"/>
            </a:solidFill>
            <a:prstDash val="solid"/>
          </a:ln>
        </p:spPr>
        <p:txBody>
          <a:bodyPr/>
          <a:lstStyle/>
          <a:p>
            <a:endParaRPr/>
          </a:p>
        </p:txBody>
      </p:sp>
      <p:sp>
        <p:nvSpPr>
          <p:cNvPr id="7" name="Text 5">
            <a:extLst>
              <a:ext uri="{FF2B5EF4-FFF2-40B4-BE49-F238E27FC236}">
                <a16:creationId xmlns:a16="http://schemas.microsoft.com/office/drawing/2014/main" id="{4F8EDEE4-C275-4830-994E-3EC8D6BD1CCC}"/>
              </a:ext>
            </a:extLst>
          </p:cNvPr>
          <p:cNvSpPr>
            <a:spLocks noGrp="1"/>
          </p:cNvSpPr>
          <p:nvPr/>
        </p:nvSpPr>
        <p:spPr>
          <a:xfrm>
            <a:off x="640080" y="6528816"/>
            <a:ext cx="585216" cy="155448"/>
          </a:xfrm>
          <a:prstGeom prst="rect">
            <a:avLst/>
          </a:prstGeom>
          <a:noFill/>
        </p:spPr>
        <p:txBody>
          <a:bodyPr wrap="square" lIns="0" tIns="0" rIns="0" bIns="0" anchor="ctr"/>
          <a:lstStyle/>
          <a:p>
            <a:pPr marL="0" indent="0" algn="l">
              <a:buNone/>
            </a:pPr>
            <a:r>
              <a:rPr sz="1040" b="1">
                <a:solidFill>
                  <a:srgbClr val="172033"/>
                </a:solidFill>
                <a:latin typeface="Inter"/>
                <a:ea typeface="Inter"/>
                <a:cs typeface="Inter"/>
              </a:rPr>
              <a:t>relay</a:t>
            </a:r>
            <a:endParaRPr sz="1040"/>
          </a:p>
        </p:txBody>
      </p:sp>
      <p:sp>
        <p:nvSpPr>
          <p:cNvPr id="8" name="Text 6">
            <a:extLst>
              <a:ext uri="{FF2B5EF4-FFF2-40B4-BE49-F238E27FC236}">
                <a16:creationId xmlns:a16="http://schemas.microsoft.com/office/drawing/2014/main" id="{543364D4-3A44-4634-A9E0-8D74966970A5}"/>
              </a:ext>
            </a:extLst>
          </p:cNvPr>
          <p:cNvSpPr>
            <a:spLocks noGrp="1"/>
          </p:cNvSpPr>
          <p:nvPr/>
        </p:nvSpPr>
        <p:spPr>
          <a:xfrm>
            <a:off x="1307592" y="6528816"/>
            <a:ext cx="2743200" cy="155448"/>
          </a:xfrm>
          <a:prstGeom prst="rect">
            <a:avLst/>
          </a:prstGeom>
          <a:noFill/>
        </p:spPr>
        <p:txBody>
          <a:bodyPr wrap="square" lIns="0" tIns="0" rIns="0" bIns="0" anchor="ctr"/>
          <a:lstStyle/>
          <a:p>
            <a:pPr marL="0" indent="0" algn="l">
              <a:buNone/>
            </a:pPr>
            <a:r>
              <a:rPr sz="970">
                <a:solidFill>
                  <a:srgbClr val="94A3B8"/>
                </a:solidFill>
                <a:latin typeface="Inter"/>
                <a:ea typeface="Inter"/>
                <a:cs typeface="Inter"/>
              </a:rPr>
              <a:t>/ Tencent Hackathon demo</a:t>
            </a:r>
            <a:endParaRPr sz="970"/>
          </a:p>
        </p:txBody>
      </p:sp>
      <p:sp>
        <p:nvSpPr>
          <p:cNvPr id="9" name="Text 7">
            <a:extLst>
              <a:ext uri="{FF2B5EF4-FFF2-40B4-BE49-F238E27FC236}">
                <a16:creationId xmlns:a16="http://schemas.microsoft.com/office/drawing/2014/main" id="{144FACED-B7B1-4822-ADF6-94C6A1FD85F8}"/>
              </a:ext>
            </a:extLst>
          </p:cNvPr>
          <p:cNvSpPr>
            <a:spLocks noGrp="1"/>
          </p:cNvSpPr>
          <p:nvPr/>
        </p:nvSpPr>
        <p:spPr>
          <a:xfrm>
            <a:off x="11036808" y="6519672"/>
            <a:ext cx="502920" cy="164592"/>
          </a:xfrm>
          <a:prstGeom prst="rect">
            <a:avLst/>
          </a:prstGeom>
          <a:noFill/>
        </p:spPr>
        <p:txBody>
          <a:bodyPr wrap="square" lIns="0" tIns="0" rIns="0" bIns="0" anchor="ctr"/>
          <a:lstStyle/>
          <a:p>
            <a:pPr marL="0" indent="0" algn="r">
              <a:buNone/>
            </a:pPr>
            <a:r>
              <a:rPr sz="1000" b="1">
                <a:solidFill>
                  <a:srgbClr val="94A3B8"/>
                </a:solidFill>
                <a:latin typeface="Inter"/>
                <a:ea typeface="Inter"/>
                <a:cs typeface="Inter"/>
              </a:rPr>
              <a:t>05</a:t>
            </a:r>
            <a:endParaRPr sz="1000"/>
          </a:p>
        </p:txBody>
      </p:sp>
      <p:sp>
        <p:nvSpPr>
          <p:cNvPr id="10" name="Atlassian provider group">
            <a:extLst>
              <a:ext uri="{FF2B5EF4-FFF2-40B4-BE49-F238E27FC236}">
                <a16:creationId xmlns:a16="http://schemas.microsoft.com/office/drawing/2014/main" id="{6F68D6F5-5001-4CDD-A1C2-01BF1D170D41}"/>
              </a:ext>
            </a:extLst>
          </p:cNvPr>
          <p:cNvSpPr>
            <a:spLocks noGrp="1"/>
          </p:cNvSpPr>
          <p:nvPr/>
        </p:nvSpPr>
        <p:spPr>
          <a:xfrm>
            <a:off x="640080" y="2095500"/>
            <a:ext cx="5337810" cy="209550"/>
          </a:xfrm>
          <a:prstGeom prst="rect">
            <a:avLst/>
          </a:prstGeom>
          <a:noFill/>
          <a:ln w="0">
            <a:noFill/>
          </a:ln>
        </p:spPr>
        <p:txBody>
          <a:bodyPr wrap="square" lIns="0" tIns="0" rIns="0" bIns="0" anchor="t">
            <a:noAutofit/>
          </a:bodyPr>
          <a:lstStyle/>
          <a:p>
            <a:pPr algn="l">
              <a:defRPr sz="975" b="1">
                <a:solidFill>
                  <a:srgbClr val="554CE1"/>
                </a:solidFill>
                <a:latin typeface="Inter"/>
                <a:ea typeface="Inter"/>
                <a:cs typeface="Inter"/>
              </a:defRPr>
            </a:pPr>
            <a:r>
              <a:rPr sz="975" b="1">
                <a:solidFill>
                  <a:srgbClr val="554CE1"/>
                </a:solidFill>
                <a:latin typeface="Inter"/>
                <a:ea typeface="Inter"/>
                <a:cs typeface="Inter"/>
              </a:rPr>
              <a:t>ATLASSIAN CLOUD</a:t>
            </a:r>
          </a:p>
        </p:txBody>
      </p:sp>
      <p:sp>
        <p:nvSpPr>
          <p:cNvPr id="11" name="Slack provider group">
            <a:extLst>
              <a:ext uri="{FF2B5EF4-FFF2-40B4-BE49-F238E27FC236}">
                <a16:creationId xmlns:a16="http://schemas.microsoft.com/office/drawing/2014/main" id="{0A55F018-A032-4280-80E8-9F2557274D47}"/>
              </a:ext>
            </a:extLst>
          </p:cNvPr>
          <p:cNvSpPr>
            <a:spLocks noGrp="1"/>
          </p:cNvSpPr>
          <p:nvPr/>
        </p:nvSpPr>
        <p:spPr>
          <a:xfrm>
            <a:off x="6206490" y="2095500"/>
            <a:ext cx="2554605" cy="209550"/>
          </a:xfrm>
          <a:prstGeom prst="rect">
            <a:avLst/>
          </a:prstGeom>
          <a:noFill/>
          <a:ln w="0">
            <a:noFill/>
          </a:ln>
        </p:spPr>
        <p:txBody>
          <a:bodyPr wrap="square" lIns="0" tIns="0" rIns="0" bIns="0" anchor="t">
            <a:noAutofit/>
          </a:bodyPr>
          <a:lstStyle/>
          <a:p>
            <a:pPr algn="l">
              <a:defRPr sz="975" b="1">
                <a:solidFill>
                  <a:srgbClr val="008F83"/>
                </a:solidFill>
                <a:latin typeface="Inter"/>
                <a:ea typeface="Inter"/>
                <a:cs typeface="Inter"/>
              </a:defRPr>
            </a:pPr>
            <a:r>
              <a:rPr sz="975" b="1">
                <a:solidFill>
                  <a:srgbClr val="008F83"/>
                </a:solidFill>
                <a:latin typeface="Inter"/>
                <a:ea typeface="Inter"/>
                <a:cs typeface="Inter"/>
              </a:rPr>
              <a:t>SLACK</a:t>
            </a:r>
          </a:p>
        </p:txBody>
      </p:sp>
      <p:sp>
        <p:nvSpPr>
          <p:cNvPr id="12" name="Drive provider group">
            <a:extLst>
              <a:ext uri="{FF2B5EF4-FFF2-40B4-BE49-F238E27FC236}">
                <a16:creationId xmlns:a16="http://schemas.microsoft.com/office/drawing/2014/main" id="{DE665387-3C1E-44B3-951B-0CD563EF2D5D}"/>
              </a:ext>
            </a:extLst>
          </p:cNvPr>
          <p:cNvSpPr>
            <a:spLocks noGrp="1"/>
          </p:cNvSpPr>
          <p:nvPr/>
        </p:nvSpPr>
        <p:spPr>
          <a:xfrm>
            <a:off x="8989695" y="2095500"/>
            <a:ext cx="2554605" cy="209550"/>
          </a:xfrm>
          <a:prstGeom prst="rect">
            <a:avLst/>
          </a:prstGeom>
          <a:noFill/>
          <a:ln w="0">
            <a:noFill/>
          </a:ln>
        </p:spPr>
        <p:txBody>
          <a:bodyPr wrap="square" lIns="0" tIns="0" rIns="0" bIns="0" anchor="t">
            <a:noAutofit/>
          </a:bodyPr>
          <a:lstStyle/>
          <a:p>
            <a:pPr algn="l">
              <a:defRPr sz="975" b="1">
                <a:solidFill>
                  <a:srgbClr val="128044"/>
                </a:solidFill>
                <a:latin typeface="Inter"/>
                <a:ea typeface="Inter"/>
                <a:cs typeface="Inter"/>
              </a:defRPr>
            </a:pPr>
            <a:r>
              <a:rPr sz="975" b="1">
                <a:solidFill>
                  <a:srgbClr val="128044"/>
                </a:solidFill>
                <a:latin typeface="Inter"/>
                <a:ea typeface="Inter"/>
                <a:cs typeface="Inter"/>
              </a:rPr>
              <a:t>GOOGLE DRIVE</a:t>
            </a:r>
          </a:p>
        </p:txBody>
      </p:sp>
      <p:sp>
        <p:nvSpPr>
          <p:cNvPr id="13" name="Jira source">
            <a:extLst>
              <a:ext uri="{FF2B5EF4-FFF2-40B4-BE49-F238E27FC236}">
                <a16:creationId xmlns:a16="http://schemas.microsoft.com/office/drawing/2014/main" id="{C1814BBA-DF70-4C34-BB6F-17F06A1B2FB9}"/>
              </a:ext>
            </a:extLst>
          </p:cNvPr>
          <p:cNvSpPr>
            <a:spLocks noGrp="1"/>
          </p:cNvSpPr>
          <p:nvPr/>
        </p:nvSpPr>
        <p:spPr>
          <a:xfrm>
            <a:off x="640080" y="2400300"/>
            <a:ext cx="2554605" cy="3390900"/>
          </a:xfrm>
          <a:prstGeom prst="roundRect">
            <a:avLst>
              <a:gd name="adj" fmla="val 3729"/>
            </a:avLst>
          </a:prstGeom>
          <a:solidFill>
            <a:srgbClr val="FFFFFF"/>
          </a:solidFill>
          <a:ln w="9525">
            <a:solidFill>
              <a:srgbClr val="D5DDEF"/>
            </a:solidFill>
          </a:ln>
        </p:spPr>
        <p:txBody>
          <a:bodyPr/>
          <a:lstStyle/>
          <a:p>
            <a:endParaRPr lang="zh-CN" altLang="en-US"/>
          </a:p>
        </p:txBody>
      </p:sp>
      <p:sp>
        <p:nvSpPr>
          <p:cNvPr id="14" name="Jira heading">
            <a:extLst>
              <a:ext uri="{FF2B5EF4-FFF2-40B4-BE49-F238E27FC236}">
                <a16:creationId xmlns:a16="http://schemas.microsoft.com/office/drawing/2014/main" id="{DB254A6A-D207-40FC-94AD-BCD17013CFCF}"/>
              </a:ext>
            </a:extLst>
          </p:cNvPr>
          <p:cNvSpPr>
            <a:spLocks noGrp="1"/>
          </p:cNvSpPr>
          <p:nvPr/>
        </p:nvSpPr>
        <p:spPr>
          <a:xfrm>
            <a:off x="830580" y="2590800"/>
            <a:ext cx="2173605" cy="285750"/>
          </a:xfrm>
          <a:prstGeom prst="rect">
            <a:avLst/>
          </a:prstGeom>
          <a:noFill/>
          <a:ln w="0">
            <a:noFill/>
          </a:ln>
        </p:spPr>
        <p:txBody>
          <a:bodyPr wrap="square" lIns="0" tIns="0" rIns="0" bIns="0" anchor="t">
            <a:noAutofit/>
          </a:bodyPr>
          <a:lstStyle/>
          <a:p>
            <a:pPr algn="l">
              <a:defRPr sz="1725" b="1">
                <a:solidFill>
                  <a:srgbClr val="554CE1"/>
                </a:solidFill>
                <a:latin typeface="Inter"/>
                <a:ea typeface="Inter"/>
                <a:cs typeface="Inter"/>
              </a:defRPr>
            </a:pPr>
            <a:r>
              <a:rPr sz="1725" b="1">
                <a:solidFill>
                  <a:srgbClr val="554CE1"/>
                </a:solidFill>
                <a:latin typeface="Inter"/>
                <a:ea typeface="Inter"/>
                <a:cs typeface="Inter"/>
              </a:rPr>
              <a:t>Jira</a:t>
            </a:r>
          </a:p>
        </p:txBody>
      </p:sp>
      <p:sp>
        <p:nvSpPr>
          <p:cNvPr id="15" name="Jira 0 record">
            <a:extLst>
              <a:ext uri="{FF2B5EF4-FFF2-40B4-BE49-F238E27FC236}">
                <a16:creationId xmlns:a16="http://schemas.microsoft.com/office/drawing/2014/main" id="{812AF5AA-207D-4E24-8353-737BBFF444A4}"/>
              </a:ext>
            </a:extLst>
          </p:cNvPr>
          <p:cNvSpPr>
            <a:spLocks noGrp="1"/>
          </p:cNvSpPr>
          <p:nvPr/>
        </p:nvSpPr>
        <p:spPr>
          <a:xfrm>
            <a:off x="830580" y="3009900"/>
            <a:ext cx="2173605" cy="419100"/>
          </a:xfrm>
          <a:prstGeom prst="rect">
            <a:avLst/>
          </a:prstGeom>
          <a:noFill/>
          <a:ln w="0">
            <a:noFill/>
          </a:ln>
        </p:spPr>
        <p:txBody>
          <a:bodyPr wrap="square" lIns="0" tIns="0" rIns="0" bIns="0" anchor="t">
            <a:noAutofit/>
          </a:bodyPr>
          <a:lstStyle/>
          <a:p>
            <a:pPr algn="l">
              <a:defRPr sz="1275" b="1">
                <a:solidFill>
                  <a:srgbClr val="182234"/>
                </a:solidFill>
                <a:latin typeface="Inter"/>
                <a:ea typeface="Inter"/>
                <a:cs typeface="Inter"/>
              </a:defRPr>
            </a:pPr>
            <a:r>
              <a:rPr sz="1275" b="1">
                <a:solidFill>
                  <a:srgbClr val="182234"/>
                </a:solidFill>
                <a:latin typeface="Inter"/>
                <a:ea typeface="Inter"/>
                <a:cs typeface="Inter"/>
              </a:rPr>
              <a:t>KAN-1</a:t>
            </a:r>
          </a:p>
          <a:p>
            <a:pPr algn="l">
              <a:defRPr sz="1275" b="1">
                <a:solidFill>
                  <a:srgbClr val="182234"/>
                </a:solidFill>
                <a:latin typeface="Inter"/>
                <a:ea typeface="Inter"/>
                <a:cs typeface="Inter"/>
              </a:defRPr>
            </a:pPr>
            <a:r>
              <a:rPr sz="1275" b="1">
                <a:solidFill>
                  <a:srgbClr val="182234"/>
                </a:solidFill>
                <a:latin typeface="Inter"/>
                <a:ea typeface="Inter"/>
                <a:cs typeface="Inter"/>
              </a:rPr>
              <a:t>Cause investigation</a:t>
            </a:r>
          </a:p>
        </p:txBody>
      </p:sp>
      <p:sp>
        <p:nvSpPr>
          <p:cNvPr id="16" name="Jira 0 readers">
            <a:extLst>
              <a:ext uri="{FF2B5EF4-FFF2-40B4-BE49-F238E27FC236}">
                <a16:creationId xmlns:a16="http://schemas.microsoft.com/office/drawing/2014/main" id="{B04FD0FF-FE05-40A5-96B8-7ECA7EB95172}"/>
              </a:ext>
            </a:extLst>
          </p:cNvPr>
          <p:cNvSpPr>
            <a:spLocks noGrp="1"/>
          </p:cNvSpPr>
          <p:nvPr/>
        </p:nvSpPr>
        <p:spPr>
          <a:xfrm>
            <a:off x="830580" y="3438525"/>
            <a:ext cx="2173605" cy="219075"/>
          </a:xfrm>
          <a:prstGeom prst="rect">
            <a:avLst/>
          </a:prstGeom>
          <a:noFill/>
          <a:ln w="0">
            <a:noFill/>
          </a:ln>
        </p:spPr>
        <p:txBody>
          <a:bodyPr wrap="square" lIns="0" tIns="0" rIns="0" bIns="0" anchor="t">
            <a:noAutofit/>
          </a:bodyPr>
          <a:lstStyle/>
          <a:p>
            <a:pPr algn="l">
              <a:defRPr sz="1200" b="0">
                <a:solidFill>
                  <a:srgbClr val="554CE1"/>
                </a:solidFill>
                <a:latin typeface="Inter"/>
                <a:ea typeface="Inter"/>
                <a:cs typeface="Inter"/>
              </a:defRPr>
            </a:pPr>
            <a:r>
              <a:rPr sz="1200" b="0">
                <a:solidFill>
                  <a:srgbClr val="554CE1"/>
                </a:solidFill>
                <a:latin typeface="Inter"/>
                <a:ea typeface="Inter"/>
                <a:cs typeface="Inter"/>
              </a:rPr>
              <a:t>Readers: Alice, Bob</a:t>
            </a:r>
          </a:p>
        </p:txBody>
      </p:sp>
      <p:sp>
        <p:nvSpPr>
          <p:cNvPr id="17" name="Jira 1 record">
            <a:extLst>
              <a:ext uri="{FF2B5EF4-FFF2-40B4-BE49-F238E27FC236}">
                <a16:creationId xmlns:a16="http://schemas.microsoft.com/office/drawing/2014/main" id="{E1C4C54D-A4B0-4019-9E64-3952D710C207}"/>
              </a:ext>
            </a:extLst>
          </p:cNvPr>
          <p:cNvSpPr>
            <a:spLocks noGrp="1"/>
          </p:cNvSpPr>
          <p:nvPr/>
        </p:nvSpPr>
        <p:spPr>
          <a:xfrm>
            <a:off x="830580" y="3886200"/>
            <a:ext cx="2173605" cy="419100"/>
          </a:xfrm>
          <a:prstGeom prst="rect">
            <a:avLst/>
          </a:prstGeom>
          <a:noFill/>
          <a:ln w="0">
            <a:noFill/>
          </a:ln>
        </p:spPr>
        <p:txBody>
          <a:bodyPr wrap="square" lIns="0" tIns="0" rIns="0" bIns="0" anchor="t">
            <a:noAutofit/>
          </a:bodyPr>
          <a:lstStyle/>
          <a:p>
            <a:pPr algn="l">
              <a:defRPr sz="1275" b="1">
                <a:solidFill>
                  <a:srgbClr val="182234"/>
                </a:solidFill>
                <a:latin typeface="Inter"/>
                <a:ea typeface="Inter"/>
                <a:cs typeface="Inter"/>
              </a:defRPr>
            </a:pPr>
            <a:r>
              <a:rPr sz="1275" b="1">
                <a:solidFill>
                  <a:srgbClr val="182234"/>
                </a:solidFill>
                <a:latin typeface="Inter"/>
                <a:ea typeface="Inter"/>
                <a:cs typeface="Inter"/>
              </a:rPr>
              <a:t>KAN-2</a:t>
            </a:r>
          </a:p>
          <a:p>
            <a:pPr algn="l">
              <a:defRPr sz="1275" b="1">
                <a:solidFill>
                  <a:srgbClr val="182234"/>
                </a:solidFill>
                <a:latin typeface="Inter"/>
                <a:ea typeface="Inter"/>
                <a:cs typeface="Inter"/>
              </a:defRPr>
            </a:pPr>
            <a:r>
              <a:rPr sz="1275" b="1">
                <a:solidFill>
                  <a:srgbClr val="182234"/>
                </a:solidFill>
                <a:latin typeface="Inter"/>
                <a:ea typeface="Inter"/>
                <a:cs typeface="Inter"/>
              </a:rPr>
              <a:t>Retry and pool follow-up</a:t>
            </a:r>
          </a:p>
        </p:txBody>
      </p:sp>
      <p:sp>
        <p:nvSpPr>
          <p:cNvPr id="18" name="Jira 1 readers">
            <a:extLst>
              <a:ext uri="{FF2B5EF4-FFF2-40B4-BE49-F238E27FC236}">
                <a16:creationId xmlns:a16="http://schemas.microsoft.com/office/drawing/2014/main" id="{77F247AD-6A20-4536-B8B1-1781838D9A58}"/>
              </a:ext>
            </a:extLst>
          </p:cNvPr>
          <p:cNvSpPr>
            <a:spLocks noGrp="1"/>
          </p:cNvSpPr>
          <p:nvPr/>
        </p:nvSpPr>
        <p:spPr>
          <a:xfrm>
            <a:off x="830580" y="4314825"/>
            <a:ext cx="2173605" cy="219075"/>
          </a:xfrm>
          <a:prstGeom prst="rect">
            <a:avLst/>
          </a:prstGeom>
          <a:noFill/>
          <a:ln w="0">
            <a:noFill/>
          </a:ln>
        </p:spPr>
        <p:txBody>
          <a:bodyPr wrap="square" lIns="0" tIns="0" rIns="0" bIns="0" anchor="t">
            <a:noAutofit/>
          </a:bodyPr>
          <a:lstStyle/>
          <a:p>
            <a:pPr algn="l">
              <a:defRPr sz="1200" b="0">
                <a:solidFill>
                  <a:srgbClr val="554CE1"/>
                </a:solidFill>
                <a:latin typeface="Inter"/>
                <a:ea typeface="Inter"/>
                <a:cs typeface="Inter"/>
              </a:defRPr>
            </a:pPr>
            <a:r>
              <a:rPr sz="1200" b="0">
                <a:solidFill>
                  <a:srgbClr val="554CE1"/>
                </a:solidFill>
                <a:latin typeface="Inter"/>
                <a:ea typeface="Inter"/>
                <a:cs typeface="Inter"/>
              </a:rPr>
              <a:t>Readers: Alice, Bob</a:t>
            </a:r>
          </a:p>
        </p:txBody>
      </p:sp>
      <p:sp>
        <p:nvSpPr>
          <p:cNvPr id="19" name="Confluence source">
            <a:extLst>
              <a:ext uri="{FF2B5EF4-FFF2-40B4-BE49-F238E27FC236}">
                <a16:creationId xmlns:a16="http://schemas.microsoft.com/office/drawing/2014/main" id="{8B1E93D9-6E68-4907-AC8B-F9D9FD4031E6}"/>
              </a:ext>
            </a:extLst>
          </p:cNvPr>
          <p:cNvSpPr>
            <a:spLocks noGrp="1"/>
          </p:cNvSpPr>
          <p:nvPr/>
        </p:nvSpPr>
        <p:spPr>
          <a:xfrm>
            <a:off x="3423285" y="2400300"/>
            <a:ext cx="2554605" cy="3390900"/>
          </a:xfrm>
          <a:prstGeom prst="roundRect">
            <a:avLst>
              <a:gd name="adj" fmla="val 3729"/>
            </a:avLst>
          </a:prstGeom>
          <a:solidFill>
            <a:srgbClr val="FFFFFF"/>
          </a:solidFill>
          <a:ln w="9525">
            <a:solidFill>
              <a:srgbClr val="D5DDEF"/>
            </a:solidFill>
          </a:ln>
        </p:spPr>
        <p:txBody>
          <a:bodyPr/>
          <a:lstStyle/>
          <a:p>
            <a:endParaRPr lang="zh-CN" altLang="en-US"/>
          </a:p>
        </p:txBody>
      </p:sp>
      <p:sp>
        <p:nvSpPr>
          <p:cNvPr id="20" name="Confluence heading">
            <a:extLst>
              <a:ext uri="{FF2B5EF4-FFF2-40B4-BE49-F238E27FC236}">
                <a16:creationId xmlns:a16="http://schemas.microsoft.com/office/drawing/2014/main" id="{9B8982B9-0F06-4F7C-933D-87ACFAE18BE5}"/>
              </a:ext>
            </a:extLst>
          </p:cNvPr>
          <p:cNvSpPr>
            <a:spLocks noGrp="1"/>
          </p:cNvSpPr>
          <p:nvPr/>
        </p:nvSpPr>
        <p:spPr>
          <a:xfrm>
            <a:off x="3613785" y="2590800"/>
            <a:ext cx="2173605" cy="285750"/>
          </a:xfrm>
          <a:prstGeom prst="rect">
            <a:avLst/>
          </a:prstGeom>
          <a:noFill/>
          <a:ln w="0">
            <a:noFill/>
          </a:ln>
        </p:spPr>
        <p:txBody>
          <a:bodyPr wrap="square" lIns="0" tIns="0" rIns="0" bIns="0" anchor="t">
            <a:noAutofit/>
          </a:bodyPr>
          <a:lstStyle/>
          <a:p>
            <a:pPr algn="l">
              <a:defRPr sz="1725" b="1">
                <a:solidFill>
                  <a:srgbClr val="554CE1"/>
                </a:solidFill>
                <a:latin typeface="Inter"/>
                <a:ea typeface="Inter"/>
                <a:cs typeface="Inter"/>
              </a:defRPr>
            </a:pPr>
            <a:r>
              <a:rPr sz="1725" b="1">
                <a:solidFill>
                  <a:srgbClr val="554CE1"/>
                </a:solidFill>
                <a:latin typeface="Inter"/>
                <a:ea typeface="Inter"/>
                <a:cs typeface="Inter"/>
              </a:rPr>
              <a:t>Confluence</a:t>
            </a:r>
          </a:p>
        </p:txBody>
      </p:sp>
      <p:sp>
        <p:nvSpPr>
          <p:cNvPr id="21" name="Confluence 0 record">
            <a:extLst>
              <a:ext uri="{FF2B5EF4-FFF2-40B4-BE49-F238E27FC236}">
                <a16:creationId xmlns:a16="http://schemas.microsoft.com/office/drawing/2014/main" id="{83B1729C-0DD1-468B-B0B1-69DADD30E05F}"/>
              </a:ext>
            </a:extLst>
          </p:cNvPr>
          <p:cNvSpPr>
            <a:spLocks noGrp="1"/>
          </p:cNvSpPr>
          <p:nvPr/>
        </p:nvSpPr>
        <p:spPr>
          <a:xfrm>
            <a:off x="3613785" y="3009900"/>
            <a:ext cx="2173605" cy="419100"/>
          </a:xfrm>
          <a:prstGeom prst="rect">
            <a:avLst/>
          </a:prstGeom>
          <a:noFill/>
          <a:ln w="0">
            <a:noFill/>
          </a:ln>
        </p:spPr>
        <p:txBody>
          <a:bodyPr wrap="square" lIns="0" tIns="0" rIns="0" bIns="0" anchor="t">
            <a:noAutofit/>
          </a:bodyPr>
          <a:lstStyle/>
          <a:p>
            <a:pPr algn="l">
              <a:defRPr sz="1275" b="1">
                <a:solidFill>
                  <a:srgbClr val="182234"/>
                </a:solidFill>
                <a:latin typeface="Inter"/>
                <a:ea typeface="Inter"/>
                <a:cs typeface="Inter"/>
              </a:defRPr>
            </a:pPr>
            <a:r>
              <a:rPr sz="1275" b="1">
                <a:solidFill>
                  <a:srgbClr val="182234"/>
                </a:solidFill>
                <a:latin typeface="Inter"/>
                <a:ea typeface="Inter"/>
                <a:cs typeface="Inter"/>
              </a:rPr>
              <a:t>Payment Gateway</a:t>
            </a:r>
          </a:p>
          <a:p>
            <a:pPr algn="l">
              <a:defRPr sz="1275" b="1">
                <a:solidFill>
                  <a:srgbClr val="182234"/>
                </a:solidFill>
                <a:latin typeface="Inter"/>
                <a:ea typeface="Inter"/>
                <a:cs typeface="Inter"/>
              </a:defRPr>
            </a:pPr>
            <a:r>
              <a:rPr sz="1275" b="1">
                <a:solidFill>
                  <a:srgbClr val="182234"/>
                </a:solidFill>
                <a:latin typeface="Inter"/>
                <a:ea typeface="Inter"/>
                <a:cs typeface="Inter"/>
              </a:rPr>
              <a:t>Incident Runbook</a:t>
            </a:r>
          </a:p>
        </p:txBody>
      </p:sp>
      <p:sp>
        <p:nvSpPr>
          <p:cNvPr id="22" name="Confluence 0 readers">
            <a:extLst>
              <a:ext uri="{FF2B5EF4-FFF2-40B4-BE49-F238E27FC236}">
                <a16:creationId xmlns:a16="http://schemas.microsoft.com/office/drawing/2014/main" id="{8E762020-623A-454C-B677-9C3A79C8A694}"/>
              </a:ext>
            </a:extLst>
          </p:cNvPr>
          <p:cNvSpPr>
            <a:spLocks noGrp="1"/>
          </p:cNvSpPr>
          <p:nvPr/>
        </p:nvSpPr>
        <p:spPr>
          <a:xfrm>
            <a:off x="3613785" y="3438525"/>
            <a:ext cx="2173605" cy="219075"/>
          </a:xfrm>
          <a:prstGeom prst="rect">
            <a:avLst/>
          </a:prstGeom>
          <a:noFill/>
          <a:ln w="0">
            <a:noFill/>
          </a:ln>
        </p:spPr>
        <p:txBody>
          <a:bodyPr wrap="square" lIns="0" tIns="0" rIns="0" bIns="0" anchor="t">
            <a:noAutofit/>
          </a:bodyPr>
          <a:lstStyle/>
          <a:p>
            <a:pPr algn="l">
              <a:defRPr sz="1200" b="0">
                <a:solidFill>
                  <a:srgbClr val="554CE1"/>
                </a:solidFill>
                <a:latin typeface="Inter"/>
                <a:ea typeface="Inter"/>
                <a:cs typeface="Inter"/>
              </a:defRPr>
            </a:pPr>
            <a:r>
              <a:rPr sz="1200" b="0">
                <a:solidFill>
                  <a:srgbClr val="554CE1"/>
                </a:solidFill>
                <a:latin typeface="Inter"/>
                <a:ea typeface="Inter"/>
                <a:cs typeface="Inter"/>
              </a:rPr>
              <a:t>Readers: Alice, Bob</a:t>
            </a:r>
          </a:p>
        </p:txBody>
      </p:sp>
      <p:sp>
        <p:nvSpPr>
          <p:cNvPr id="23" name="Confluence 1 record">
            <a:extLst>
              <a:ext uri="{FF2B5EF4-FFF2-40B4-BE49-F238E27FC236}">
                <a16:creationId xmlns:a16="http://schemas.microsoft.com/office/drawing/2014/main" id="{D8099148-52D3-460D-AB87-0E63D54CB496}"/>
              </a:ext>
            </a:extLst>
          </p:cNvPr>
          <p:cNvSpPr>
            <a:spLocks noGrp="1"/>
          </p:cNvSpPr>
          <p:nvPr/>
        </p:nvSpPr>
        <p:spPr>
          <a:xfrm>
            <a:off x="3613785" y="3886200"/>
            <a:ext cx="2173605" cy="419100"/>
          </a:xfrm>
          <a:prstGeom prst="rect">
            <a:avLst/>
          </a:prstGeom>
          <a:noFill/>
          <a:ln w="0">
            <a:noFill/>
          </a:ln>
        </p:spPr>
        <p:txBody>
          <a:bodyPr wrap="square" lIns="0" tIns="0" rIns="0" bIns="0" anchor="t">
            <a:noAutofit/>
          </a:bodyPr>
          <a:lstStyle/>
          <a:p>
            <a:pPr algn="l">
              <a:defRPr sz="1275" b="1">
                <a:solidFill>
                  <a:srgbClr val="182234"/>
                </a:solidFill>
                <a:latin typeface="Inter"/>
                <a:ea typeface="Inter"/>
                <a:cs typeface="Inter"/>
              </a:defRPr>
            </a:pPr>
            <a:r>
              <a:rPr sz="1275" b="1">
                <a:solidFill>
                  <a:srgbClr val="182234"/>
                </a:solidFill>
                <a:latin typeface="Inter"/>
                <a:ea typeface="Inter"/>
                <a:cs typeface="Inter"/>
              </a:rPr>
              <a:t>Q3 Payment Gateway</a:t>
            </a:r>
          </a:p>
          <a:p>
            <a:pPr algn="l">
              <a:defRPr sz="1275" b="1">
                <a:solidFill>
                  <a:srgbClr val="182234"/>
                </a:solidFill>
                <a:latin typeface="Inter"/>
                <a:ea typeface="Inter"/>
                <a:cs typeface="Inter"/>
              </a:defRPr>
            </a:pPr>
            <a:r>
              <a:rPr sz="1275" b="1">
                <a:solidFill>
                  <a:srgbClr val="182234"/>
                </a:solidFill>
                <a:latin typeface="Inter"/>
                <a:ea typeface="Inter"/>
                <a:cs typeface="Inter"/>
              </a:rPr>
              <a:t>Post-Incident Review</a:t>
            </a:r>
          </a:p>
        </p:txBody>
      </p:sp>
      <p:sp>
        <p:nvSpPr>
          <p:cNvPr id="24" name="Confluence 1 readers">
            <a:extLst>
              <a:ext uri="{FF2B5EF4-FFF2-40B4-BE49-F238E27FC236}">
                <a16:creationId xmlns:a16="http://schemas.microsoft.com/office/drawing/2014/main" id="{F71B826C-0D2F-42B0-BD44-2AF6B23B551E}"/>
              </a:ext>
            </a:extLst>
          </p:cNvPr>
          <p:cNvSpPr>
            <a:spLocks noGrp="1"/>
          </p:cNvSpPr>
          <p:nvPr/>
        </p:nvSpPr>
        <p:spPr>
          <a:xfrm>
            <a:off x="3613785" y="4314825"/>
            <a:ext cx="2173605" cy="219075"/>
          </a:xfrm>
          <a:prstGeom prst="rect">
            <a:avLst/>
          </a:prstGeom>
          <a:noFill/>
          <a:ln w="0">
            <a:noFill/>
          </a:ln>
        </p:spPr>
        <p:txBody>
          <a:bodyPr wrap="square" lIns="0" tIns="0" rIns="0" bIns="0" anchor="t">
            <a:noAutofit/>
          </a:bodyPr>
          <a:lstStyle/>
          <a:p>
            <a:pPr algn="l">
              <a:defRPr sz="1200" b="0">
                <a:solidFill>
                  <a:srgbClr val="554CE1"/>
                </a:solidFill>
                <a:latin typeface="Inter"/>
                <a:ea typeface="Inter"/>
                <a:cs typeface="Inter"/>
              </a:defRPr>
            </a:pPr>
            <a:r>
              <a:rPr sz="1200" b="0">
                <a:solidFill>
                  <a:srgbClr val="554CE1"/>
                </a:solidFill>
                <a:latin typeface="Inter"/>
                <a:ea typeface="Inter"/>
                <a:cs typeface="Inter"/>
              </a:rPr>
              <a:t>Readers: Alice, Bob</a:t>
            </a:r>
          </a:p>
        </p:txBody>
      </p:sp>
      <p:sp>
        <p:nvSpPr>
          <p:cNvPr id="25" name="Confluence 2 record">
            <a:extLst>
              <a:ext uri="{FF2B5EF4-FFF2-40B4-BE49-F238E27FC236}">
                <a16:creationId xmlns:a16="http://schemas.microsoft.com/office/drawing/2014/main" id="{2D312C05-1CF8-462C-A70F-D0C47756D150}"/>
              </a:ext>
            </a:extLst>
          </p:cNvPr>
          <p:cNvSpPr>
            <a:spLocks noGrp="1"/>
          </p:cNvSpPr>
          <p:nvPr/>
        </p:nvSpPr>
        <p:spPr>
          <a:xfrm>
            <a:off x="3613785" y="4762500"/>
            <a:ext cx="2173605" cy="419100"/>
          </a:xfrm>
          <a:prstGeom prst="rect">
            <a:avLst/>
          </a:prstGeom>
          <a:noFill/>
          <a:ln w="0">
            <a:noFill/>
          </a:ln>
        </p:spPr>
        <p:txBody>
          <a:bodyPr wrap="square" lIns="0" tIns="0" rIns="0" bIns="0" anchor="t">
            <a:noAutofit/>
          </a:bodyPr>
          <a:lstStyle/>
          <a:p>
            <a:pPr algn="l">
              <a:defRPr sz="1275" b="1">
                <a:solidFill>
                  <a:srgbClr val="182234"/>
                </a:solidFill>
                <a:latin typeface="Inter"/>
                <a:ea typeface="Inter"/>
                <a:cs typeface="Inter"/>
              </a:defRPr>
            </a:pPr>
            <a:r>
              <a:rPr sz="1275" b="1">
                <a:solidFill>
                  <a:srgbClr val="182234"/>
                </a:solidFill>
                <a:latin typeface="Inter"/>
                <a:ea typeface="Inter"/>
                <a:cs typeface="Inter"/>
              </a:rPr>
              <a:t>Auth Service</a:t>
            </a:r>
          </a:p>
          <a:p>
            <a:pPr algn="l">
              <a:defRPr sz="1275" b="1">
                <a:solidFill>
                  <a:srgbClr val="182234"/>
                </a:solidFill>
                <a:latin typeface="Inter"/>
                <a:ea typeface="Inter"/>
                <a:cs typeface="Inter"/>
              </a:defRPr>
            </a:pPr>
            <a:r>
              <a:rPr sz="1275" b="1">
                <a:solidFill>
                  <a:srgbClr val="182234"/>
                </a:solidFill>
                <a:latin typeface="Inter"/>
                <a:ea typeface="Inter"/>
                <a:cs typeface="Inter"/>
              </a:rPr>
              <a:t>Decision Record</a:t>
            </a:r>
          </a:p>
        </p:txBody>
      </p:sp>
      <p:sp>
        <p:nvSpPr>
          <p:cNvPr id="26" name="Confluence 2 readers">
            <a:extLst>
              <a:ext uri="{FF2B5EF4-FFF2-40B4-BE49-F238E27FC236}">
                <a16:creationId xmlns:a16="http://schemas.microsoft.com/office/drawing/2014/main" id="{DDAB826F-10F8-4BEF-824F-819674A89D1C}"/>
              </a:ext>
            </a:extLst>
          </p:cNvPr>
          <p:cNvSpPr>
            <a:spLocks noGrp="1"/>
          </p:cNvSpPr>
          <p:nvPr/>
        </p:nvSpPr>
        <p:spPr>
          <a:xfrm>
            <a:off x="3613785" y="5191125"/>
            <a:ext cx="2173605" cy="219075"/>
          </a:xfrm>
          <a:prstGeom prst="rect">
            <a:avLst/>
          </a:prstGeom>
          <a:noFill/>
          <a:ln w="0">
            <a:noFill/>
          </a:ln>
        </p:spPr>
        <p:txBody>
          <a:bodyPr wrap="square" lIns="0" tIns="0" rIns="0" bIns="0" anchor="t">
            <a:noAutofit/>
          </a:bodyPr>
          <a:lstStyle/>
          <a:p>
            <a:pPr algn="l">
              <a:defRPr sz="1200" b="0">
                <a:solidFill>
                  <a:srgbClr val="554CE1"/>
                </a:solidFill>
                <a:latin typeface="Inter"/>
                <a:ea typeface="Inter"/>
                <a:cs typeface="Inter"/>
              </a:defRPr>
            </a:pPr>
            <a:r>
              <a:rPr sz="1200" b="0">
                <a:solidFill>
                  <a:srgbClr val="554CE1"/>
                </a:solidFill>
                <a:latin typeface="Inter"/>
                <a:ea typeface="Inter"/>
                <a:cs typeface="Inter"/>
              </a:rPr>
              <a:t>Readers: Alice, Bob</a:t>
            </a:r>
          </a:p>
        </p:txBody>
      </p:sp>
      <p:sp>
        <p:nvSpPr>
          <p:cNvPr id="27" name="Slack source">
            <a:extLst>
              <a:ext uri="{FF2B5EF4-FFF2-40B4-BE49-F238E27FC236}">
                <a16:creationId xmlns:a16="http://schemas.microsoft.com/office/drawing/2014/main" id="{08DB3100-29B1-44DD-9D7D-A602DE88594E}"/>
              </a:ext>
            </a:extLst>
          </p:cNvPr>
          <p:cNvSpPr>
            <a:spLocks noGrp="1"/>
          </p:cNvSpPr>
          <p:nvPr/>
        </p:nvSpPr>
        <p:spPr>
          <a:xfrm>
            <a:off x="6206490" y="2400300"/>
            <a:ext cx="2554605" cy="3390900"/>
          </a:xfrm>
          <a:prstGeom prst="roundRect">
            <a:avLst>
              <a:gd name="adj" fmla="val 3729"/>
            </a:avLst>
          </a:prstGeom>
          <a:solidFill>
            <a:srgbClr val="FFFFFF"/>
          </a:solidFill>
          <a:ln w="9525">
            <a:solidFill>
              <a:srgbClr val="D5DDEF"/>
            </a:solidFill>
          </a:ln>
        </p:spPr>
        <p:txBody>
          <a:bodyPr/>
          <a:lstStyle/>
          <a:p>
            <a:endParaRPr lang="zh-CN" altLang="en-US"/>
          </a:p>
        </p:txBody>
      </p:sp>
      <p:sp>
        <p:nvSpPr>
          <p:cNvPr id="28" name="Slack heading">
            <a:extLst>
              <a:ext uri="{FF2B5EF4-FFF2-40B4-BE49-F238E27FC236}">
                <a16:creationId xmlns:a16="http://schemas.microsoft.com/office/drawing/2014/main" id="{740E943B-4496-4F6E-B8D7-2D36C2CC6965}"/>
              </a:ext>
            </a:extLst>
          </p:cNvPr>
          <p:cNvSpPr>
            <a:spLocks noGrp="1"/>
          </p:cNvSpPr>
          <p:nvPr/>
        </p:nvSpPr>
        <p:spPr>
          <a:xfrm>
            <a:off x="6396990" y="2590800"/>
            <a:ext cx="2173605" cy="285750"/>
          </a:xfrm>
          <a:prstGeom prst="rect">
            <a:avLst/>
          </a:prstGeom>
          <a:noFill/>
          <a:ln w="0">
            <a:noFill/>
          </a:ln>
        </p:spPr>
        <p:txBody>
          <a:bodyPr wrap="square" lIns="0" tIns="0" rIns="0" bIns="0" anchor="t">
            <a:noAutofit/>
          </a:bodyPr>
          <a:lstStyle/>
          <a:p>
            <a:pPr algn="l">
              <a:defRPr sz="1725" b="1">
                <a:solidFill>
                  <a:srgbClr val="008F83"/>
                </a:solidFill>
                <a:latin typeface="Inter"/>
                <a:ea typeface="Inter"/>
                <a:cs typeface="Inter"/>
              </a:defRPr>
            </a:pPr>
            <a:r>
              <a:rPr sz="1725" b="1">
                <a:solidFill>
                  <a:srgbClr val="008F83"/>
                </a:solidFill>
                <a:latin typeface="Inter"/>
                <a:ea typeface="Inter"/>
                <a:cs typeface="Inter"/>
              </a:rPr>
              <a:t>Slack</a:t>
            </a:r>
          </a:p>
        </p:txBody>
      </p:sp>
      <p:sp>
        <p:nvSpPr>
          <p:cNvPr id="29" name="Slack 0 record">
            <a:extLst>
              <a:ext uri="{FF2B5EF4-FFF2-40B4-BE49-F238E27FC236}">
                <a16:creationId xmlns:a16="http://schemas.microsoft.com/office/drawing/2014/main" id="{A521A807-EDC1-448D-8D4B-EA38EA2F0ADF}"/>
              </a:ext>
            </a:extLst>
          </p:cNvPr>
          <p:cNvSpPr>
            <a:spLocks noGrp="1"/>
          </p:cNvSpPr>
          <p:nvPr/>
        </p:nvSpPr>
        <p:spPr>
          <a:xfrm>
            <a:off x="6396990" y="3009900"/>
            <a:ext cx="2173605" cy="419100"/>
          </a:xfrm>
          <a:prstGeom prst="rect">
            <a:avLst/>
          </a:prstGeom>
          <a:noFill/>
          <a:ln w="0">
            <a:noFill/>
          </a:ln>
        </p:spPr>
        <p:txBody>
          <a:bodyPr wrap="square" lIns="0" tIns="0" rIns="0" bIns="0" anchor="t">
            <a:noAutofit/>
          </a:bodyPr>
          <a:lstStyle/>
          <a:p>
            <a:pPr algn="l">
              <a:defRPr sz="1275" b="1">
                <a:solidFill>
                  <a:srgbClr val="182234"/>
                </a:solidFill>
                <a:latin typeface="Inter"/>
                <a:ea typeface="Inter"/>
                <a:cs typeface="Inter"/>
              </a:defRPr>
            </a:pPr>
            <a:r>
              <a:rPr sz="1275" b="1">
                <a:solidFill>
                  <a:srgbClr val="182234"/>
                </a:solidFill>
                <a:latin typeface="Inter"/>
                <a:ea typeface="Inter"/>
                <a:cs typeface="Inter"/>
              </a:rPr>
              <a:t>#payment-incident</a:t>
            </a:r>
          </a:p>
          <a:p>
            <a:pPr algn="l">
              <a:defRPr sz="1275" b="1">
                <a:solidFill>
                  <a:srgbClr val="182234"/>
                </a:solidFill>
                <a:latin typeface="Inter"/>
                <a:ea typeface="Inter"/>
                <a:cs typeface="Inter"/>
              </a:defRPr>
            </a:pPr>
            <a:r>
              <a:rPr sz="1275" b="1">
                <a:solidFill>
                  <a:srgbClr val="182234"/>
                </a:solidFill>
                <a:latin typeface="Inter"/>
                <a:ea typeface="Inter"/>
                <a:cs typeface="Inter"/>
              </a:rPr>
              <a:t>Incident thread and replies</a:t>
            </a:r>
          </a:p>
        </p:txBody>
      </p:sp>
      <p:sp>
        <p:nvSpPr>
          <p:cNvPr id="30" name="Slack 0 readers">
            <a:extLst>
              <a:ext uri="{FF2B5EF4-FFF2-40B4-BE49-F238E27FC236}">
                <a16:creationId xmlns:a16="http://schemas.microsoft.com/office/drawing/2014/main" id="{38EFBC5F-2989-4DD9-8FA8-5DB1E90BB086}"/>
              </a:ext>
            </a:extLst>
          </p:cNvPr>
          <p:cNvSpPr>
            <a:spLocks noGrp="1"/>
          </p:cNvSpPr>
          <p:nvPr/>
        </p:nvSpPr>
        <p:spPr>
          <a:xfrm>
            <a:off x="6396990" y="3438525"/>
            <a:ext cx="2173605" cy="219075"/>
          </a:xfrm>
          <a:prstGeom prst="rect">
            <a:avLst/>
          </a:prstGeom>
          <a:noFill/>
          <a:ln w="0">
            <a:noFill/>
          </a:ln>
        </p:spPr>
        <p:txBody>
          <a:bodyPr wrap="square" lIns="0" tIns="0" rIns="0" bIns="0" anchor="t">
            <a:noAutofit/>
          </a:bodyPr>
          <a:lstStyle/>
          <a:p>
            <a:pPr algn="l">
              <a:defRPr sz="1200" b="0">
                <a:solidFill>
                  <a:srgbClr val="008F83"/>
                </a:solidFill>
                <a:latin typeface="Inter"/>
                <a:ea typeface="Inter"/>
                <a:cs typeface="Inter"/>
              </a:defRPr>
            </a:pPr>
            <a:r>
              <a:rPr sz="1200" b="0">
                <a:solidFill>
                  <a:srgbClr val="008F83"/>
                </a:solidFill>
                <a:latin typeface="Inter"/>
                <a:ea typeface="Inter"/>
                <a:cs typeface="Inter"/>
              </a:rPr>
              <a:t>Readers: Alice, Bob</a:t>
            </a:r>
          </a:p>
        </p:txBody>
      </p:sp>
      <p:sp>
        <p:nvSpPr>
          <p:cNvPr id="31" name="Slack 1 record">
            <a:extLst>
              <a:ext uri="{FF2B5EF4-FFF2-40B4-BE49-F238E27FC236}">
                <a16:creationId xmlns:a16="http://schemas.microsoft.com/office/drawing/2014/main" id="{364040B1-FB80-4F39-9333-9057C2D22D6F}"/>
              </a:ext>
            </a:extLst>
          </p:cNvPr>
          <p:cNvSpPr>
            <a:spLocks noGrp="1"/>
          </p:cNvSpPr>
          <p:nvPr/>
        </p:nvSpPr>
        <p:spPr>
          <a:xfrm>
            <a:off x="6396990" y="3886200"/>
            <a:ext cx="2173605" cy="419100"/>
          </a:xfrm>
          <a:prstGeom prst="rect">
            <a:avLst/>
          </a:prstGeom>
          <a:noFill/>
          <a:ln w="0">
            <a:noFill/>
          </a:ln>
        </p:spPr>
        <p:txBody>
          <a:bodyPr wrap="square" lIns="0" tIns="0" rIns="0" bIns="0" anchor="t">
            <a:noAutofit/>
          </a:bodyPr>
          <a:lstStyle/>
          <a:p>
            <a:pPr algn="l">
              <a:defRPr sz="1275" b="1">
                <a:solidFill>
                  <a:srgbClr val="182234"/>
                </a:solidFill>
                <a:latin typeface="Inter"/>
                <a:ea typeface="Inter"/>
                <a:cs typeface="Inter"/>
              </a:defRPr>
            </a:pPr>
            <a:r>
              <a:rPr sz="1275" b="1">
                <a:solidFill>
                  <a:srgbClr val="182234"/>
                </a:solidFill>
                <a:latin typeface="Inter"/>
                <a:ea typeface="Inter"/>
                <a:cs typeface="Inter"/>
              </a:rPr>
              <a:t>#auth-design</a:t>
            </a:r>
          </a:p>
          <a:p>
            <a:pPr algn="l">
              <a:defRPr sz="1275" b="1">
                <a:solidFill>
                  <a:srgbClr val="182234"/>
                </a:solidFill>
                <a:latin typeface="Inter"/>
                <a:ea typeface="Inter"/>
                <a:cs typeface="Inter"/>
              </a:defRPr>
            </a:pPr>
            <a:r>
              <a:rPr sz="1275" b="1">
                <a:solidFill>
                  <a:srgbClr val="182234"/>
                </a:solidFill>
                <a:latin typeface="Inter"/>
                <a:ea typeface="Inter"/>
                <a:cs typeface="Inter"/>
              </a:rPr>
              <a:t>Decision thread and replies</a:t>
            </a:r>
          </a:p>
        </p:txBody>
      </p:sp>
      <p:sp>
        <p:nvSpPr>
          <p:cNvPr id="32" name="Slack 1 readers">
            <a:extLst>
              <a:ext uri="{FF2B5EF4-FFF2-40B4-BE49-F238E27FC236}">
                <a16:creationId xmlns:a16="http://schemas.microsoft.com/office/drawing/2014/main" id="{75D77C99-DFF1-410A-A0CE-AC66553A306E}"/>
              </a:ext>
            </a:extLst>
          </p:cNvPr>
          <p:cNvSpPr>
            <a:spLocks noGrp="1"/>
          </p:cNvSpPr>
          <p:nvPr/>
        </p:nvSpPr>
        <p:spPr>
          <a:xfrm>
            <a:off x="6396990" y="4314825"/>
            <a:ext cx="2173605" cy="219075"/>
          </a:xfrm>
          <a:prstGeom prst="rect">
            <a:avLst/>
          </a:prstGeom>
          <a:noFill/>
          <a:ln w="0">
            <a:noFill/>
          </a:ln>
        </p:spPr>
        <p:txBody>
          <a:bodyPr wrap="square" lIns="0" tIns="0" rIns="0" bIns="0" anchor="t">
            <a:noAutofit/>
          </a:bodyPr>
          <a:lstStyle/>
          <a:p>
            <a:pPr algn="l">
              <a:defRPr sz="1200" b="0">
                <a:solidFill>
                  <a:srgbClr val="008F83"/>
                </a:solidFill>
                <a:latin typeface="Inter"/>
                <a:ea typeface="Inter"/>
                <a:cs typeface="Inter"/>
              </a:defRPr>
            </a:pPr>
            <a:r>
              <a:rPr sz="1200" b="0">
                <a:solidFill>
                  <a:srgbClr val="008F83"/>
                </a:solidFill>
                <a:latin typeface="Inter"/>
                <a:ea typeface="Inter"/>
                <a:cs typeface="Inter"/>
              </a:rPr>
              <a:t>Readers: Alice, Bob</a:t>
            </a:r>
          </a:p>
        </p:txBody>
      </p:sp>
      <p:sp>
        <p:nvSpPr>
          <p:cNvPr id="33" name="Slack 2 record">
            <a:extLst>
              <a:ext uri="{FF2B5EF4-FFF2-40B4-BE49-F238E27FC236}">
                <a16:creationId xmlns:a16="http://schemas.microsoft.com/office/drawing/2014/main" id="{2370EA09-23B0-4CAB-99DD-4977A89C8383}"/>
              </a:ext>
            </a:extLst>
          </p:cNvPr>
          <p:cNvSpPr>
            <a:spLocks noGrp="1"/>
          </p:cNvSpPr>
          <p:nvPr/>
        </p:nvSpPr>
        <p:spPr>
          <a:xfrm>
            <a:off x="6396990" y="4762500"/>
            <a:ext cx="2173605" cy="419100"/>
          </a:xfrm>
          <a:prstGeom prst="rect">
            <a:avLst/>
          </a:prstGeom>
          <a:noFill/>
          <a:ln w="0">
            <a:noFill/>
          </a:ln>
        </p:spPr>
        <p:txBody>
          <a:bodyPr wrap="square" lIns="0" tIns="0" rIns="0" bIns="0" anchor="t">
            <a:noAutofit/>
          </a:bodyPr>
          <a:lstStyle/>
          <a:p>
            <a:pPr algn="l">
              <a:defRPr sz="1275" b="1">
                <a:solidFill>
                  <a:srgbClr val="182234"/>
                </a:solidFill>
                <a:latin typeface="Inter"/>
                <a:ea typeface="Inter"/>
                <a:cs typeface="Inter"/>
              </a:defRPr>
            </a:pPr>
            <a:r>
              <a:rPr sz="1275" b="1">
                <a:solidFill>
                  <a:srgbClr val="182234"/>
                </a:solidFill>
                <a:latin typeface="Inter"/>
                <a:ea typeface="Inter"/>
                <a:cs typeface="Inter"/>
              </a:rPr>
              <a:t>#revocation-test</a:t>
            </a:r>
          </a:p>
          <a:p>
            <a:pPr algn="l">
              <a:defRPr sz="1275" b="1">
                <a:solidFill>
                  <a:srgbClr val="182234"/>
                </a:solidFill>
                <a:latin typeface="Inter"/>
                <a:ea typeface="Inter"/>
                <a:cs typeface="Inter"/>
              </a:defRPr>
            </a:pPr>
            <a:r>
              <a:rPr sz="1275" b="1">
                <a:solidFill>
                  <a:srgbClr val="182234"/>
                </a:solidFill>
                <a:latin typeface="Inter"/>
                <a:ea typeface="Inter"/>
                <a:cs typeface="Inter"/>
              </a:rPr>
              <a:t>Private rehearsal channel</a:t>
            </a:r>
          </a:p>
        </p:txBody>
      </p:sp>
      <p:sp>
        <p:nvSpPr>
          <p:cNvPr id="34" name="Slack 2 readers">
            <a:extLst>
              <a:ext uri="{FF2B5EF4-FFF2-40B4-BE49-F238E27FC236}">
                <a16:creationId xmlns:a16="http://schemas.microsoft.com/office/drawing/2014/main" id="{8679DA42-BFDB-429B-BE0D-D60671BB280A}"/>
              </a:ext>
            </a:extLst>
          </p:cNvPr>
          <p:cNvSpPr>
            <a:spLocks noGrp="1"/>
          </p:cNvSpPr>
          <p:nvPr/>
        </p:nvSpPr>
        <p:spPr>
          <a:xfrm>
            <a:off x="6396990" y="5191125"/>
            <a:ext cx="2173605" cy="219075"/>
          </a:xfrm>
          <a:prstGeom prst="rect">
            <a:avLst/>
          </a:prstGeom>
          <a:noFill/>
          <a:ln w="0">
            <a:noFill/>
          </a:ln>
        </p:spPr>
        <p:txBody>
          <a:bodyPr wrap="square" lIns="0" tIns="0" rIns="0" bIns="0" anchor="t">
            <a:noAutofit/>
          </a:bodyPr>
          <a:lstStyle/>
          <a:p>
            <a:pPr algn="l">
              <a:defRPr sz="1200" b="0">
                <a:solidFill>
                  <a:srgbClr val="008F83"/>
                </a:solidFill>
                <a:latin typeface="Inter"/>
                <a:ea typeface="Inter"/>
                <a:cs typeface="Inter"/>
              </a:defRPr>
            </a:pPr>
            <a:r>
              <a:rPr sz="1200" b="0">
                <a:solidFill>
                  <a:srgbClr val="008F83"/>
                </a:solidFill>
                <a:latin typeface="Inter"/>
                <a:ea typeface="Inter"/>
                <a:cs typeface="Inter"/>
              </a:rPr>
              <a:t>Reader: Alice</a:t>
            </a:r>
          </a:p>
        </p:txBody>
      </p:sp>
      <p:sp>
        <p:nvSpPr>
          <p:cNvPr id="35" name="Slack 2 denial">
            <a:extLst>
              <a:ext uri="{FF2B5EF4-FFF2-40B4-BE49-F238E27FC236}">
                <a16:creationId xmlns:a16="http://schemas.microsoft.com/office/drawing/2014/main" id="{5C183390-41E6-46ED-AC28-E7A191C60A08}"/>
              </a:ext>
            </a:extLst>
          </p:cNvPr>
          <p:cNvSpPr>
            <a:spLocks noGrp="1"/>
          </p:cNvSpPr>
          <p:nvPr/>
        </p:nvSpPr>
        <p:spPr>
          <a:xfrm>
            <a:off x="6396990" y="5419725"/>
            <a:ext cx="2173605" cy="209550"/>
          </a:xfrm>
          <a:prstGeom prst="rect">
            <a:avLst/>
          </a:prstGeom>
          <a:noFill/>
          <a:ln w="0">
            <a:noFill/>
          </a:ln>
        </p:spPr>
        <p:txBody>
          <a:bodyPr wrap="square" lIns="0" tIns="0" rIns="0" bIns="0" anchor="t">
            <a:noAutofit/>
          </a:bodyPr>
          <a:lstStyle/>
          <a:p>
            <a:pPr algn="l">
              <a:defRPr sz="1125" b="1">
                <a:solidFill>
                  <a:srgbClr val="9A3B43"/>
                </a:solidFill>
                <a:latin typeface="Inter"/>
                <a:ea typeface="Inter"/>
                <a:cs typeface="Inter"/>
              </a:defRPr>
            </a:pPr>
            <a:r>
              <a:rPr sz="1125" b="1">
                <a:solidFill>
                  <a:srgbClr val="9A3B43"/>
                </a:solidFill>
                <a:latin typeface="Inter"/>
                <a:ea typeface="Inter"/>
                <a:cs typeface="Inter"/>
              </a:rPr>
              <a:t>Bob: not a member</a:t>
            </a:r>
          </a:p>
        </p:txBody>
      </p:sp>
      <p:sp>
        <p:nvSpPr>
          <p:cNvPr id="36" name="Google Drive source">
            <a:extLst>
              <a:ext uri="{FF2B5EF4-FFF2-40B4-BE49-F238E27FC236}">
                <a16:creationId xmlns:a16="http://schemas.microsoft.com/office/drawing/2014/main" id="{ECCE0D75-F3B4-4E29-9F69-7039BD53ED74}"/>
              </a:ext>
            </a:extLst>
          </p:cNvPr>
          <p:cNvSpPr>
            <a:spLocks noGrp="1"/>
          </p:cNvSpPr>
          <p:nvPr/>
        </p:nvSpPr>
        <p:spPr>
          <a:xfrm>
            <a:off x="8989695" y="2400300"/>
            <a:ext cx="2554605" cy="3390900"/>
          </a:xfrm>
          <a:prstGeom prst="roundRect">
            <a:avLst>
              <a:gd name="adj" fmla="val 3729"/>
            </a:avLst>
          </a:prstGeom>
          <a:solidFill>
            <a:srgbClr val="FFFFFF"/>
          </a:solidFill>
          <a:ln w="9525">
            <a:solidFill>
              <a:srgbClr val="D5DDEF"/>
            </a:solidFill>
          </a:ln>
        </p:spPr>
        <p:txBody>
          <a:bodyPr/>
          <a:lstStyle/>
          <a:p>
            <a:endParaRPr lang="zh-CN" altLang="en-US"/>
          </a:p>
        </p:txBody>
      </p:sp>
      <p:sp>
        <p:nvSpPr>
          <p:cNvPr id="37" name="Google Drive heading">
            <a:extLst>
              <a:ext uri="{FF2B5EF4-FFF2-40B4-BE49-F238E27FC236}">
                <a16:creationId xmlns:a16="http://schemas.microsoft.com/office/drawing/2014/main" id="{515DE40B-DFEB-4C8D-AB52-1B2EE500A858}"/>
              </a:ext>
            </a:extLst>
          </p:cNvPr>
          <p:cNvSpPr>
            <a:spLocks noGrp="1"/>
          </p:cNvSpPr>
          <p:nvPr/>
        </p:nvSpPr>
        <p:spPr>
          <a:xfrm>
            <a:off x="9180195" y="2590800"/>
            <a:ext cx="2173605" cy="285750"/>
          </a:xfrm>
          <a:prstGeom prst="rect">
            <a:avLst/>
          </a:prstGeom>
          <a:noFill/>
          <a:ln w="0">
            <a:noFill/>
          </a:ln>
        </p:spPr>
        <p:txBody>
          <a:bodyPr wrap="square" lIns="0" tIns="0" rIns="0" bIns="0" anchor="t">
            <a:noAutofit/>
          </a:bodyPr>
          <a:lstStyle/>
          <a:p>
            <a:pPr algn="l">
              <a:defRPr sz="1725" b="1">
                <a:solidFill>
                  <a:srgbClr val="128044"/>
                </a:solidFill>
                <a:latin typeface="Inter"/>
                <a:ea typeface="Inter"/>
                <a:cs typeface="Inter"/>
              </a:defRPr>
            </a:pPr>
            <a:r>
              <a:rPr sz="1725" b="1">
                <a:solidFill>
                  <a:srgbClr val="128044"/>
                </a:solidFill>
                <a:latin typeface="Inter"/>
                <a:ea typeface="Inter"/>
                <a:cs typeface="Inter"/>
              </a:rPr>
              <a:t>Google Drive</a:t>
            </a:r>
          </a:p>
        </p:txBody>
      </p:sp>
      <p:sp>
        <p:nvSpPr>
          <p:cNvPr id="38" name="Google Drive 0 record">
            <a:extLst>
              <a:ext uri="{FF2B5EF4-FFF2-40B4-BE49-F238E27FC236}">
                <a16:creationId xmlns:a16="http://schemas.microsoft.com/office/drawing/2014/main" id="{DD1AC8F0-66CA-46A7-A64B-AAAF325A6208}"/>
              </a:ext>
            </a:extLst>
          </p:cNvPr>
          <p:cNvSpPr>
            <a:spLocks noGrp="1"/>
          </p:cNvSpPr>
          <p:nvPr/>
        </p:nvSpPr>
        <p:spPr>
          <a:xfrm>
            <a:off x="9180195" y="3009900"/>
            <a:ext cx="2173605" cy="419100"/>
          </a:xfrm>
          <a:prstGeom prst="rect">
            <a:avLst/>
          </a:prstGeom>
          <a:noFill/>
          <a:ln w="0">
            <a:noFill/>
          </a:ln>
        </p:spPr>
        <p:txBody>
          <a:bodyPr wrap="square" lIns="0" tIns="0" rIns="0" bIns="0" anchor="t">
            <a:noAutofit/>
          </a:bodyPr>
          <a:lstStyle/>
          <a:p>
            <a:pPr algn="l">
              <a:defRPr sz="1275" b="1">
                <a:solidFill>
                  <a:srgbClr val="182234"/>
                </a:solidFill>
                <a:latin typeface="Inter"/>
                <a:ea typeface="Inter"/>
                <a:cs typeface="Inter"/>
              </a:defRPr>
            </a:pPr>
            <a:r>
              <a:rPr sz="1275" b="1">
                <a:solidFill>
                  <a:srgbClr val="182234"/>
                </a:solidFill>
                <a:latin typeface="Inter"/>
                <a:ea typeface="Inter"/>
                <a:cs typeface="Inter"/>
              </a:rPr>
              <a:t>Payment Gateway</a:t>
            </a:r>
          </a:p>
          <a:p>
            <a:pPr algn="l">
              <a:defRPr sz="1275" b="1">
                <a:solidFill>
                  <a:srgbClr val="182234"/>
                </a:solidFill>
                <a:latin typeface="Inter"/>
                <a:ea typeface="Inter"/>
                <a:cs typeface="Inter"/>
              </a:defRPr>
            </a:pPr>
            <a:r>
              <a:rPr sz="1275" b="1">
                <a:solidFill>
                  <a:srgbClr val="182234"/>
                </a:solidFill>
                <a:latin typeface="Inter"/>
                <a:ea typeface="Inter"/>
                <a:cs typeface="Inter"/>
              </a:rPr>
              <a:t>Postmortem (Shared)</a:t>
            </a:r>
          </a:p>
        </p:txBody>
      </p:sp>
      <p:sp>
        <p:nvSpPr>
          <p:cNvPr id="39" name="Google Drive 0 readers">
            <a:extLst>
              <a:ext uri="{FF2B5EF4-FFF2-40B4-BE49-F238E27FC236}">
                <a16:creationId xmlns:a16="http://schemas.microsoft.com/office/drawing/2014/main" id="{5DD30D3F-ED45-497F-8911-849A58D9E95D}"/>
              </a:ext>
            </a:extLst>
          </p:cNvPr>
          <p:cNvSpPr>
            <a:spLocks noGrp="1"/>
          </p:cNvSpPr>
          <p:nvPr/>
        </p:nvSpPr>
        <p:spPr>
          <a:xfrm>
            <a:off x="9180195" y="3438525"/>
            <a:ext cx="2173605" cy="219075"/>
          </a:xfrm>
          <a:prstGeom prst="rect">
            <a:avLst/>
          </a:prstGeom>
          <a:noFill/>
          <a:ln w="0">
            <a:noFill/>
          </a:ln>
        </p:spPr>
        <p:txBody>
          <a:bodyPr wrap="square" lIns="0" tIns="0" rIns="0" bIns="0" anchor="t">
            <a:noAutofit/>
          </a:bodyPr>
          <a:lstStyle/>
          <a:p>
            <a:pPr algn="l">
              <a:defRPr sz="1200" b="0">
                <a:solidFill>
                  <a:srgbClr val="128044"/>
                </a:solidFill>
                <a:latin typeface="Inter"/>
                <a:ea typeface="Inter"/>
                <a:cs typeface="Inter"/>
              </a:defRPr>
            </a:pPr>
            <a:r>
              <a:rPr sz="1200" b="0">
                <a:solidFill>
                  <a:srgbClr val="128044"/>
                </a:solidFill>
                <a:latin typeface="Inter"/>
                <a:ea typeface="Inter"/>
                <a:cs typeface="Inter"/>
              </a:rPr>
              <a:t>Readers: Alice, Bob</a:t>
            </a:r>
          </a:p>
        </p:txBody>
      </p:sp>
      <p:sp>
        <p:nvSpPr>
          <p:cNvPr id="40" name="Google Drive 1 record">
            <a:extLst>
              <a:ext uri="{FF2B5EF4-FFF2-40B4-BE49-F238E27FC236}">
                <a16:creationId xmlns:a16="http://schemas.microsoft.com/office/drawing/2014/main" id="{45976159-229B-4EAA-8FA9-70AF3FEEC3B4}"/>
              </a:ext>
            </a:extLst>
          </p:cNvPr>
          <p:cNvSpPr>
            <a:spLocks noGrp="1"/>
          </p:cNvSpPr>
          <p:nvPr/>
        </p:nvSpPr>
        <p:spPr>
          <a:xfrm>
            <a:off x="9180195" y="3886200"/>
            <a:ext cx="2173605" cy="419100"/>
          </a:xfrm>
          <a:prstGeom prst="rect">
            <a:avLst/>
          </a:prstGeom>
          <a:noFill/>
          <a:ln w="0">
            <a:noFill/>
          </a:ln>
        </p:spPr>
        <p:txBody>
          <a:bodyPr wrap="square" lIns="0" tIns="0" rIns="0" bIns="0" anchor="t">
            <a:noAutofit/>
          </a:bodyPr>
          <a:lstStyle/>
          <a:p>
            <a:pPr algn="l">
              <a:defRPr sz="1275" b="1">
                <a:solidFill>
                  <a:srgbClr val="182234"/>
                </a:solidFill>
                <a:latin typeface="Inter"/>
                <a:ea typeface="Inter"/>
                <a:cs typeface="Inter"/>
              </a:defRPr>
            </a:pPr>
            <a:r>
              <a:rPr sz="1275" b="1">
                <a:solidFill>
                  <a:srgbClr val="182234"/>
                </a:solidFill>
                <a:latin typeface="Inter"/>
                <a:ea typeface="Inter"/>
                <a:cs typeface="Inter"/>
              </a:rPr>
              <a:t>Security</a:t>
            </a:r>
          </a:p>
          <a:p>
            <a:pPr algn="l">
              <a:defRPr sz="1275" b="1">
                <a:solidFill>
                  <a:srgbClr val="182234"/>
                </a:solidFill>
                <a:latin typeface="Inter"/>
                <a:ea typeface="Inter"/>
                <a:cs typeface="Inter"/>
              </a:defRPr>
            </a:pPr>
            <a:r>
              <a:rPr sz="1275" b="1">
                <a:solidFill>
                  <a:srgbClr val="182234"/>
                </a:solidFill>
                <a:latin typeface="Inter"/>
                <a:ea typeface="Inter"/>
                <a:cs typeface="Inter"/>
              </a:rPr>
              <a:t>Q3 Incident Review</a:t>
            </a:r>
          </a:p>
        </p:txBody>
      </p:sp>
      <p:sp>
        <p:nvSpPr>
          <p:cNvPr id="41" name="Google Drive 1 readers">
            <a:extLst>
              <a:ext uri="{FF2B5EF4-FFF2-40B4-BE49-F238E27FC236}">
                <a16:creationId xmlns:a16="http://schemas.microsoft.com/office/drawing/2014/main" id="{B0BD909E-864B-4F4D-85F8-7A040CE0921A}"/>
              </a:ext>
            </a:extLst>
          </p:cNvPr>
          <p:cNvSpPr>
            <a:spLocks noGrp="1"/>
          </p:cNvSpPr>
          <p:nvPr/>
        </p:nvSpPr>
        <p:spPr>
          <a:xfrm>
            <a:off x="9180195" y="4314825"/>
            <a:ext cx="2173605" cy="219075"/>
          </a:xfrm>
          <a:prstGeom prst="rect">
            <a:avLst/>
          </a:prstGeom>
          <a:noFill/>
          <a:ln w="0">
            <a:noFill/>
          </a:ln>
        </p:spPr>
        <p:txBody>
          <a:bodyPr wrap="square" lIns="0" tIns="0" rIns="0" bIns="0" anchor="t">
            <a:noAutofit/>
          </a:bodyPr>
          <a:lstStyle/>
          <a:p>
            <a:pPr algn="l">
              <a:defRPr sz="1200" b="0">
                <a:solidFill>
                  <a:srgbClr val="128044"/>
                </a:solidFill>
                <a:latin typeface="Inter"/>
                <a:ea typeface="Inter"/>
                <a:cs typeface="Inter"/>
              </a:defRPr>
            </a:pPr>
            <a:r>
              <a:rPr sz="1200" b="0">
                <a:solidFill>
                  <a:srgbClr val="128044"/>
                </a:solidFill>
                <a:latin typeface="Inter"/>
                <a:ea typeface="Inter"/>
                <a:cs typeface="Inter"/>
              </a:rPr>
              <a:t>Readers: Alice, Carol</a:t>
            </a:r>
          </a:p>
        </p:txBody>
      </p:sp>
      <p:sp>
        <p:nvSpPr>
          <p:cNvPr id="42" name="Google Drive 1 denial">
            <a:extLst>
              <a:ext uri="{FF2B5EF4-FFF2-40B4-BE49-F238E27FC236}">
                <a16:creationId xmlns:a16="http://schemas.microsoft.com/office/drawing/2014/main" id="{E8E9A521-9BC3-493B-95F4-0A1EC2749764}"/>
              </a:ext>
            </a:extLst>
          </p:cNvPr>
          <p:cNvSpPr>
            <a:spLocks noGrp="1"/>
          </p:cNvSpPr>
          <p:nvPr/>
        </p:nvSpPr>
        <p:spPr>
          <a:xfrm>
            <a:off x="9180195" y="4543425"/>
            <a:ext cx="2173605" cy="209550"/>
          </a:xfrm>
          <a:prstGeom prst="rect">
            <a:avLst/>
          </a:prstGeom>
          <a:noFill/>
          <a:ln w="0">
            <a:noFill/>
          </a:ln>
        </p:spPr>
        <p:txBody>
          <a:bodyPr wrap="square" lIns="0" tIns="0" rIns="0" bIns="0" anchor="t">
            <a:noAutofit/>
          </a:bodyPr>
          <a:lstStyle/>
          <a:p>
            <a:pPr algn="l">
              <a:defRPr sz="1125" b="1">
                <a:solidFill>
                  <a:srgbClr val="9A3B43"/>
                </a:solidFill>
                <a:latin typeface="Inter"/>
                <a:ea typeface="Inter"/>
                <a:cs typeface="Inter"/>
              </a:defRPr>
            </a:pPr>
            <a:r>
              <a:rPr sz="1125" b="1">
                <a:solidFill>
                  <a:srgbClr val="9A3B43"/>
                </a:solidFill>
                <a:latin typeface="Inter"/>
                <a:ea typeface="Inter"/>
                <a:cs typeface="Inter"/>
              </a:rPr>
              <a:t>Bob: no access</a:t>
            </a:r>
          </a:p>
        </p:txBody>
      </p:sp>
      <p:sp>
        <p:nvSpPr>
          <p:cNvPr id="43" name="Application roles">
            <a:extLst>
              <a:ext uri="{FF2B5EF4-FFF2-40B4-BE49-F238E27FC236}">
                <a16:creationId xmlns:a16="http://schemas.microsoft.com/office/drawing/2014/main" id="{77B1AFB1-1490-474B-8006-0476A43D9AF8}"/>
              </a:ext>
            </a:extLst>
          </p:cNvPr>
          <p:cNvSpPr>
            <a:spLocks noGrp="1"/>
          </p:cNvSpPr>
          <p:nvPr/>
        </p:nvSpPr>
        <p:spPr>
          <a:xfrm>
            <a:off x="640080" y="5953125"/>
            <a:ext cx="10906125" cy="228600"/>
          </a:xfrm>
          <a:prstGeom prst="rect">
            <a:avLst/>
          </a:prstGeom>
          <a:noFill/>
          <a:ln w="0">
            <a:noFill/>
          </a:ln>
        </p:spPr>
        <p:txBody>
          <a:bodyPr wrap="square" lIns="0" tIns="0" rIns="0" bIns="0" anchor="t">
            <a:noAutofit/>
          </a:bodyPr>
          <a:lstStyle/>
          <a:p>
            <a:pPr algn="l">
              <a:defRPr sz="1200" b="0">
                <a:solidFill>
                  <a:srgbClr val="65738D"/>
                </a:solidFill>
                <a:latin typeface="Inter"/>
                <a:ea typeface="Inter"/>
                <a:cs typeface="Inter"/>
              </a:defRPr>
            </a:pPr>
            <a:r>
              <a:rPr sz="1200" b="0">
                <a:solidFill>
                  <a:srgbClr val="65738D"/>
                </a:solidFill>
                <a:latin typeface="Inter"/>
                <a:ea typeface="Inter"/>
                <a:cs typeface="Inter"/>
              </a:rPr>
              <a:t>Alice indexes the corpus. Carol alone has compliance access, which does not grant source reading rights.</a:t>
            </a:r>
          </a:p>
        </p:txBody>
      </p:sp>
      <p:sp>
        <p:nvSpPr>
          <p:cNvPr id="44" name="Static denial boundary">
            <a:extLst>
              <a:ext uri="{FF2B5EF4-FFF2-40B4-BE49-F238E27FC236}">
                <a16:creationId xmlns:a16="http://schemas.microsoft.com/office/drawing/2014/main" id="{4EDCA29C-98A4-44C1-B7CC-6C29B909BD55}"/>
              </a:ext>
            </a:extLst>
          </p:cNvPr>
          <p:cNvSpPr>
            <a:spLocks noGrp="1"/>
          </p:cNvSpPr>
          <p:nvPr/>
        </p:nvSpPr>
        <p:spPr>
          <a:xfrm>
            <a:off x="640080" y="6200775"/>
            <a:ext cx="10906125" cy="209550"/>
          </a:xfrm>
          <a:prstGeom prst="rect">
            <a:avLst/>
          </a:prstGeom>
          <a:noFill/>
          <a:ln w="0">
            <a:noFill/>
          </a:ln>
        </p:spPr>
        <p:txBody>
          <a:bodyPr wrap="square" lIns="0" tIns="0" rIns="0" bIns="0" anchor="t">
            <a:noAutofit/>
          </a:bodyPr>
          <a:lstStyle/>
          <a:p>
            <a:pPr algn="l">
              <a:defRPr sz="1125" b="0">
                <a:solidFill>
                  <a:srgbClr val="65738D"/>
                </a:solidFill>
                <a:latin typeface="Inter"/>
                <a:ea typeface="Inter"/>
                <a:cs typeface="Inter"/>
              </a:defRPr>
            </a:pPr>
            <a:r>
              <a:rPr sz="1125" b="0">
                <a:solidFill>
                  <a:srgbClr val="65738D"/>
                </a:solidFill>
                <a:latin typeface="Inter"/>
                <a:ea typeface="Inter"/>
                <a:cs typeface="Inter"/>
              </a:rPr>
              <a:t>Bob is already outside the private Slack channel. Current denial does not demonstrate a live revocation.</a:t>
            </a:r>
          </a:p>
        </p:txBody>
      </p:sp>
    </p:spTree>
    <p:extLst>
      <p:ext uri="{BB962C8B-B14F-4D97-AF65-F5344CB8AC3E}">
        <p14:creationId xmlns:p14="http://schemas.microsoft.com/office/powerpoint/2010/main" val="8314836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A277496-3831-4A17-B175-6769F6F69342}"/>
              </a:ext>
            </a:extLst>
          </p:cNvPr>
          <p:cNvSpPr>
            <a:spLocks noGrp="1"/>
          </p:cNvSpPr>
          <p:nvPr/>
        </p:nvSpPr>
        <p:spPr>
          <a:xfrm>
            <a:off x="0" y="0"/>
            <a:ext cx="12192000" cy="50292"/>
          </a:xfrm>
          <a:prstGeom prst="rect">
            <a:avLst/>
          </a:prstGeom>
          <a:solidFill>
            <a:srgbClr val="5253D7"/>
          </a:solidFill>
          <a:ln w="12700">
            <a:solidFill>
              <a:srgbClr val="5253D7"/>
            </a:solidFill>
            <a:prstDash val="solid"/>
          </a:ln>
        </p:spPr>
        <p:txBody>
          <a:bodyPr/>
          <a:lstStyle/>
          <a:p>
            <a:endParaRPr/>
          </a:p>
        </p:txBody>
      </p:sp>
      <p:sp>
        <p:nvSpPr>
          <p:cNvPr id="3" name="Text 1">
            <a:extLst>
              <a:ext uri="{FF2B5EF4-FFF2-40B4-BE49-F238E27FC236}">
                <a16:creationId xmlns:a16="http://schemas.microsoft.com/office/drawing/2014/main" id="{36406547-D7A0-4C5C-AB7E-836A25EAF2BF}"/>
              </a:ext>
            </a:extLst>
          </p:cNvPr>
          <p:cNvSpPr>
            <a:spLocks noGrp="1"/>
          </p:cNvSpPr>
          <p:nvPr/>
        </p:nvSpPr>
        <p:spPr>
          <a:xfrm>
            <a:off x="640080" y="393192"/>
            <a:ext cx="9144000" cy="237744"/>
          </a:xfrm>
          <a:prstGeom prst="rect">
            <a:avLst/>
          </a:prstGeom>
          <a:noFill/>
        </p:spPr>
        <p:txBody>
          <a:bodyPr wrap="square" lIns="0" tIns="0" rIns="0" bIns="0" anchor="ctr"/>
          <a:lstStyle/>
          <a:p>
            <a:pPr marL="0" indent="0" algn="l">
              <a:buNone/>
            </a:pPr>
            <a:r>
              <a:rPr sz="1010" b="1" spc="120">
                <a:solidFill>
                  <a:srgbClr val="5253D7"/>
                </a:solidFill>
                <a:latin typeface="Inter"/>
                <a:ea typeface="Inter"/>
                <a:cs typeface="Inter"/>
              </a:rPr>
              <a:t>AGENT WORKFLOW</a:t>
            </a:r>
            <a:endParaRPr sz="1010"/>
          </a:p>
        </p:txBody>
      </p:sp>
      <p:sp>
        <p:nvSpPr>
          <p:cNvPr id="4" name="Text 2">
            <a:extLst>
              <a:ext uri="{FF2B5EF4-FFF2-40B4-BE49-F238E27FC236}">
                <a16:creationId xmlns:a16="http://schemas.microsoft.com/office/drawing/2014/main" id="{53B5441E-1A02-4F68-B54D-5307F2FACDA0}"/>
              </a:ext>
            </a:extLst>
          </p:cNvPr>
          <p:cNvSpPr>
            <a:spLocks noGrp="1"/>
          </p:cNvSpPr>
          <p:nvPr/>
        </p:nvSpPr>
        <p:spPr>
          <a:xfrm>
            <a:off x="640080" y="740664"/>
            <a:ext cx="10954512" cy="512064"/>
          </a:xfrm>
          <a:prstGeom prst="rect">
            <a:avLst/>
          </a:prstGeom>
          <a:noFill/>
        </p:spPr>
        <p:txBody>
          <a:bodyPr wrap="square" lIns="0" tIns="0" rIns="0" bIns="0" anchor="ctr"/>
          <a:lstStyle/>
          <a:p>
            <a:pPr marL="0" indent="0" algn="l">
              <a:buNone/>
            </a:pPr>
            <a:r>
              <a:rPr sz="2950" b="1">
                <a:solidFill>
                  <a:srgbClr val="172033"/>
                </a:solidFill>
                <a:latin typeface="Inter"/>
                <a:ea typeface="Inter"/>
                <a:cs typeface="Inter"/>
              </a:rPr>
              <a:t>WorkBuddy shaped the plan</a:t>
            </a:r>
            <a:endParaRPr sz="2950"/>
          </a:p>
        </p:txBody>
      </p:sp>
      <p:sp>
        <p:nvSpPr>
          <p:cNvPr id="5" name="Text 3">
            <a:extLst>
              <a:ext uri="{FF2B5EF4-FFF2-40B4-BE49-F238E27FC236}">
                <a16:creationId xmlns:a16="http://schemas.microsoft.com/office/drawing/2014/main" id="{E3090B35-6726-4C2A-A499-C94C2C759FBE}"/>
              </a:ext>
            </a:extLst>
          </p:cNvPr>
          <p:cNvSpPr>
            <a:spLocks noGrp="1"/>
          </p:cNvSpPr>
          <p:nvPr/>
        </p:nvSpPr>
        <p:spPr>
          <a:xfrm>
            <a:off x="640080" y="1399032"/>
            <a:ext cx="10844784" cy="329184"/>
          </a:xfrm>
          <a:prstGeom prst="rect">
            <a:avLst/>
          </a:prstGeom>
          <a:noFill/>
        </p:spPr>
        <p:txBody>
          <a:bodyPr wrap="square" lIns="0" tIns="0" rIns="0" bIns="0" anchor="ctr"/>
          <a:lstStyle/>
          <a:p>
            <a:pPr marL="0" indent="0" algn="l">
              <a:buNone/>
            </a:pPr>
            <a:r>
              <a:rPr sz="1410">
                <a:solidFill>
                  <a:srgbClr val="667085"/>
                </a:solidFill>
                <a:latin typeface="Inter"/>
                <a:ea typeface="Inter"/>
                <a:cs typeface="Inter"/>
              </a:rPr>
              <a:t>The planning agent turned a broad challenge into a demonstrable, testable proposal.</a:t>
            </a:r>
            <a:endParaRPr sz="1410"/>
          </a:p>
        </p:txBody>
      </p:sp>
      <p:sp>
        <p:nvSpPr>
          <p:cNvPr id="6" name="Shape 4">
            <a:extLst>
              <a:ext uri="{FF2B5EF4-FFF2-40B4-BE49-F238E27FC236}">
                <a16:creationId xmlns:a16="http://schemas.microsoft.com/office/drawing/2014/main" id="{2534A4FA-29E7-44A7-A160-D01E7CDAF58C}"/>
              </a:ext>
            </a:extLst>
          </p:cNvPr>
          <p:cNvSpPr>
            <a:spLocks noGrp="1"/>
          </p:cNvSpPr>
          <p:nvPr/>
        </p:nvSpPr>
        <p:spPr>
          <a:xfrm>
            <a:off x="640080" y="6437376"/>
            <a:ext cx="10908792" cy="0"/>
          </a:xfrm>
          <a:prstGeom prst="line">
            <a:avLst/>
          </a:prstGeom>
          <a:noFill/>
          <a:ln w="10160">
            <a:solidFill>
              <a:srgbClr val="E5EAF2"/>
            </a:solidFill>
            <a:prstDash val="solid"/>
          </a:ln>
        </p:spPr>
        <p:txBody>
          <a:bodyPr/>
          <a:lstStyle/>
          <a:p>
            <a:endParaRPr/>
          </a:p>
        </p:txBody>
      </p:sp>
      <p:sp>
        <p:nvSpPr>
          <p:cNvPr id="7" name="Text 5">
            <a:extLst>
              <a:ext uri="{FF2B5EF4-FFF2-40B4-BE49-F238E27FC236}">
                <a16:creationId xmlns:a16="http://schemas.microsoft.com/office/drawing/2014/main" id="{8862869C-1919-4CC0-8B0E-4D9247B9E2EF}"/>
              </a:ext>
            </a:extLst>
          </p:cNvPr>
          <p:cNvSpPr>
            <a:spLocks noGrp="1"/>
          </p:cNvSpPr>
          <p:nvPr/>
        </p:nvSpPr>
        <p:spPr>
          <a:xfrm>
            <a:off x="640080" y="6528816"/>
            <a:ext cx="585216" cy="155448"/>
          </a:xfrm>
          <a:prstGeom prst="rect">
            <a:avLst/>
          </a:prstGeom>
          <a:noFill/>
        </p:spPr>
        <p:txBody>
          <a:bodyPr wrap="square" lIns="0" tIns="0" rIns="0" bIns="0" anchor="ctr"/>
          <a:lstStyle/>
          <a:p>
            <a:pPr marL="0" indent="0" algn="l">
              <a:buNone/>
            </a:pPr>
            <a:r>
              <a:rPr sz="1040" b="1">
                <a:solidFill>
                  <a:srgbClr val="172033"/>
                </a:solidFill>
                <a:latin typeface="Inter"/>
                <a:ea typeface="Inter"/>
                <a:cs typeface="Inter"/>
              </a:rPr>
              <a:t>relay</a:t>
            </a:r>
            <a:endParaRPr sz="1040"/>
          </a:p>
        </p:txBody>
      </p:sp>
      <p:sp>
        <p:nvSpPr>
          <p:cNvPr id="8" name="Text 6">
            <a:extLst>
              <a:ext uri="{FF2B5EF4-FFF2-40B4-BE49-F238E27FC236}">
                <a16:creationId xmlns:a16="http://schemas.microsoft.com/office/drawing/2014/main" id="{2E48A593-AC20-4583-A4C6-D2473A0D350F}"/>
              </a:ext>
            </a:extLst>
          </p:cNvPr>
          <p:cNvSpPr>
            <a:spLocks noGrp="1"/>
          </p:cNvSpPr>
          <p:nvPr/>
        </p:nvSpPr>
        <p:spPr>
          <a:xfrm>
            <a:off x="1307592" y="6528816"/>
            <a:ext cx="2743200" cy="155448"/>
          </a:xfrm>
          <a:prstGeom prst="rect">
            <a:avLst/>
          </a:prstGeom>
          <a:noFill/>
        </p:spPr>
        <p:txBody>
          <a:bodyPr wrap="square" lIns="0" tIns="0" rIns="0" bIns="0" anchor="ctr"/>
          <a:lstStyle/>
          <a:p>
            <a:pPr marL="0" indent="0" algn="l">
              <a:buNone/>
            </a:pPr>
            <a:r>
              <a:rPr sz="970">
                <a:solidFill>
                  <a:srgbClr val="94A3B8"/>
                </a:solidFill>
                <a:latin typeface="Inter"/>
                <a:ea typeface="Inter"/>
                <a:cs typeface="Inter"/>
              </a:rPr>
              <a:t>/ Tencent Hackathon demo</a:t>
            </a:r>
            <a:endParaRPr sz="970"/>
          </a:p>
        </p:txBody>
      </p:sp>
      <p:sp>
        <p:nvSpPr>
          <p:cNvPr id="9" name="Text 7">
            <a:extLst>
              <a:ext uri="{FF2B5EF4-FFF2-40B4-BE49-F238E27FC236}">
                <a16:creationId xmlns:a16="http://schemas.microsoft.com/office/drawing/2014/main" id="{15FFEF0D-6017-4B1F-9D3D-19D30D046806}"/>
              </a:ext>
            </a:extLst>
          </p:cNvPr>
          <p:cNvSpPr>
            <a:spLocks noGrp="1"/>
          </p:cNvSpPr>
          <p:nvPr/>
        </p:nvSpPr>
        <p:spPr>
          <a:xfrm>
            <a:off x="11036808" y="6519672"/>
            <a:ext cx="502920" cy="164592"/>
          </a:xfrm>
          <a:prstGeom prst="rect">
            <a:avLst/>
          </a:prstGeom>
          <a:noFill/>
        </p:spPr>
        <p:txBody>
          <a:bodyPr wrap="square" lIns="0" tIns="0" rIns="0" bIns="0" anchor="ctr"/>
          <a:lstStyle/>
          <a:p>
            <a:pPr marL="0" indent="0" algn="r">
              <a:buNone/>
            </a:pPr>
            <a:r>
              <a:rPr sz="1000" b="1">
                <a:solidFill>
                  <a:srgbClr val="94A3B8"/>
                </a:solidFill>
                <a:latin typeface="Inter"/>
                <a:ea typeface="Inter"/>
                <a:cs typeface="Inter"/>
              </a:rPr>
              <a:t>06</a:t>
            </a:r>
            <a:endParaRPr sz="1000"/>
          </a:p>
        </p:txBody>
      </p:sp>
      <p:sp>
        <p:nvSpPr>
          <p:cNvPr id="10" name="Shape 8">
            <a:extLst>
              <a:ext uri="{FF2B5EF4-FFF2-40B4-BE49-F238E27FC236}">
                <a16:creationId xmlns:a16="http://schemas.microsoft.com/office/drawing/2014/main" id="{5463EE31-A4C2-4969-A3AF-A0DF6229DCF9}"/>
              </a:ext>
            </a:extLst>
          </p:cNvPr>
          <p:cNvSpPr>
            <a:spLocks noGrp="1"/>
          </p:cNvSpPr>
          <p:nvPr/>
        </p:nvSpPr>
        <p:spPr>
          <a:xfrm>
            <a:off x="640080" y="2231136"/>
            <a:ext cx="2596896" cy="2697480"/>
          </a:xfrm>
          <a:prstGeom prst="roundRect">
            <a:avLst>
              <a:gd name="adj" fmla="val 6338"/>
            </a:avLst>
          </a:prstGeom>
          <a:solidFill>
            <a:srgbClr val="FFFFFF"/>
          </a:solidFill>
          <a:ln w="10160">
            <a:solidFill>
              <a:srgbClr val="E5EAF2"/>
            </a:solidFill>
            <a:prstDash val="solid"/>
          </a:ln>
        </p:spPr>
        <p:txBody>
          <a:bodyPr/>
          <a:lstStyle/>
          <a:p>
            <a:endParaRPr/>
          </a:p>
        </p:txBody>
      </p:sp>
      <p:sp>
        <p:nvSpPr>
          <p:cNvPr id="11" name="Shape 9">
            <a:extLst>
              <a:ext uri="{FF2B5EF4-FFF2-40B4-BE49-F238E27FC236}">
                <a16:creationId xmlns:a16="http://schemas.microsoft.com/office/drawing/2014/main" id="{F372E473-69A8-44AD-99C4-56F18FE89E7A}"/>
              </a:ext>
            </a:extLst>
          </p:cNvPr>
          <p:cNvSpPr>
            <a:spLocks noGrp="1"/>
          </p:cNvSpPr>
          <p:nvPr/>
        </p:nvSpPr>
        <p:spPr>
          <a:xfrm>
            <a:off x="841248" y="2468880"/>
            <a:ext cx="411480" cy="411480"/>
          </a:xfrm>
          <a:prstGeom prst="ellipse">
            <a:avLst/>
          </a:prstGeom>
          <a:solidFill>
            <a:srgbClr val="EFF0FF"/>
          </a:solidFill>
          <a:ln w="12700">
            <a:solidFill>
              <a:srgbClr val="EFF0FF"/>
            </a:solidFill>
            <a:prstDash val="solid"/>
          </a:ln>
        </p:spPr>
        <p:txBody>
          <a:bodyPr/>
          <a:lstStyle/>
          <a:p>
            <a:endParaRPr/>
          </a:p>
        </p:txBody>
      </p:sp>
      <p:sp>
        <p:nvSpPr>
          <p:cNvPr id="12" name="Text 10">
            <a:extLst>
              <a:ext uri="{FF2B5EF4-FFF2-40B4-BE49-F238E27FC236}">
                <a16:creationId xmlns:a16="http://schemas.microsoft.com/office/drawing/2014/main" id="{F0F0ACA3-D733-4FD8-B23F-E7C4774CA2A0}"/>
              </a:ext>
            </a:extLst>
          </p:cNvPr>
          <p:cNvSpPr>
            <a:spLocks noGrp="1"/>
          </p:cNvSpPr>
          <p:nvPr/>
        </p:nvSpPr>
        <p:spPr>
          <a:xfrm>
            <a:off x="841248" y="2560320"/>
            <a:ext cx="411480" cy="146304"/>
          </a:xfrm>
          <a:prstGeom prst="rect">
            <a:avLst/>
          </a:prstGeom>
          <a:noFill/>
        </p:spPr>
        <p:txBody>
          <a:bodyPr wrap="square" lIns="0" tIns="0" rIns="0" bIns="0" anchor="ctr"/>
          <a:lstStyle/>
          <a:p>
            <a:pPr marL="0" indent="0" algn="ctr">
              <a:buNone/>
            </a:pPr>
            <a:r>
              <a:rPr sz="1200" b="1">
                <a:solidFill>
                  <a:srgbClr val="5253D7"/>
                </a:solidFill>
                <a:latin typeface="Inter"/>
                <a:ea typeface="Inter"/>
                <a:cs typeface="Inter"/>
              </a:rPr>
              <a:t>01</a:t>
            </a:r>
            <a:endParaRPr sz="1200"/>
          </a:p>
        </p:txBody>
      </p:sp>
      <p:sp>
        <p:nvSpPr>
          <p:cNvPr id="13" name="Text 11">
            <a:extLst>
              <a:ext uri="{FF2B5EF4-FFF2-40B4-BE49-F238E27FC236}">
                <a16:creationId xmlns:a16="http://schemas.microsoft.com/office/drawing/2014/main" id="{D618B81C-BE32-4B67-B6FA-9ECF30F1E408}"/>
              </a:ext>
            </a:extLst>
          </p:cNvPr>
          <p:cNvSpPr>
            <a:spLocks noGrp="1"/>
          </p:cNvSpPr>
          <p:nvPr/>
        </p:nvSpPr>
        <p:spPr>
          <a:xfrm>
            <a:off x="841248" y="3063240"/>
            <a:ext cx="2194560" cy="393192"/>
          </a:xfrm>
          <a:prstGeom prst="rect">
            <a:avLst/>
          </a:prstGeom>
          <a:noFill/>
        </p:spPr>
        <p:txBody>
          <a:bodyPr wrap="square" lIns="0" tIns="0" rIns="0" bIns="0" anchor="t"/>
          <a:lstStyle/>
          <a:p>
            <a:pPr marL="0" indent="0" algn="l">
              <a:buNone/>
            </a:pPr>
            <a:r>
              <a:rPr sz="1740" b="1">
                <a:solidFill>
                  <a:srgbClr val="172033"/>
                </a:solidFill>
                <a:latin typeface="Inter"/>
                <a:ea typeface="Inter"/>
                <a:cs typeface="Inter"/>
              </a:rPr>
              <a:t>Initial idea</a:t>
            </a:r>
            <a:endParaRPr sz="1740"/>
          </a:p>
        </p:txBody>
      </p:sp>
      <p:sp>
        <p:nvSpPr>
          <p:cNvPr id="14" name="Text 12">
            <a:extLst>
              <a:ext uri="{FF2B5EF4-FFF2-40B4-BE49-F238E27FC236}">
                <a16:creationId xmlns:a16="http://schemas.microsoft.com/office/drawing/2014/main" id="{F61F4B3D-AE1A-4532-86AC-BC037A253BC1}"/>
              </a:ext>
            </a:extLst>
          </p:cNvPr>
          <p:cNvSpPr>
            <a:spLocks noGrp="1"/>
          </p:cNvSpPr>
          <p:nvPr/>
        </p:nvSpPr>
        <p:spPr>
          <a:xfrm>
            <a:off x="841248" y="3621024"/>
            <a:ext cx="2194560" cy="1033272"/>
          </a:xfrm>
          <a:prstGeom prst="rect">
            <a:avLst/>
          </a:prstGeom>
          <a:noFill/>
        </p:spPr>
        <p:txBody>
          <a:bodyPr wrap="square" lIns="0" tIns="0" rIns="0" bIns="0" anchor="t"/>
          <a:lstStyle/>
          <a:p>
            <a:pPr marL="0" indent="0" algn="l">
              <a:buNone/>
            </a:pPr>
            <a:r>
              <a:rPr sz="1400">
                <a:solidFill>
                  <a:srgbClr val="667085"/>
                </a:solidFill>
                <a:latin typeface="Inter"/>
                <a:ea typeface="Inter"/>
                <a:cs typeface="Inter"/>
              </a:rPr>
              <a:t>A unified enterprise assistant that could answer across the tools teams already use.</a:t>
            </a:r>
            <a:endParaRPr sz="1400"/>
          </a:p>
        </p:txBody>
      </p:sp>
      <p:sp>
        <p:nvSpPr>
          <p:cNvPr id="15" name="Shape 13">
            <a:extLst>
              <a:ext uri="{FF2B5EF4-FFF2-40B4-BE49-F238E27FC236}">
                <a16:creationId xmlns:a16="http://schemas.microsoft.com/office/drawing/2014/main" id="{DCA63DE5-3365-444D-89AC-FDDCBCEECA65}"/>
              </a:ext>
            </a:extLst>
          </p:cNvPr>
          <p:cNvSpPr>
            <a:spLocks noGrp="1"/>
          </p:cNvSpPr>
          <p:nvPr/>
        </p:nvSpPr>
        <p:spPr>
          <a:xfrm>
            <a:off x="3410712" y="2231136"/>
            <a:ext cx="2596896" cy="2697480"/>
          </a:xfrm>
          <a:prstGeom prst="roundRect">
            <a:avLst>
              <a:gd name="adj" fmla="val 6338"/>
            </a:avLst>
          </a:prstGeom>
          <a:solidFill>
            <a:srgbClr val="FFFFFF"/>
          </a:solidFill>
          <a:ln w="10160">
            <a:solidFill>
              <a:srgbClr val="E5EAF2"/>
            </a:solidFill>
            <a:prstDash val="solid"/>
          </a:ln>
        </p:spPr>
        <p:txBody>
          <a:bodyPr/>
          <a:lstStyle/>
          <a:p>
            <a:endParaRPr/>
          </a:p>
        </p:txBody>
      </p:sp>
      <p:sp>
        <p:nvSpPr>
          <p:cNvPr id="16" name="Shape 14">
            <a:extLst>
              <a:ext uri="{FF2B5EF4-FFF2-40B4-BE49-F238E27FC236}">
                <a16:creationId xmlns:a16="http://schemas.microsoft.com/office/drawing/2014/main" id="{5CDB95B5-C1C7-447E-B605-07443A8179F1}"/>
              </a:ext>
            </a:extLst>
          </p:cNvPr>
          <p:cNvSpPr>
            <a:spLocks noGrp="1"/>
          </p:cNvSpPr>
          <p:nvPr/>
        </p:nvSpPr>
        <p:spPr>
          <a:xfrm>
            <a:off x="3611880" y="2468880"/>
            <a:ext cx="411480" cy="411480"/>
          </a:xfrm>
          <a:prstGeom prst="ellipse">
            <a:avLst/>
          </a:prstGeom>
          <a:solidFill>
            <a:srgbClr val="EFF0FF"/>
          </a:solidFill>
          <a:ln w="12700">
            <a:solidFill>
              <a:srgbClr val="EFF0FF"/>
            </a:solidFill>
            <a:prstDash val="solid"/>
          </a:ln>
        </p:spPr>
        <p:txBody>
          <a:bodyPr/>
          <a:lstStyle/>
          <a:p>
            <a:endParaRPr/>
          </a:p>
        </p:txBody>
      </p:sp>
      <p:sp>
        <p:nvSpPr>
          <p:cNvPr id="17" name="Text 15">
            <a:extLst>
              <a:ext uri="{FF2B5EF4-FFF2-40B4-BE49-F238E27FC236}">
                <a16:creationId xmlns:a16="http://schemas.microsoft.com/office/drawing/2014/main" id="{3F4CC526-830B-4398-A3B7-6166ECF3F1A1}"/>
              </a:ext>
            </a:extLst>
          </p:cNvPr>
          <p:cNvSpPr>
            <a:spLocks noGrp="1"/>
          </p:cNvSpPr>
          <p:nvPr/>
        </p:nvSpPr>
        <p:spPr>
          <a:xfrm>
            <a:off x="3611880" y="2560320"/>
            <a:ext cx="411480" cy="146304"/>
          </a:xfrm>
          <a:prstGeom prst="rect">
            <a:avLst/>
          </a:prstGeom>
          <a:noFill/>
        </p:spPr>
        <p:txBody>
          <a:bodyPr wrap="square" lIns="0" tIns="0" rIns="0" bIns="0" anchor="ctr"/>
          <a:lstStyle/>
          <a:p>
            <a:pPr marL="0" indent="0" algn="ctr">
              <a:buNone/>
            </a:pPr>
            <a:r>
              <a:rPr sz="1200" b="1">
                <a:solidFill>
                  <a:srgbClr val="5253D7"/>
                </a:solidFill>
                <a:latin typeface="Inter"/>
                <a:ea typeface="Inter"/>
                <a:cs typeface="Inter"/>
              </a:rPr>
              <a:t>02</a:t>
            </a:r>
            <a:endParaRPr sz="1200"/>
          </a:p>
        </p:txBody>
      </p:sp>
      <p:sp>
        <p:nvSpPr>
          <p:cNvPr id="18" name="Text 16">
            <a:extLst>
              <a:ext uri="{FF2B5EF4-FFF2-40B4-BE49-F238E27FC236}">
                <a16:creationId xmlns:a16="http://schemas.microsoft.com/office/drawing/2014/main" id="{43A33EB2-422C-474C-B911-5A51814A3834}"/>
              </a:ext>
            </a:extLst>
          </p:cNvPr>
          <p:cNvSpPr>
            <a:spLocks noGrp="1"/>
          </p:cNvSpPr>
          <p:nvPr/>
        </p:nvSpPr>
        <p:spPr>
          <a:xfrm>
            <a:off x="3611880" y="3063240"/>
            <a:ext cx="2194560" cy="393192"/>
          </a:xfrm>
          <a:prstGeom prst="rect">
            <a:avLst/>
          </a:prstGeom>
          <a:noFill/>
        </p:spPr>
        <p:txBody>
          <a:bodyPr wrap="square" lIns="0" tIns="0" rIns="0" bIns="0" anchor="t"/>
          <a:lstStyle/>
          <a:p>
            <a:pPr marL="0" indent="0" algn="l">
              <a:buNone/>
            </a:pPr>
            <a:r>
              <a:rPr sz="1740" b="1">
                <a:solidFill>
                  <a:srgbClr val="172033"/>
                </a:solidFill>
                <a:latin typeface="Inter"/>
                <a:ea typeface="Inter"/>
                <a:cs typeface="Inter"/>
              </a:rPr>
              <a:t>First proposal</a:t>
            </a:r>
            <a:endParaRPr sz="1740"/>
          </a:p>
        </p:txBody>
      </p:sp>
      <p:sp>
        <p:nvSpPr>
          <p:cNvPr id="19" name="Text 17">
            <a:extLst>
              <a:ext uri="{FF2B5EF4-FFF2-40B4-BE49-F238E27FC236}">
                <a16:creationId xmlns:a16="http://schemas.microsoft.com/office/drawing/2014/main" id="{0971EFFA-35B5-42C7-9F54-94C4F3EB60E6}"/>
              </a:ext>
            </a:extLst>
          </p:cNvPr>
          <p:cNvSpPr>
            <a:spLocks noGrp="1"/>
          </p:cNvSpPr>
          <p:nvPr/>
        </p:nvSpPr>
        <p:spPr>
          <a:xfrm>
            <a:off x="3611880" y="3621024"/>
            <a:ext cx="2194560" cy="1033272"/>
          </a:xfrm>
          <a:prstGeom prst="rect">
            <a:avLst/>
          </a:prstGeom>
          <a:noFill/>
        </p:spPr>
        <p:txBody>
          <a:bodyPr wrap="square" lIns="0" tIns="0" rIns="0" bIns="0" anchor="t"/>
          <a:lstStyle/>
          <a:p>
            <a:pPr marL="0" indent="0" algn="l">
              <a:buNone/>
            </a:pPr>
            <a:r>
              <a:rPr sz="1400">
                <a:solidFill>
                  <a:srgbClr val="667085"/>
                </a:solidFill>
                <a:latin typeface="Inter"/>
                <a:ea typeface="Inter"/>
                <a:cs typeface="Inter"/>
              </a:rPr>
              <a:t>We drafted the use case, target users, security promise and demo scope with WorkBuddy.</a:t>
            </a:r>
            <a:endParaRPr sz="1400"/>
          </a:p>
        </p:txBody>
      </p:sp>
      <p:sp>
        <p:nvSpPr>
          <p:cNvPr id="20" name="Shape 18">
            <a:extLst>
              <a:ext uri="{FF2B5EF4-FFF2-40B4-BE49-F238E27FC236}">
                <a16:creationId xmlns:a16="http://schemas.microsoft.com/office/drawing/2014/main" id="{1E48A12C-EACA-447B-B251-9236D099BA23}"/>
              </a:ext>
            </a:extLst>
          </p:cNvPr>
          <p:cNvSpPr>
            <a:spLocks noGrp="1"/>
          </p:cNvSpPr>
          <p:nvPr/>
        </p:nvSpPr>
        <p:spPr>
          <a:xfrm>
            <a:off x="6181344" y="2231136"/>
            <a:ext cx="2596896" cy="2697480"/>
          </a:xfrm>
          <a:prstGeom prst="roundRect">
            <a:avLst>
              <a:gd name="adj" fmla="val 6338"/>
            </a:avLst>
          </a:prstGeom>
          <a:solidFill>
            <a:srgbClr val="FFFFFF"/>
          </a:solidFill>
          <a:ln w="10160">
            <a:solidFill>
              <a:srgbClr val="E5EAF2"/>
            </a:solidFill>
            <a:prstDash val="solid"/>
          </a:ln>
        </p:spPr>
        <p:txBody>
          <a:bodyPr/>
          <a:lstStyle/>
          <a:p>
            <a:endParaRPr/>
          </a:p>
        </p:txBody>
      </p:sp>
      <p:sp>
        <p:nvSpPr>
          <p:cNvPr id="21" name="Shape 19">
            <a:extLst>
              <a:ext uri="{FF2B5EF4-FFF2-40B4-BE49-F238E27FC236}">
                <a16:creationId xmlns:a16="http://schemas.microsoft.com/office/drawing/2014/main" id="{E3A55DED-A757-4FFC-884E-A7D3F806CCFF}"/>
              </a:ext>
            </a:extLst>
          </p:cNvPr>
          <p:cNvSpPr>
            <a:spLocks noGrp="1"/>
          </p:cNvSpPr>
          <p:nvPr/>
        </p:nvSpPr>
        <p:spPr>
          <a:xfrm>
            <a:off x="6382512" y="2468880"/>
            <a:ext cx="411480" cy="411480"/>
          </a:xfrm>
          <a:prstGeom prst="ellipse">
            <a:avLst/>
          </a:prstGeom>
          <a:solidFill>
            <a:srgbClr val="EFF0FF"/>
          </a:solidFill>
          <a:ln w="12700">
            <a:solidFill>
              <a:srgbClr val="EFF0FF"/>
            </a:solidFill>
            <a:prstDash val="solid"/>
          </a:ln>
        </p:spPr>
        <p:txBody>
          <a:bodyPr/>
          <a:lstStyle/>
          <a:p>
            <a:endParaRPr/>
          </a:p>
        </p:txBody>
      </p:sp>
      <p:sp>
        <p:nvSpPr>
          <p:cNvPr id="22" name="Text 20">
            <a:extLst>
              <a:ext uri="{FF2B5EF4-FFF2-40B4-BE49-F238E27FC236}">
                <a16:creationId xmlns:a16="http://schemas.microsoft.com/office/drawing/2014/main" id="{0892DC53-5AD4-42D9-803B-4776FC3FE0CD}"/>
              </a:ext>
            </a:extLst>
          </p:cNvPr>
          <p:cNvSpPr>
            <a:spLocks noGrp="1"/>
          </p:cNvSpPr>
          <p:nvPr/>
        </p:nvSpPr>
        <p:spPr>
          <a:xfrm>
            <a:off x="6382512" y="2560320"/>
            <a:ext cx="411480" cy="146304"/>
          </a:xfrm>
          <a:prstGeom prst="rect">
            <a:avLst/>
          </a:prstGeom>
          <a:noFill/>
        </p:spPr>
        <p:txBody>
          <a:bodyPr wrap="square" lIns="0" tIns="0" rIns="0" bIns="0" anchor="ctr"/>
          <a:lstStyle/>
          <a:p>
            <a:pPr marL="0" indent="0" algn="ctr">
              <a:buNone/>
            </a:pPr>
            <a:r>
              <a:rPr sz="1200" b="1">
                <a:solidFill>
                  <a:srgbClr val="5253D7"/>
                </a:solidFill>
                <a:latin typeface="Inter"/>
                <a:ea typeface="Inter"/>
                <a:cs typeface="Inter"/>
              </a:rPr>
              <a:t>03</a:t>
            </a:r>
            <a:endParaRPr sz="1200"/>
          </a:p>
        </p:txBody>
      </p:sp>
      <p:sp>
        <p:nvSpPr>
          <p:cNvPr id="23" name="Text 21">
            <a:extLst>
              <a:ext uri="{FF2B5EF4-FFF2-40B4-BE49-F238E27FC236}">
                <a16:creationId xmlns:a16="http://schemas.microsoft.com/office/drawing/2014/main" id="{566D24B3-B768-4188-9DB6-868FC4CABCDC}"/>
              </a:ext>
            </a:extLst>
          </p:cNvPr>
          <p:cNvSpPr>
            <a:spLocks noGrp="1"/>
          </p:cNvSpPr>
          <p:nvPr/>
        </p:nvSpPr>
        <p:spPr>
          <a:xfrm>
            <a:off x="6382512" y="3063240"/>
            <a:ext cx="2194560" cy="393192"/>
          </a:xfrm>
          <a:prstGeom prst="rect">
            <a:avLst/>
          </a:prstGeom>
          <a:noFill/>
        </p:spPr>
        <p:txBody>
          <a:bodyPr wrap="square" lIns="0" tIns="0" rIns="0" bIns="0" anchor="t"/>
          <a:lstStyle/>
          <a:p>
            <a:pPr marL="0" indent="0" algn="l">
              <a:buNone/>
            </a:pPr>
            <a:r>
              <a:rPr sz="1740" b="1">
                <a:solidFill>
                  <a:srgbClr val="172033"/>
                </a:solidFill>
                <a:latin typeface="Inter"/>
                <a:ea typeface="Inter"/>
                <a:cs typeface="Inter"/>
              </a:rPr>
              <a:t>Iterative critique</a:t>
            </a:r>
            <a:endParaRPr sz="1740"/>
          </a:p>
        </p:txBody>
      </p:sp>
      <p:sp>
        <p:nvSpPr>
          <p:cNvPr id="24" name="Text 22">
            <a:extLst>
              <a:ext uri="{FF2B5EF4-FFF2-40B4-BE49-F238E27FC236}">
                <a16:creationId xmlns:a16="http://schemas.microsoft.com/office/drawing/2014/main" id="{445C8F54-9B97-4C04-8317-63C52DC61BAE}"/>
              </a:ext>
            </a:extLst>
          </p:cNvPr>
          <p:cNvSpPr>
            <a:spLocks noGrp="1"/>
          </p:cNvSpPr>
          <p:nvPr/>
        </p:nvSpPr>
        <p:spPr>
          <a:xfrm>
            <a:off x="6382512" y="3621024"/>
            <a:ext cx="2194560" cy="1033272"/>
          </a:xfrm>
          <a:prstGeom prst="rect">
            <a:avLst/>
          </a:prstGeom>
          <a:noFill/>
        </p:spPr>
        <p:txBody>
          <a:bodyPr wrap="square" lIns="0" tIns="0" rIns="0" bIns="0" anchor="t"/>
          <a:lstStyle/>
          <a:p>
            <a:pPr marL="0" indent="0" algn="l">
              <a:buNone/>
            </a:pPr>
            <a:r>
              <a:rPr sz="1400">
                <a:solidFill>
                  <a:srgbClr val="667085"/>
                </a:solidFill>
                <a:latin typeface="Inter"/>
                <a:ea typeface="Inter"/>
                <a:cs typeface="Inter"/>
              </a:rPr>
              <a:t>We asked WorkBuddy to challenge assumptions, clarify the access boundary and expose failure modes.</a:t>
            </a:r>
            <a:endParaRPr sz="1400"/>
          </a:p>
        </p:txBody>
      </p:sp>
      <p:sp>
        <p:nvSpPr>
          <p:cNvPr id="25" name="Shape 23">
            <a:extLst>
              <a:ext uri="{FF2B5EF4-FFF2-40B4-BE49-F238E27FC236}">
                <a16:creationId xmlns:a16="http://schemas.microsoft.com/office/drawing/2014/main" id="{217F0297-898C-4D2C-B273-2135109545FF}"/>
              </a:ext>
            </a:extLst>
          </p:cNvPr>
          <p:cNvSpPr>
            <a:spLocks noGrp="1"/>
          </p:cNvSpPr>
          <p:nvPr/>
        </p:nvSpPr>
        <p:spPr>
          <a:xfrm>
            <a:off x="8951976" y="2231136"/>
            <a:ext cx="2596896" cy="2697480"/>
          </a:xfrm>
          <a:prstGeom prst="roundRect">
            <a:avLst>
              <a:gd name="adj" fmla="val 6338"/>
            </a:avLst>
          </a:prstGeom>
          <a:solidFill>
            <a:srgbClr val="FFFFFF"/>
          </a:solidFill>
          <a:ln w="10160">
            <a:solidFill>
              <a:srgbClr val="E5EAF2"/>
            </a:solidFill>
            <a:prstDash val="solid"/>
          </a:ln>
        </p:spPr>
        <p:txBody>
          <a:bodyPr/>
          <a:lstStyle/>
          <a:p>
            <a:endParaRPr/>
          </a:p>
        </p:txBody>
      </p:sp>
      <p:sp>
        <p:nvSpPr>
          <p:cNvPr id="26" name="Shape 24">
            <a:extLst>
              <a:ext uri="{FF2B5EF4-FFF2-40B4-BE49-F238E27FC236}">
                <a16:creationId xmlns:a16="http://schemas.microsoft.com/office/drawing/2014/main" id="{424F1EAF-D5B9-4287-B960-D6AAAD86C16C}"/>
              </a:ext>
            </a:extLst>
          </p:cNvPr>
          <p:cNvSpPr>
            <a:spLocks noGrp="1"/>
          </p:cNvSpPr>
          <p:nvPr/>
        </p:nvSpPr>
        <p:spPr>
          <a:xfrm>
            <a:off x="9153144" y="2468880"/>
            <a:ext cx="411480" cy="411480"/>
          </a:xfrm>
          <a:prstGeom prst="ellipse">
            <a:avLst/>
          </a:prstGeom>
          <a:solidFill>
            <a:srgbClr val="ECF9F5"/>
          </a:solidFill>
          <a:ln w="12700">
            <a:solidFill>
              <a:srgbClr val="ECF9F5"/>
            </a:solidFill>
            <a:prstDash val="solid"/>
          </a:ln>
        </p:spPr>
        <p:txBody>
          <a:bodyPr/>
          <a:lstStyle/>
          <a:p>
            <a:endParaRPr/>
          </a:p>
        </p:txBody>
      </p:sp>
      <p:sp>
        <p:nvSpPr>
          <p:cNvPr id="27" name="Text 25">
            <a:extLst>
              <a:ext uri="{FF2B5EF4-FFF2-40B4-BE49-F238E27FC236}">
                <a16:creationId xmlns:a16="http://schemas.microsoft.com/office/drawing/2014/main" id="{3D265603-5D82-42AB-AF76-B02FCE770BD4}"/>
              </a:ext>
            </a:extLst>
          </p:cNvPr>
          <p:cNvSpPr>
            <a:spLocks noGrp="1"/>
          </p:cNvSpPr>
          <p:nvPr/>
        </p:nvSpPr>
        <p:spPr>
          <a:xfrm>
            <a:off x="9153144" y="2560320"/>
            <a:ext cx="411480" cy="146304"/>
          </a:xfrm>
          <a:prstGeom prst="rect">
            <a:avLst/>
          </a:prstGeom>
          <a:noFill/>
        </p:spPr>
        <p:txBody>
          <a:bodyPr wrap="square" lIns="0" tIns="0" rIns="0" bIns="0" anchor="ctr"/>
          <a:lstStyle/>
          <a:p>
            <a:pPr marL="0" indent="0" algn="ctr">
              <a:buNone/>
            </a:pPr>
            <a:r>
              <a:rPr sz="1200" b="1">
                <a:solidFill>
                  <a:srgbClr val="0B927D"/>
                </a:solidFill>
                <a:latin typeface="Inter"/>
                <a:ea typeface="Inter"/>
                <a:cs typeface="Inter"/>
              </a:rPr>
              <a:t>04</a:t>
            </a:r>
            <a:endParaRPr sz="1200"/>
          </a:p>
        </p:txBody>
      </p:sp>
      <p:sp>
        <p:nvSpPr>
          <p:cNvPr id="28" name="Text 26">
            <a:extLst>
              <a:ext uri="{FF2B5EF4-FFF2-40B4-BE49-F238E27FC236}">
                <a16:creationId xmlns:a16="http://schemas.microsoft.com/office/drawing/2014/main" id="{7C148B84-10CC-43B1-A695-C96083EF1C39}"/>
              </a:ext>
            </a:extLst>
          </p:cNvPr>
          <p:cNvSpPr>
            <a:spLocks noGrp="1"/>
          </p:cNvSpPr>
          <p:nvPr/>
        </p:nvSpPr>
        <p:spPr>
          <a:xfrm>
            <a:off x="9153144" y="3063240"/>
            <a:ext cx="2194560" cy="393192"/>
          </a:xfrm>
          <a:prstGeom prst="rect">
            <a:avLst/>
          </a:prstGeom>
          <a:noFill/>
        </p:spPr>
        <p:txBody>
          <a:bodyPr wrap="square" lIns="0" tIns="0" rIns="0" bIns="0" anchor="t"/>
          <a:lstStyle/>
          <a:p>
            <a:pPr marL="0" indent="0" algn="l">
              <a:buNone/>
            </a:pPr>
            <a:r>
              <a:rPr sz="1740" b="1">
                <a:solidFill>
                  <a:srgbClr val="172033"/>
                </a:solidFill>
                <a:latin typeface="Inter"/>
                <a:ea typeface="Inter"/>
                <a:cs typeface="Inter"/>
              </a:rPr>
              <a:t>Testable plan</a:t>
            </a:r>
            <a:endParaRPr sz="1740"/>
          </a:p>
        </p:txBody>
      </p:sp>
      <p:sp>
        <p:nvSpPr>
          <p:cNvPr id="29" name="Text 27">
            <a:extLst>
              <a:ext uri="{FF2B5EF4-FFF2-40B4-BE49-F238E27FC236}">
                <a16:creationId xmlns:a16="http://schemas.microsoft.com/office/drawing/2014/main" id="{F27894FE-DC95-4C81-A52F-FD569D324A2F}"/>
              </a:ext>
            </a:extLst>
          </p:cNvPr>
          <p:cNvSpPr>
            <a:spLocks noGrp="1"/>
          </p:cNvSpPr>
          <p:nvPr/>
        </p:nvSpPr>
        <p:spPr>
          <a:xfrm>
            <a:off x="9153144" y="3621024"/>
            <a:ext cx="2194560" cy="1033272"/>
          </a:xfrm>
          <a:prstGeom prst="rect">
            <a:avLst/>
          </a:prstGeom>
          <a:noFill/>
        </p:spPr>
        <p:txBody>
          <a:bodyPr wrap="square" lIns="0" tIns="0" rIns="0" bIns="0" anchor="t"/>
          <a:lstStyle/>
          <a:p>
            <a:pPr marL="0" indent="0" algn="l">
              <a:buNone/>
            </a:pPr>
            <a:r>
              <a:rPr sz="1400">
                <a:solidFill>
                  <a:srgbClr val="667085"/>
                </a:solidFill>
                <a:latin typeface="Inter"/>
                <a:ea typeface="Inter"/>
                <a:cs typeface="Inter"/>
              </a:rPr>
              <a:t>We refined the work into cross-source retrieval, denial, revocation, freshness and audit scenarios.</a:t>
            </a:r>
            <a:endParaRPr sz="1400"/>
          </a:p>
        </p:txBody>
      </p:sp>
      <p:sp>
        <p:nvSpPr>
          <p:cNvPr id="30" name="Shape 28">
            <a:extLst>
              <a:ext uri="{FF2B5EF4-FFF2-40B4-BE49-F238E27FC236}">
                <a16:creationId xmlns:a16="http://schemas.microsoft.com/office/drawing/2014/main" id="{8FAB31E5-4E58-4B7C-BC92-2F3CEB08C23B}"/>
              </a:ext>
            </a:extLst>
          </p:cNvPr>
          <p:cNvSpPr>
            <a:spLocks noGrp="1"/>
          </p:cNvSpPr>
          <p:nvPr/>
        </p:nvSpPr>
        <p:spPr>
          <a:xfrm>
            <a:off x="640080" y="5285232"/>
            <a:ext cx="10908792" cy="832104"/>
          </a:xfrm>
          <a:prstGeom prst="roundRect">
            <a:avLst>
              <a:gd name="adj" fmla="val 19780"/>
            </a:avLst>
          </a:prstGeom>
          <a:solidFill>
            <a:srgbClr val="EFF0FF"/>
          </a:solidFill>
          <a:ln w="10160">
            <a:solidFill>
              <a:srgbClr val="E1E5FA"/>
            </a:solidFill>
            <a:prstDash val="solid"/>
          </a:ln>
        </p:spPr>
        <p:txBody>
          <a:bodyPr/>
          <a:lstStyle/>
          <a:p>
            <a:endParaRPr/>
          </a:p>
        </p:txBody>
      </p:sp>
      <p:sp>
        <p:nvSpPr>
          <p:cNvPr id="31" name="Text 29">
            <a:extLst>
              <a:ext uri="{FF2B5EF4-FFF2-40B4-BE49-F238E27FC236}">
                <a16:creationId xmlns:a16="http://schemas.microsoft.com/office/drawing/2014/main" id="{7B8B933D-5710-419B-A15C-04EE36E8782B}"/>
              </a:ext>
            </a:extLst>
          </p:cNvPr>
          <p:cNvSpPr>
            <a:spLocks noGrp="1"/>
          </p:cNvSpPr>
          <p:nvPr/>
        </p:nvSpPr>
        <p:spPr>
          <a:xfrm>
            <a:off x="868680" y="5458968"/>
            <a:ext cx="9144000" cy="237744"/>
          </a:xfrm>
          <a:prstGeom prst="rect">
            <a:avLst/>
          </a:prstGeom>
          <a:noFill/>
        </p:spPr>
        <p:txBody>
          <a:bodyPr wrap="square" lIns="0" tIns="0" rIns="0" bIns="0" anchor="ctr"/>
          <a:lstStyle/>
          <a:p>
            <a:pPr marL="0" indent="0" algn="l">
              <a:buNone/>
            </a:pPr>
            <a:r>
              <a:rPr sz="1010" b="1" spc="120">
                <a:solidFill>
                  <a:srgbClr val="5253D7"/>
                </a:solidFill>
                <a:latin typeface="Inter"/>
                <a:ea typeface="Inter"/>
                <a:cs typeface="Inter"/>
              </a:rPr>
              <a:t>THE OUTCOME · FROM AI SEARCH TO TRUSTWORTHY RETRIEVAL</a:t>
            </a:r>
            <a:endParaRPr sz="1010"/>
          </a:p>
        </p:txBody>
      </p:sp>
      <p:sp>
        <p:nvSpPr>
          <p:cNvPr id="32" name="Text 30">
            <a:extLst>
              <a:ext uri="{FF2B5EF4-FFF2-40B4-BE49-F238E27FC236}">
                <a16:creationId xmlns:a16="http://schemas.microsoft.com/office/drawing/2014/main" id="{F6ACB8EF-F213-44F7-8699-33AF1FDF147B}"/>
              </a:ext>
            </a:extLst>
          </p:cNvPr>
          <p:cNvSpPr>
            <a:spLocks noGrp="1"/>
          </p:cNvSpPr>
          <p:nvPr/>
        </p:nvSpPr>
        <p:spPr>
          <a:xfrm>
            <a:off x="868680" y="5760720"/>
            <a:ext cx="10241280" cy="228600"/>
          </a:xfrm>
          <a:prstGeom prst="rect">
            <a:avLst/>
          </a:prstGeom>
          <a:noFill/>
        </p:spPr>
        <p:txBody>
          <a:bodyPr wrap="square" lIns="0" tIns="0" rIns="0" bIns="0" anchor="ctr"/>
          <a:lstStyle/>
          <a:p>
            <a:pPr marL="0" indent="0" algn="l">
              <a:buNone/>
            </a:pPr>
            <a:r>
              <a:rPr sz="1600" b="1">
                <a:solidFill>
                  <a:srgbClr val="172033"/>
                </a:solidFill>
                <a:latin typeface="Inter"/>
                <a:ea typeface="Inter"/>
                <a:cs typeface="Inter"/>
              </a:rPr>
              <a:t>Every answer must remain inside the asking user’s permission boundary.</a:t>
            </a:r>
            <a:endParaRPr sz="1600"/>
          </a:p>
        </p:txBody>
      </p:sp>
    </p:spTree>
    <p:extLst>
      <p:ext uri="{BB962C8B-B14F-4D97-AF65-F5344CB8AC3E}">
        <p14:creationId xmlns:p14="http://schemas.microsoft.com/office/powerpoint/2010/main" val="13192668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6BD378-D1A6-4C56-9DDE-329F0E8D8451}"/>
              </a:ext>
            </a:extLst>
          </p:cNvPr>
          <p:cNvSpPr>
            <a:spLocks noGrp="1"/>
          </p:cNvSpPr>
          <p:nvPr/>
        </p:nvSpPr>
        <p:spPr>
          <a:xfrm>
            <a:off x="0" y="0"/>
            <a:ext cx="12192000" cy="50292"/>
          </a:xfrm>
          <a:prstGeom prst="rect">
            <a:avLst/>
          </a:prstGeom>
          <a:solidFill>
            <a:srgbClr val="5253D7"/>
          </a:solidFill>
          <a:ln w="12700">
            <a:solidFill>
              <a:srgbClr val="5253D7"/>
            </a:solidFill>
            <a:prstDash val="solid"/>
          </a:ln>
        </p:spPr>
        <p:txBody>
          <a:bodyPr/>
          <a:lstStyle/>
          <a:p>
            <a:endParaRPr/>
          </a:p>
        </p:txBody>
      </p:sp>
      <p:sp>
        <p:nvSpPr>
          <p:cNvPr id="3" name="Text 1">
            <a:extLst>
              <a:ext uri="{FF2B5EF4-FFF2-40B4-BE49-F238E27FC236}">
                <a16:creationId xmlns:a16="http://schemas.microsoft.com/office/drawing/2014/main" id="{560EC4CF-67D0-4432-9F91-31EA48866309}"/>
              </a:ext>
            </a:extLst>
          </p:cNvPr>
          <p:cNvSpPr>
            <a:spLocks noGrp="1"/>
          </p:cNvSpPr>
          <p:nvPr/>
        </p:nvSpPr>
        <p:spPr>
          <a:xfrm>
            <a:off x="640080" y="393192"/>
            <a:ext cx="9144000" cy="237744"/>
          </a:xfrm>
          <a:prstGeom prst="rect">
            <a:avLst/>
          </a:prstGeom>
          <a:noFill/>
        </p:spPr>
        <p:txBody>
          <a:bodyPr wrap="square" lIns="0" tIns="0" rIns="0" bIns="0" anchor="ctr"/>
          <a:lstStyle/>
          <a:p>
            <a:pPr marL="0" indent="0" algn="l">
              <a:buNone/>
            </a:pPr>
            <a:r>
              <a:rPr sz="1010" b="1" spc="120">
                <a:solidFill>
                  <a:srgbClr val="5253D7"/>
                </a:solidFill>
                <a:latin typeface="Inter"/>
                <a:ea typeface="Inter"/>
                <a:cs typeface="Inter"/>
              </a:rPr>
              <a:t>AGENT WORKFLOW</a:t>
            </a:r>
            <a:endParaRPr sz="1010"/>
          </a:p>
        </p:txBody>
      </p:sp>
      <p:sp>
        <p:nvSpPr>
          <p:cNvPr id="4" name="Text 2">
            <a:extLst>
              <a:ext uri="{FF2B5EF4-FFF2-40B4-BE49-F238E27FC236}">
                <a16:creationId xmlns:a16="http://schemas.microsoft.com/office/drawing/2014/main" id="{32A1BCC8-5642-46ED-B172-5ACCA29B4DCF}"/>
              </a:ext>
            </a:extLst>
          </p:cNvPr>
          <p:cNvSpPr>
            <a:spLocks noGrp="1"/>
          </p:cNvSpPr>
          <p:nvPr/>
        </p:nvSpPr>
        <p:spPr>
          <a:xfrm>
            <a:off x="640080" y="740664"/>
            <a:ext cx="10954512" cy="512064"/>
          </a:xfrm>
          <a:prstGeom prst="rect">
            <a:avLst/>
          </a:prstGeom>
          <a:noFill/>
        </p:spPr>
        <p:txBody>
          <a:bodyPr wrap="square" lIns="0" tIns="0" rIns="0" bIns="0" anchor="ctr"/>
          <a:lstStyle/>
          <a:p>
            <a:pPr marL="0" indent="0" algn="l">
              <a:buNone/>
            </a:pPr>
            <a:r>
              <a:rPr sz="2950" b="1">
                <a:solidFill>
                  <a:srgbClr val="172033"/>
                </a:solidFill>
                <a:latin typeface="Inter"/>
                <a:ea typeface="Inter"/>
                <a:cs typeface="Inter"/>
              </a:rPr>
              <a:t>CodeBuddy in the build loop</a:t>
            </a:r>
            <a:endParaRPr sz="2950"/>
          </a:p>
        </p:txBody>
      </p:sp>
      <p:sp>
        <p:nvSpPr>
          <p:cNvPr id="5" name="Text 3">
            <a:extLst>
              <a:ext uri="{FF2B5EF4-FFF2-40B4-BE49-F238E27FC236}">
                <a16:creationId xmlns:a16="http://schemas.microsoft.com/office/drawing/2014/main" id="{A177D78B-32F0-4EEA-BD7C-1848E2B75FD4}"/>
              </a:ext>
            </a:extLst>
          </p:cNvPr>
          <p:cNvSpPr>
            <a:spLocks noGrp="1"/>
          </p:cNvSpPr>
          <p:nvPr/>
        </p:nvSpPr>
        <p:spPr>
          <a:xfrm>
            <a:off x="640080" y="1399032"/>
            <a:ext cx="10844784" cy="329184"/>
          </a:xfrm>
          <a:prstGeom prst="rect">
            <a:avLst/>
          </a:prstGeom>
          <a:noFill/>
        </p:spPr>
        <p:txBody>
          <a:bodyPr wrap="square" lIns="0" tIns="0" rIns="0" bIns="0" anchor="ctr"/>
          <a:lstStyle/>
          <a:p>
            <a:pPr marL="0" indent="0" algn="l">
              <a:buNone/>
            </a:pPr>
            <a:r>
              <a:rPr sz="1410">
                <a:solidFill>
                  <a:srgbClr val="667085"/>
                </a:solidFill>
                <a:latin typeface="Inter"/>
                <a:ea typeface="Inter"/>
                <a:cs typeface="Inter"/>
              </a:rPr>
              <a:t>CodeBuddy supported a disciplined engineering rhythm from specification to demo.</a:t>
            </a:r>
            <a:endParaRPr sz="1410"/>
          </a:p>
        </p:txBody>
      </p:sp>
      <p:sp>
        <p:nvSpPr>
          <p:cNvPr id="6" name="Shape 4">
            <a:extLst>
              <a:ext uri="{FF2B5EF4-FFF2-40B4-BE49-F238E27FC236}">
                <a16:creationId xmlns:a16="http://schemas.microsoft.com/office/drawing/2014/main" id="{501424BC-FCD3-40DC-9F6E-D283E3D226FD}"/>
              </a:ext>
            </a:extLst>
          </p:cNvPr>
          <p:cNvSpPr>
            <a:spLocks noGrp="1"/>
          </p:cNvSpPr>
          <p:nvPr/>
        </p:nvSpPr>
        <p:spPr>
          <a:xfrm>
            <a:off x="640080" y="6437376"/>
            <a:ext cx="10908792" cy="0"/>
          </a:xfrm>
          <a:prstGeom prst="line">
            <a:avLst/>
          </a:prstGeom>
          <a:noFill/>
          <a:ln w="10160">
            <a:solidFill>
              <a:srgbClr val="E5EAF2"/>
            </a:solidFill>
            <a:prstDash val="solid"/>
          </a:ln>
        </p:spPr>
        <p:txBody>
          <a:bodyPr/>
          <a:lstStyle/>
          <a:p>
            <a:endParaRPr/>
          </a:p>
        </p:txBody>
      </p:sp>
      <p:sp>
        <p:nvSpPr>
          <p:cNvPr id="7" name="Text 5">
            <a:extLst>
              <a:ext uri="{FF2B5EF4-FFF2-40B4-BE49-F238E27FC236}">
                <a16:creationId xmlns:a16="http://schemas.microsoft.com/office/drawing/2014/main" id="{6072C4A3-B434-4813-8DB3-CB4749815CFF}"/>
              </a:ext>
            </a:extLst>
          </p:cNvPr>
          <p:cNvSpPr>
            <a:spLocks noGrp="1"/>
          </p:cNvSpPr>
          <p:nvPr/>
        </p:nvSpPr>
        <p:spPr>
          <a:xfrm>
            <a:off x="640080" y="6528816"/>
            <a:ext cx="585216" cy="155448"/>
          </a:xfrm>
          <a:prstGeom prst="rect">
            <a:avLst/>
          </a:prstGeom>
          <a:noFill/>
        </p:spPr>
        <p:txBody>
          <a:bodyPr wrap="square" lIns="0" tIns="0" rIns="0" bIns="0" anchor="ctr"/>
          <a:lstStyle/>
          <a:p>
            <a:pPr marL="0" indent="0" algn="l">
              <a:buNone/>
            </a:pPr>
            <a:r>
              <a:rPr sz="1040" b="1">
                <a:solidFill>
                  <a:srgbClr val="172033"/>
                </a:solidFill>
                <a:latin typeface="Inter"/>
                <a:ea typeface="Inter"/>
                <a:cs typeface="Inter"/>
              </a:rPr>
              <a:t>relay</a:t>
            </a:r>
            <a:endParaRPr sz="1040"/>
          </a:p>
        </p:txBody>
      </p:sp>
      <p:sp>
        <p:nvSpPr>
          <p:cNvPr id="8" name="Text 6">
            <a:extLst>
              <a:ext uri="{FF2B5EF4-FFF2-40B4-BE49-F238E27FC236}">
                <a16:creationId xmlns:a16="http://schemas.microsoft.com/office/drawing/2014/main" id="{04669BE8-A8C3-4560-BB3C-9FB9D9AF07B5}"/>
              </a:ext>
            </a:extLst>
          </p:cNvPr>
          <p:cNvSpPr>
            <a:spLocks noGrp="1"/>
          </p:cNvSpPr>
          <p:nvPr/>
        </p:nvSpPr>
        <p:spPr>
          <a:xfrm>
            <a:off x="1307592" y="6528816"/>
            <a:ext cx="2743200" cy="155448"/>
          </a:xfrm>
          <a:prstGeom prst="rect">
            <a:avLst/>
          </a:prstGeom>
          <a:noFill/>
        </p:spPr>
        <p:txBody>
          <a:bodyPr wrap="square" lIns="0" tIns="0" rIns="0" bIns="0" anchor="ctr"/>
          <a:lstStyle/>
          <a:p>
            <a:pPr marL="0" indent="0" algn="l">
              <a:buNone/>
            </a:pPr>
            <a:r>
              <a:rPr sz="970">
                <a:solidFill>
                  <a:srgbClr val="94A3B8"/>
                </a:solidFill>
                <a:latin typeface="Inter"/>
                <a:ea typeface="Inter"/>
                <a:cs typeface="Inter"/>
              </a:rPr>
              <a:t>/ Tencent Hackathon demo</a:t>
            </a:r>
            <a:endParaRPr sz="970"/>
          </a:p>
        </p:txBody>
      </p:sp>
      <p:sp>
        <p:nvSpPr>
          <p:cNvPr id="9" name="Text 7">
            <a:extLst>
              <a:ext uri="{FF2B5EF4-FFF2-40B4-BE49-F238E27FC236}">
                <a16:creationId xmlns:a16="http://schemas.microsoft.com/office/drawing/2014/main" id="{67A79A7F-49D3-440D-B881-58CB74FAF88F}"/>
              </a:ext>
            </a:extLst>
          </p:cNvPr>
          <p:cNvSpPr>
            <a:spLocks noGrp="1"/>
          </p:cNvSpPr>
          <p:nvPr/>
        </p:nvSpPr>
        <p:spPr>
          <a:xfrm>
            <a:off x="11036808" y="6519672"/>
            <a:ext cx="502920" cy="164592"/>
          </a:xfrm>
          <a:prstGeom prst="rect">
            <a:avLst/>
          </a:prstGeom>
          <a:noFill/>
        </p:spPr>
        <p:txBody>
          <a:bodyPr wrap="square" lIns="0" tIns="0" rIns="0" bIns="0" anchor="ctr"/>
          <a:lstStyle/>
          <a:p>
            <a:pPr marL="0" indent="0" algn="r">
              <a:buNone/>
            </a:pPr>
            <a:r>
              <a:rPr sz="1000" b="1">
                <a:solidFill>
                  <a:srgbClr val="94A3B8"/>
                </a:solidFill>
                <a:latin typeface="Inter"/>
                <a:ea typeface="Inter"/>
                <a:cs typeface="Inter"/>
              </a:rPr>
              <a:t>07</a:t>
            </a:r>
            <a:endParaRPr sz="1000"/>
          </a:p>
        </p:txBody>
      </p:sp>
      <p:sp>
        <p:nvSpPr>
          <p:cNvPr id="10" name="Text 8">
            <a:extLst>
              <a:ext uri="{FF2B5EF4-FFF2-40B4-BE49-F238E27FC236}">
                <a16:creationId xmlns:a16="http://schemas.microsoft.com/office/drawing/2014/main" id="{46E3CD4B-9A59-4AB7-BAE2-DE97AE5C4FAE}"/>
              </a:ext>
            </a:extLst>
          </p:cNvPr>
          <p:cNvSpPr>
            <a:spLocks noGrp="1"/>
          </p:cNvSpPr>
          <p:nvPr/>
        </p:nvSpPr>
        <p:spPr>
          <a:xfrm>
            <a:off x="667512" y="1984248"/>
            <a:ext cx="9144000" cy="237744"/>
          </a:xfrm>
          <a:prstGeom prst="rect">
            <a:avLst/>
          </a:prstGeom>
          <a:noFill/>
        </p:spPr>
        <p:txBody>
          <a:bodyPr wrap="square" lIns="0" tIns="0" rIns="0" bIns="0" anchor="ctr"/>
          <a:lstStyle/>
          <a:p>
            <a:pPr marL="0" indent="0" algn="l">
              <a:buNone/>
            </a:pPr>
            <a:r>
              <a:rPr sz="1010" b="1" spc="120">
                <a:solidFill>
                  <a:srgbClr val="5253D7"/>
                </a:solidFill>
                <a:latin typeface="Inter"/>
                <a:ea typeface="Inter"/>
                <a:cs typeface="Inter"/>
              </a:rPr>
              <a:t>FROM SPECIFICATION TO WORKING DEMO</a:t>
            </a:r>
            <a:endParaRPr sz="1010"/>
          </a:p>
        </p:txBody>
      </p:sp>
      <p:sp>
        <p:nvSpPr>
          <p:cNvPr id="11" name="Shape 9">
            <a:extLst>
              <a:ext uri="{FF2B5EF4-FFF2-40B4-BE49-F238E27FC236}">
                <a16:creationId xmlns:a16="http://schemas.microsoft.com/office/drawing/2014/main" id="{CFCD7EB5-4FE0-451C-B5DC-A69F771ED5A5}"/>
              </a:ext>
            </a:extLst>
          </p:cNvPr>
          <p:cNvSpPr>
            <a:spLocks noGrp="1"/>
          </p:cNvSpPr>
          <p:nvPr/>
        </p:nvSpPr>
        <p:spPr>
          <a:xfrm>
            <a:off x="640080" y="2395728"/>
            <a:ext cx="8439912" cy="749808"/>
          </a:xfrm>
          <a:prstGeom prst="roundRect">
            <a:avLst>
              <a:gd name="adj" fmla="val 18293"/>
            </a:avLst>
          </a:prstGeom>
          <a:solidFill>
            <a:srgbClr val="FFFFFF"/>
          </a:solidFill>
          <a:ln w="10160">
            <a:solidFill>
              <a:srgbClr val="E5EAF2"/>
            </a:solidFill>
            <a:prstDash val="solid"/>
          </a:ln>
        </p:spPr>
        <p:txBody>
          <a:bodyPr/>
          <a:lstStyle/>
          <a:p>
            <a:endParaRPr/>
          </a:p>
        </p:txBody>
      </p:sp>
      <p:sp>
        <p:nvSpPr>
          <p:cNvPr id="12" name="Shape 10">
            <a:extLst>
              <a:ext uri="{FF2B5EF4-FFF2-40B4-BE49-F238E27FC236}">
                <a16:creationId xmlns:a16="http://schemas.microsoft.com/office/drawing/2014/main" id="{A8982A38-B22D-4274-AD50-839466CDAAA5}"/>
              </a:ext>
            </a:extLst>
          </p:cNvPr>
          <p:cNvSpPr>
            <a:spLocks noGrp="1"/>
          </p:cNvSpPr>
          <p:nvPr/>
        </p:nvSpPr>
        <p:spPr>
          <a:xfrm>
            <a:off x="850392" y="2606040"/>
            <a:ext cx="338328" cy="338328"/>
          </a:xfrm>
          <a:prstGeom prst="ellipse">
            <a:avLst/>
          </a:prstGeom>
          <a:solidFill>
            <a:srgbClr val="EFF0FF"/>
          </a:solidFill>
          <a:ln w="12700">
            <a:solidFill>
              <a:srgbClr val="EFF0FF"/>
            </a:solidFill>
            <a:prstDash val="solid"/>
          </a:ln>
        </p:spPr>
        <p:txBody>
          <a:bodyPr/>
          <a:lstStyle/>
          <a:p>
            <a:endParaRPr/>
          </a:p>
        </p:txBody>
      </p:sp>
      <p:sp>
        <p:nvSpPr>
          <p:cNvPr id="13" name="Text 11">
            <a:extLst>
              <a:ext uri="{FF2B5EF4-FFF2-40B4-BE49-F238E27FC236}">
                <a16:creationId xmlns:a16="http://schemas.microsoft.com/office/drawing/2014/main" id="{0B5B0C7C-F447-493D-A9B4-D41813279CB2}"/>
              </a:ext>
            </a:extLst>
          </p:cNvPr>
          <p:cNvSpPr>
            <a:spLocks noGrp="1"/>
          </p:cNvSpPr>
          <p:nvPr/>
        </p:nvSpPr>
        <p:spPr>
          <a:xfrm>
            <a:off x="850392" y="2706624"/>
            <a:ext cx="338328" cy="137160"/>
          </a:xfrm>
          <a:prstGeom prst="rect">
            <a:avLst/>
          </a:prstGeom>
          <a:noFill/>
        </p:spPr>
        <p:txBody>
          <a:bodyPr wrap="square" lIns="0" tIns="0" rIns="0" bIns="0" anchor="ctr"/>
          <a:lstStyle/>
          <a:p>
            <a:pPr marL="0" indent="0" algn="ctr">
              <a:buNone/>
            </a:pPr>
            <a:r>
              <a:rPr sz="1060" b="1">
                <a:solidFill>
                  <a:srgbClr val="5253D7"/>
                </a:solidFill>
                <a:latin typeface="Inter"/>
                <a:ea typeface="Inter"/>
                <a:cs typeface="Inter"/>
              </a:rPr>
              <a:t>01</a:t>
            </a:r>
            <a:endParaRPr sz="1060"/>
          </a:p>
        </p:txBody>
      </p:sp>
      <p:sp>
        <p:nvSpPr>
          <p:cNvPr id="14" name="Text 12">
            <a:extLst>
              <a:ext uri="{FF2B5EF4-FFF2-40B4-BE49-F238E27FC236}">
                <a16:creationId xmlns:a16="http://schemas.microsoft.com/office/drawing/2014/main" id="{FC123D98-5D16-42F6-A601-144DD5EF1196}"/>
              </a:ext>
            </a:extLst>
          </p:cNvPr>
          <p:cNvSpPr>
            <a:spLocks noGrp="1"/>
          </p:cNvSpPr>
          <p:nvPr/>
        </p:nvSpPr>
        <p:spPr>
          <a:xfrm>
            <a:off x="1371600" y="2578608"/>
            <a:ext cx="2212848" cy="384048"/>
          </a:xfrm>
          <a:prstGeom prst="rect">
            <a:avLst/>
          </a:prstGeom>
          <a:noFill/>
        </p:spPr>
        <p:txBody>
          <a:bodyPr wrap="square" lIns="0" tIns="0" rIns="0" bIns="0" anchor="ctr"/>
          <a:lstStyle/>
          <a:p>
            <a:pPr marL="0" indent="0" algn="l">
              <a:buNone/>
            </a:pPr>
            <a:r>
              <a:rPr sz="1500" b="1">
                <a:solidFill>
                  <a:srgbClr val="172033"/>
                </a:solidFill>
                <a:latin typeface="Inter"/>
                <a:ea typeface="Inter"/>
                <a:cs typeface="Inter"/>
              </a:rPr>
              <a:t>Read the specification</a:t>
            </a:r>
            <a:endParaRPr sz="1500"/>
          </a:p>
        </p:txBody>
      </p:sp>
      <p:sp>
        <p:nvSpPr>
          <p:cNvPr id="15" name="Shape 13">
            <a:extLst>
              <a:ext uri="{FF2B5EF4-FFF2-40B4-BE49-F238E27FC236}">
                <a16:creationId xmlns:a16="http://schemas.microsoft.com/office/drawing/2014/main" id="{D5E01035-28CA-4557-AFDE-188F24C21E2D}"/>
              </a:ext>
            </a:extLst>
          </p:cNvPr>
          <p:cNvSpPr>
            <a:spLocks noGrp="1"/>
          </p:cNvSpPr>
          <p:nvPr/>
        </p:nvSpPr>
        <p:spPr>
          <a:xfrm>
            <a:off x="3685032" y="2569464"/>
            <a:ext cx="16459" cy="393192"/>
          </a:xfrm>
          <a:prstGeom prst="rect">
            <a:avLst/>
          </a:prstGeom>
          <a:solidFill>
            <a:srgbClr val="E5EAF2"/>
          </a:solidFill>
          <a:ln w="12700">
            <a:solidFill>
              <a:srgbClr val="E5EAF2"/>
            </a:solidFill>
            <a:prstDash val="solid"/>
          </a:ln>
        </p:spPr>
        <p:txBody>
          <a:bodyPr/>
          <a:lstStyle/>
          <a:p>
            <a:endParaRPr/>
          </a:p>
        </p:txBody>
      </p:sp>
      <p:sp>
        <p:nvSpPr>
          <p:cNvPr id="16" name="Text 14">
            <a:extLst>
              <a:ext uri="{FF2B5EF4-FFF2-40B4-BE49-F238E27FC236}">
                <a16:creationId xmlns:a16="http://schemas.microsoft.com/office/drawing/2014/main" id="{0C4F79FA-66D5-4D9E-963D-39E467F73A75}"/>
              </a:ext>
            </a:extLst>
          </p:cNvPr>
          <p:cNvSpPr>
            <a:spLocks noGrp="1"/>
          </p:cNvSpPr>
          <p:nvPr/>
        </p:nvSpPr>
        <p:spPr>
          <a:xfrm>
            <a:off x="3877056" y="2532888"/>
            <a:ext cx="4965192" cy="475488"/>
          </a:xfrm>
          <a:prstGeom prst="rect">
            <a:avLst/>
          </a:prstGeom>
          <a:noFill/>
        </p:spPr>
        <p:txBody>
          <a:bodyPr wrap="square" lIns="0" tIns="0" rIns="0" bIns="0" anchor="ctr"/>
          <a:lstStyle/>
          <a:p>
            <a:pPr marL="0" indent="0" algn="l">
              <a:buNone/>
            </a:pPr>
            <a:r>
              <a:rPr sz="1350">
                <a:solidFill>
                  <a:srgbClr val="667085"/>
                </a:solidFill>
                <a:latin typeface="Inter"/>
                <a:ea typeface="Inter"/>
                <a:cs typeface="Inter"/>
              </a:rPr>
              <a:t>Mapped security requirements to frontend, API, worker and audit responsibilities.</a:t>
            </a:r>
            <a:endParaRPr sz="1350"/>
          </a:p>
        </p:txBody>
      </p:sp>
      <p:sp>
        <p:nvSpPr>
          <p:cNvPr id="17" name="Shape 15">
            <a:extLst>
              <a:ext uri="{FF2B5EF4-FFF2-40B4-BE49-F238E27FC236}">
                <a16:creationId xmlns:a16="http://schemas.microsoft.com/office/drawing/2014/main" id="{FA83EA07-368C-4CE1-AAF0-887158317F1D}"/>
              </a:ext>
            </a:extLst>
          </p:cNvPr>
          <p:cNvSpPr>
            <a:spLocks noGrp="1"/>
          </p:cNvSpPr>
          <p:nvPr/>
        </p:nvSpPr>
        <p:spPr>
          <a:xfrm>
            <a:off x="640080" y="3255264"/>
            <a:ext cx="8439912" cy="749808"/>
          </a:xfrm>
          <a:prstGeom prst="roundRect">
            <a:avLst>
              <a:gd name="adj" fmla="val 18293"/>
            </a:avLst>
          </a:prstGeom>
          <a:solidFill>
            <a:srgbClr val="FFFFFF"/>
          </a:solidFill>
          <a:ln w="10160">
            <a:solidFill>
              <a:srgbClr val="E5EAF2"/>
            </a:solidFill>
            <a:prstDash val="solid"/>
          </a:ln>
        </p:spPr>
        <p:txBody>
          <a:bodyPr/>
          <a:lstStyle/>
          <a:p>
            <a:endParaRPr/>
          </a:p>
        </p:txBody>
      </p:sp>
      <p:sp>
        <p:nvSpPr>
          <p:cNvPr id="18" name="Shape 16">
            <a:extLst>
              <a:ext uri="{FF2B5EF4-FFF2-40B4-BE49-F238E27FC236}">
                <a16:creationId xmlns:a16="http://schemas.microsoft.com/office/drawing/2014/main" id="{2D68805B-ECFB-45C3-A646-F524D7DF4751}"/>
              </a:ext>
            </a:extLst>
          </p:cNvPr>
          <p:cNvSpPr>
            <a:spLocks noGrp="1"/>
          </p:cNvSpPr>
          <p:nvPr/>
        </p:nvSpPr>
        <p:spPr>
          <a:xfrm>
            <a:off x="850392" y="3465576"/>
            <a:ext cx="338328" cy="338328"/>
          </a:xfrm>
          <a:prstGeom prst="ellipse">
            <a:avLst/>
          </a:prstGeom>
          <a:solidFill>
            <a:srgbClr val="EFF0FF"/>
          </a:solidFill>
          <a:ln w="12700">
            <a:solidFill>
              <a:srgbClr val="EFF0FF"/>
            </a:solidFill>
            <a:prstDash val="solid"/>
          </a:ln>
        </p:spPr>
        <p:txBody>
          <a:bodyPr/>
          <a:lstStyle/>
          <a:p>
            <a:endParaRPr/>
          </a:p>
        </p:txBody>
      </p:sp>
      <p:sp>
        <p:nvSpPr>
          <p:cNvPr id="19" name="Text 17">
            <a:extLst>
              <a:ext uri="{FF2B5EF4-FFF2-40B4-BE49-F238E27FC236}">
                <a16:creationId xmlns:a16="http://schemas.microsoft.com/office/drawing/2014/main" id="{3295A723-4017-4CB9-AF92-2958509EB1CE}"/>
              </a:ext>
            </a:extLst>
          </p:cNvPr>
          <p:cNvSpPr>
            <a:spLocks noGrp="1"/>
          </p:cNvSpPr>
          <p:nvPr/>
        </p:nvSpPr>
        <p:spPr>
          <a:xfrm>
            <a:off x="850392" y="3566160"/>
            <a:ext cx="338328" cy="137160"/>
          </a:xfrm>
          <a:prstGeom prst="rect">
            <a:avLst/>
          </a:prstGeom>
          <a:noFill/>
        </p:spPr>
        <p:txBody>
          <a:bodyPr wrap="square" lIns="0" tIns="0" rIns="0" bIns="0" anchor="ctr"/>
          <a:lstStyle/>
          <a:p>
            <a:pPr marL="0" indent="0" algn="ctr">
              <a:buNone/>
            </a:pPr>
            <a:r>
              <a:rPr sz="1060" b="1">
                <a:solidFill>
                  <a:srgbClr val="5253D7"/>
                </a:solidFill>
                <a:latin typeface="Inter"/>
                <a:ea typeface="Inter"/>
                <a:cs typeface="Inter"/>
              </a:rPr>
              <a:t>02</a:t>
            </a:r>
            <a:endParaRPr sz="1060"/>
          </a:p>
        </p:txBody>
      </p:sp>
      <p:sp>
        <p:nvSpPr>
          <p:cNvPr id="20" name="Text 18">
            <a:extLst>
              <a:ext uri="{FF2B5EF4-FFF2-40B4-BE49-F238E27FC236}">
                <a16:creationId xmlns:a16="http://schemas.microsoft.com/office/drawing/2014/main" id="{E4897073-C3E8-43E7-8AA4-3C068CD5EA24}"/>
              </a:ext>
            </a:extLst>
          </p:cNvPr>
          <p:cNvSpPr>
            <a:spLocks noGrp="1"/>
          </p:cNvSpPr>
          <p:nvPr/>
        </p:nvSpPr>
        <p:spPr>
          <a:xfrm>
            <a:off x="1371600" y="3438144"/>
            <a:ext cx="2212848" cy="384048"/>
          </a:xfrm>
          <a:prstGeom prst="rect">
            <a:avLst/>
          </a:prstGeom>
          <a:noFill/>
        </p:spPr>
        <p:txBody>
          <a:bodyPr wrap="square" lIns="0" tIns="0" rIns="0" bIns="0" anchor="ctr"/>
          <a:lstStyle/>
          <a:p>
            <a:pPr marL="0" indent="0" algn="l">
              <a:buNone/>
            </a:pPr>
            <a:r>
              <a:rPr sz="1500" b="1">
                <a:solidFill>
                  <a:srgbClr val="172033"/>
                </a:solidFill>
                <a:latin typeface="Inter"/>
                <a:ea typeface="Inter"/>
                <a:cs typeface="Inter"/>
              </a:rPr>
              <a:t>Implement in slices</a:t>
            </a:r>
            <a:endParaRPr sz="1500"/>
          </a:p>
        </p:txBody>
      </p:sp>
      <p:sp>
        <p:nvSpPr>
          <p:cNvPr id="21" name="Shape 19">
            <a:extLst>
              <a:ext uri="{FF2B5EF4-FFF2-40B4-BE49-F238E27FC236}">
                <a16:creationId xmlns:a16="http://schemas.microsoft.com/office/drawing/2014/main" id="{93757B9C-1731-404E-A269-0BFB07134D63}"/>
              </a:ext>
            </a:extLst>
          </p:cNvPr>
          <p:cNvSpPr>
            <a:spLocks noGrp="1"/>
          </p:cNvSpPr>
          <p:nvPr/>
        </p:nvSpPr>
        <p:spPr>
          <a:xfrm>
            <a:off x="3685032" y="3429000"/>
            <a:ext cx="16459" cy="393192"/>
          </a:xfrm>
          <a:prstGeom prst="rect">
            <a:avLst/>
          </a:prstGeom>
          <a:solidFill>
            <a:srgbClr val="E5EAF2"/>
          </a:solidFill>
          <a:ln w="12700">
            <a:solidFill>
              <a:srgbClr val="E5EAF2"/>
            </a:solidFill>
            <a:prstDash val="solid"/>
          </a:ln>
        </p:spPr>
        <p:txBody>
          <a:bodyPr/>
          <a:lstStyle/>
          <a:p>
            <a:endParaRPr/>
          </a:p>
        </p:txBody>
      </p:sp>
      <p:sp>
        <p:nvSpPr>
          <p:cNvPr id="22" name="Text 20">
            <a:extLst>
              <a:ext uri="{FF2B5EF4-FFF2-40B4-BE49-F238E27FC236}">
                <a16:creationId xmlns:a16="http://schemas.microsoft.com/office/drawing/2014/main" id="{D9AE0ACF-C2E8-4EBC-9081-352B8DC1E65C}"/>
              </a:ext>
            </a:extLst>
          </p:cNvPr>
          <p:cNvSpPr>
            <a:spLocks noGrp="1"/>
          </p:cNvSpPr>
          <p:nvPr/>
        </p:nvSpPr>
        <p:spPr>
          <a:xfrm>
            <a:off x="3877056" y="3392424"/>
            <a:ext cx="4965192" cy="475488"/>
          </a:xfrm>
          <a:prstGeom prst="rect">
            <a:avLst/>
          </a:prstGeom>
          <a:noFill/>
        </p:spPr>
        <p:txBody>
          <a:bodyPr wrap="square" lIns="0" tIns="0" rIns="0" bIns="0" anchor="ctr"/>
          <a:lstStyle/>
          <a:p>
            <a:pPr marL="0" indent="0" algn="l">
              <a:buNone/>
            </a:pPr>
            <a:r>
              <a:rPr sz="1350">
                <a:solidFill>
                  <a:srgbClr val="667085"/>
                </a:solidFill>
                <a:latin typeface="Inter"/>
                <a:ea typeface="Inter"/>
                <a:cs typeface="Inter"/>
              </a:rPr>
              <a:t>Drafted and refined focused changes instead of tackling the entire system at once.</a:t>
            </a:r>
            <a:endParaRPr sz="1350"/>
          </a:p>
        </p:txBody>
      </p:sp>
      <p:sp>
        <p:nvSpPr>
          <p:cNvPr id="23" name="Shape 21">
            <a:extLst>
              <a:ext uri="{FF2B5EF4-FFF2-40B4-BE49-F238E27FC236}">
                <a16:creationId xmlns:a16="http://schemas.microsoft.com/office/drawing/2014/main" id="{7279D0A3-6E25-402E-9B44-6D1D4012A883}"/>
              </a:ext>
            </a:extLst>
          </p:cNvPr>
          <p:cNvSpPr>
            <a:spLocks noGrp="1"/>
          </p:cNvSpPr>
          <p:nvPr/>
        </p:nvSpPr>
        <p:spPr>
          <a:xfrm>
            <a:off x="640080" y="4114800"/>
            <a:ext cx="8439912" cy="749808"/>
          </a:xfrm>
          <a:prstGeom prst="roundRect">
            <a:avLst>
              <a:gd name="adj" fmla="val 18293"/>
            </a:avLst>
          </a:prstGeom>
          <a:solidFill>
            <a:srgbClr val="FFFFFF"/>
          </a:solidFill>
          <a:ln w="10160">
            <a:solidFill>
              <a:srgbClr val="E5EAF2"/>
            </a:solidFill>
            <a:prstDash val="solid"/>
          </a:ln>
        </p:spPr>
        <p:txBody>
          <a:bodyPr/>
          <a:lstStyle/>
          <a:p>
            <a:endParaRPr/>
          </a:p>
        </p:txBody>
      </p:sp>
      <p:sp>
        <p:nvSpPr>
          <p:cNvPr id="24" name="Shape 22">
            <a:extLst>
              <a:ext uri="{FF2B5EF4-FFF2-40B4-BE49-F238E27FC236}">
                <a16:creationId xmlns:a16="http://schemas.microsoft.com/office/drawing/2014/main" id="{FC060983-16E5-4E09-B168-AE2522A51562}"/>
              </a:ext>
            </a:extLst>
          </p:cNvPr>
          <p:cNvSpPr>
            <a:spLocks noGrp="1"/>
          </p:cNvSpPr>
          <p:nvPr/>
        </p:nvSpPr>
        <p:spPr>
          <a:xfrm>
            <a:off x="850392" y="4325112"/>
            <a:ext cx="338328" cy="338328"/>
          </a:xfrm>
          <a:prstGeom prst="ellipse">
            <a:avLst/>
          </a:prstGeom>
          <a:solidFill>
            <a:srgbClr val="EFF0FF"/>
          </a:solidFill>
          <a:ln w="12700">
            <a:solidFill>
              <a:srgbClr val="EFF0FF"/>
            </a:solidFill>
            <a:prstDash val="solid"/>
          </a:ln>
        </p:spPr>
        <p:txBody>
          <a:bodyPr/>
          <a:lstStyle/>
          <a:p>
            <a:endParaRPr/>
          </a:p>
        </p:txBody>
      </p:sp>
      <p:sp>
        <p:nvSpPr>
          <p:cNvPr id="25" name="Text 23">
            <a:extLst>
              <a:ext uri="{FF2B5EF4-FFF2-40B4-BE49-F238E27FC236}">
                <a16:creationId xmlns:a16="http://schemas.microsoft.com/office/drawing/2014/main" id="{F840B235-D2F7-4E32-8894-46F629B8262A}"/>
              </a:ext>
            </a:extLst>
          </p:cNvPr>
          <p:cNvSpPr>
            <a:spLocks noGrp="1"/>
          </p:cNvSpPr>
          <p:nvPr/>
        </p:nvSpPr>
        <p:spPr>
          <a:xfrm>
            <a:off x="850392" y="4425696"/>
            <a:ext cx="338328" cy="137160"/>
          </a:xfrm>
          <a:prstGeom prst="rect">
            <a:avLst/>
          </a:prstGeom>
          <a:noFill/>
        </p:spPr>
        <p:txBody>
          <a:bodyPr wrap="square" lIns="0" tIns="0" rIns="0" bIns="0" anchor="ctr"/>
          <a:lstStyle/>
          <a:p>
            <a:pPr marL="0" indent="0" algn="ctr">
              <a:buNone/>
            </a:pPr>
            <a:r>
              <a:rPr sz="1060" b="1">
                <a:solidFill>
                  <a:srgbClr val="5253D7"/>
                </a:solidFill>
                <a:latin typeface="Inter"/>
                <a:ea typeface="Inter"/>
                <a:cs typeface="Inter"/>
              </a:rPr>
              <a:t>03</a:t>
            </a:r>
            <a:endParaRPr sz="1060"/>
          </a:p>
        </p:txBody>
      </p:sp>
      <p:sp>
        <p:nvSpPr>
          <p:cNvPr id="26" name="Text 24">
            <a:extLst>
              <a:ext uri="{FF2B5EF4-FFF2-40B4-BE49-F238E27FC236}">
                <a16:creationId xmlns:a16="http://schemas.microsoft.com/office/drawing/2014/main" id="{8267A229-1E2A-41B2-9B2A-14641D88AC13}"/>
              </a:ext>
            </a:extLst>
          </p:cNvPr>
          <p:cNvSpPr>
            <a:spLocks noGrp="1"/>
          </p:cNvSpPr>
          <p:nvPr/>
        </p:nvSpPr>
        <p:spPr>
          <a:xfrm>
            <a:off x="1371600" y="4297680"/>
            <a:ext cx="2212848" cy="384048"/>
          </a:xfrm>
          <a:prstGeom prst="rect">
            <a:avLst/>
          </a:prstGeom>
          <a:noFill/>
        </p:spPr>
        <p:txBody>
          <a:bodyPr wrap="square" lIns="0" tIns="0" rIns="0" bIns="0" anchor="ctr"/>
          <a:lstStyle/>
          <a:p>
            <a:pPr marL="0" indent="0" algn="l">
              <a:buNone/>
            </a:pPr>
            <a:r>
              <a:rPr sz="1500" b="1">
                <a:solidFill>
                  <a:srgbClr val="172033"/>
                </a:solidFill>
                <a:latin typeface="Inter"/>
                <a:ea typeface="Inter"/>
                <a:cs typeface="Inter"/>
              </a:rPr>
              <a:t>Review and debug</a:t>
            </a:r>
            <a:endParaRPr sz="1500"/>
          </a:p>
        </p:txBody>
      </p:sp>
      <p:sp>
        <p:nvSpPr>
          <p:cNvPr id="27" name="Shape 25">
            <a:extLst>
              <a:ext uri="{FF2B5EF4-FFF2-40B4-BE49-F238E27FC236}">
                <a16:creationId xmlns:a16="http://schemas.microsoft.com/office/drawing/2014/main" id="{6D4B3556-497B-49A6-AF71-A25739F77D1D}"/>
              </a:ext>
            </a:extLst>
          </p:cNvPr>
          <p:cNvSpPr>
            <a:spLocks noGrp="1"/>
          </p:cNvSpPr>
          <p:nvPr/>
        </p:nvSpPr>
        <p:spPr>
          <a:xfrm>
            <a:off x="3685032" y="4288536"/>
            <a:ext cx="16459" cy="393192"/>
          </a:xfrm>
          <a:prstGeom prst="rect">
            <a:avLst/>
          </a:prstGeom>
          <a:solidFill>
            <a:srgbClr val="E5EAF2"/>
          </a:solidFill>
          <a:ln w="12700">
            <a:solidFill>
              <a:srgbClr val="E5EAF2"/>
            </a:solidFill>
            <a:prstDash val="solid"/>
          </a:ln>
        </p:spPr>
        <p:txBody>
          <a:bodyPr/>
          <a:lstStyle/>
          <a:p>
            <a:endParaRPr/>
          </a:p>
        </p:txBody>
      </p:sp>
      <p:sp>
        <p:nvSpPr>
          <p:cNvPr id="28" name="Text 26">
            <a:extLst>
              <a:ext uri="{FF2B5EF4-FFF2-40B4-BE49-F238E27FC236}">
                <a16:creationId xmlns:a16="http://schemas.microsoft.com/office/drawing/2014/main" id="{BBD0584B-7683-4263-A9E2-C78AC61BB198}"/>
              </a:ext>
            </a:extLst>
          </p:cNvPr>
          <p:cNvSpPr>
            <a:spLocks noGrp="1"/>
          </p:cNvSpPr>
          <p:nvPr/>
        </p:nvSpPr>
        <p:spPr>
          <a:xfrm>
            <a:off x="3877056" y="4251960"/>
            <a:ext cx="4965192" cy="475488"/>
          </a:xfrm>
          <a:prstGeom prst="rect">
            <a:avLst/>
          </a:prstGeom>
          <a:noFill/>
        </p:spPr>
        <p:txBody>
          <a:bodyPr wrap="square" lIns="0" tIns="0" rIns="0" bIns="0" anchor="ctr"/>
          <a:lstStyle/>
          <a:p>
            <a:pPr marL="0" indent="0" algn="l">
              <a:buNone/>
            </a:pPr>
            <a:r>
              <a:rPr sz="1350">
                <a:solidFill>
                  <a:srgbClr val="667085"/>
                </a:solidFill>
                <a:latin typeface="Inter"/>
                <a:ea typeface="Inter"/>
                <a:cs typeface="Inter"/>
              </a:rPr>
              <a:t>Used targeted tests and code review to check query stages, citations and fail-closed behaviour.</a:t>
            </a:r>
            <a:endParaRPr sz="1350"/>
          </a:p>
        </p:txBody>
      </p:sp>
      <p:sp>
        <p:nvSpPr>
          <p:cNvPr id="29" name="Shape 27">
            <a:extLst>
              <a:ext uri="{FF2B5EF4-FFF2-40B4-BE49-F238E27FC236}">
                <a16:creationId xmlns:a16="http://schemas.microsoft.com/office/drawing/2014/main" id="{F6A75376-8B07-40D3-A836-22E7A9A58294}"/>
              </a:ext>
            </a:extLst>
          </p:cNvPr>
          <p:cNvSpPr>
            <a:spLocks noGrp="1"/>
          </p:cNvSpPr>
          <p:nvPr/>
        </p:nvSpPr>
        <p:spPr>
          <a:xfrm>
            <a:off x="640080" y="4974336"/>
            <a:ext cx="8439912" cy="749808"/>
          </a:xfrm>
          <a:prstGeom prst="roundRect">
            <a:avLst>
              <a:gd name="adj" fmla="val 18293"/>
            </a:avLst>
          </a:prstGeom>
          <a:solidFill>
            <a:srgbClr val="FFFFFF"/>
          </a:solidFill>
          <a:ln w="10160">
            <a:solidFill>
              <a:srgbClr val="E5EAF2"/>
            </a:solidFill>
            <a:prstDash val="solid"/>
          </a:ln>
        </p:spPr>
        <p:txBody>
          <a:bodyPr/>
          <a:lstStyle/>
          <a:p>
            <a:endParaRPr/>
          </a:p>
        </p:txBody>
      </p:sp>
      <p:sp>
        <p:nvSpPr>
          <p:cNvPr id="30" name="Shape 28">
            <a:extLst>
              <a:ext uri="{FF2B5EF4-FFF2-40B4-BE49-F238E27FC236}">
                <a16:creationId xmlns:a16="http://schemas.microsoft.com/office/drawing/2014/main" id="{28A977B6-FC0F-4780-BFF5-B4849CF49CE3}"/>
              </a:ext>
            </a:extLst>
          </p:cNvPr>
          <p:cNvSpPr>
            <a:spLocks noGrp="1"/>
          </p:cNvSpPr>
          <p:nvPr/>
        </p:nvSpPr>
        <p:spPr>
          <a:xfrm>
            <a:off x="850392" y="5184648"/>
            <a:ext cx="338328" cy="338328"/>
          </a:xfrm>
          <a:prstGeom prst="ellipse">
            <a:avLst/>
          </a:prstGeom>
          <a:solidFill>
            <a:srgbClr val="EFF0FF"/>
          </a:solidFill>
          <a:ln w="12700">
            <a:solidFill>
              <a:srgbClr val="EFF0FF"/>
            </a:solidFill>
            <a:prstDash val="solid"/>
          </a:ln>
        </p:spPr>
        <p:txBody>
          <a:bodyPr/>
          <a:lstStyle/>
          <a:p>
            <a:endParaRPr/>
          </a:p>
        </p:txBody>
      </p:sp>
      <p:sp>
        <p:nvSpPr>
          <p:cNvPr id="31" name="Text 29">
            <a:extLst>
              <a:ext uri="{FF2B5EF4-FFF2-40B4-BE49-F238E27FC236}">
                <a16:creationId xmlns:a16="http://schemas.microsoft.com/office/drawing/2014/main" id="{3AF719C2-93AD-4BCD-9E8E-766E8C57243B}"/>
              </a:ext>
            </a:extLst>
          </p:cNvPr>
          <p:cNvSpPr>
            <a:spLocks noGrp="1"/>
          </p:cNvSpPr>
          <p:nvPr/>
        </p:nvSpPr>
        <p:spPr>
          <a:xfrm>
            <a:off x="850392" y="5285232"/>
            <a:ext cx="338328" cy="137160"/>
          </a:xfrm>
          <a:prstGeom prst="rect">
            <a:avLst/>
          </a:prstGeom>
          <a:noFill/>
        </p:spPr>
        <p:txBody>
          <a:bodyPr wrap="square" lIns="0" tIns="0" rIns="0" bIns="0" anchor="ctr"/>
          <a:lstStyle/>
          <a:p>
            <a:pPr marL="0" indent="0" algn="ctr">
              <a:buNone/>
            </a:pPr>
            <a:r>
              <a:rPr sz="1060" b="1">
                <a:solidFill>
                  <a:srgbClr val="5253D7"/>
                </a:solidFill>
                <a:latin typeface="Inter"/>
                <a:ea typeface="Inter"/>
                <a:cs typeface="Inter"/>
              </a:rPr>
              <a:t>04</a:t>
            </a:r>
            <a:endParaRPr sz="1060"/>
          </a:p>
        </p:txBody>
      </p:sp>
      <p:sp>
        <p:nvSpPr>
          <p:cNvPr id="32" name="Text 30">
            <a:extLst>
              <a:ext uri="{FF2B5EF4-FFF2-40B4-BE49-F238E27FC236}">
                <a16:creationId xmlns:a16="http://schemas.microsoft.com/office/drawing/2014/main" id="{2EC92A4E-77E8-4313-982B-BFD2AA5DFA4A}"/>
              </a:ext>
            </a:extLst>
          </p:cNvPr>
          <p:cNvSpPr>
            <a:spLocks noGrp="1"/>
          </p:cNvSpPr>
          <p:nvPr/>
        </p:nvSpPr>
        <p:spPr>
          <a:xfrm>
            <a:off x="1371600" y="5157216"/>
            <a:ext cx="2212848" cy="384048"/>
          </a:xfrm>
          <a:prstGeom prst="rect">
            <a:avLst/>
          </a:prstGeom>
          <a:noFill/>
        </p:spPr>
        <p:txBody>
          <a:bodyPr wrap="square" lIns="0" tIns="0" rIns="0" bIns="0" anchor="ctr"/>
          <a:lstStyle/>
          <a:p>
            <a:pPr marL="0" indent="0" algn="l">
              <a:buNone/>
            </a:pPr>
            <a:r>
              <a:rPr sz="1500" b="1">
                <a:solidFill>
                  <a:srgbClr val="172033"/>
                </a:solidFill>
                <a:latin typeface="Inter"/>
                <a:ea typeface="Inter"/>
                <a:cs typeface="Inter"/>
              </a:rPr>
              <a:t>Prepare the demo</a:t>
            </a:r>
            <a:endParaRPr sz="1500"/>
          </a:p>
        </p:txBody>
      </p:sp>
      <p:sp>
        <p:nvSpPr>
          <p:cNvPr id="33" name="Shape 31">
            <a:extLst>
              <a:ext uri="{FF2B5EF4-FFF2-40B4-BE49-F238E27FC236}">
                <a16:creationId xmlns:a16="http://schemas.microsoft.com/office/drawing/2014/main" id="{7AFEF2E3-46AB-4A1B-965A-3B5F0A43A634}"/>
              </a:ext>
            </a:extLst>
          </p:cNvPr>
          <p:cNvSpPr>
            <a:spLocks noGrp="1"/>
          </p:cNvSpPr>
          <p:nvPr/>
        </p:nvSpPr>
        <p:spPr>
          <a:xfrm>
            <a:off x="3685032" y="5148072"/>
            <a:ext cx="16459" cy="393192"/>
          </a:xfrm>
          <a:prstGeom prst="rect">
            <a:avLst/>
          </a:prstGeom>
          <a:solidFill>
            <a:srgbClr val="E5EAF2"/>
          </a:solidFill>
          <a:ln w="12700">
            <a:solidFill>
              <a:srgbClr val="E5EAF2"/>
            </a:solidFill>
            <a:prstDash val="solid"/>
          </a:ln>
        </p:spPr>
        <p:txBody>
          <a:bodyPr/>
          <a:lstStyle/>
          <a:p>
            <a:endParaRPr/>
          </a:p>
        </p:txBody>
      </p:sp>
      <p:sp>
        <p:nvSpPr>
          <p:cNvPr id="34" name="Text 32">
            <a:extLst>
              <a:ext uri="{FF2B5EF4-FFF2-40B4-BE49-F238E27FC236}">
                <a16:creationId xmlns:a16="http://schemas.microsoft.com/office/drawing/2014/main" id="{5255C817-2D3E-4F28-B3B4-F9D68C736A13}"/>
              </a:ext>
            </a:extLst>
          </p:cNvPr>
          <p:cNvSpPr>
            <a:spLocks noGrp="1"/>
          </p:cNvSpPr>
          <p:nvPr/>
        </p:nvSpPr>
        <p:spPr>
          <a:xfrm>
            <a:off x="3877056" y="5111496"/>
            <a:ext cx="4965192" cy="475488"/>
          </a:xfrm>
          <a:prstGeom prst="rect">
            <a:avLst/>
          </a:prstGeom>
          <a:noFill/>
        </p:spPr>
        <p:txBody>
          <a:bodyPr wrap="square" lIns="0" tIns="0" rIns="0" bIns="0" anchor="ctr"/>
          <a:lstStyle/>
          <a:p>
            <a:pPr marL="0" indent="0" algn="l">
              <a:buNone/>
            </a:pPr>
            <a:r>
              <a:rPr sz="1350">
                <a:solidFill>
                  <a:srgbClr val="667085"/>
                </a:solidFill>
                <a:latin typeface="Inter"/>
                <a:ea typeface="Inter"/>
                <a:cs typeface="Inter"/>
              </a:rPr>
              <a:t>Turned live scenarios into a repeatable walkthrough and presenter script.</a:t>
            </a:r>
            <a:endParaRPr sz="1350"/>
          </a:p>
        </p:txBody>
      </p:sp>
      <p:sp>
        <p:nvSpPr>
          <p:cNvPr id="35" name="Shape 33">
            <a:extLst>
              <a:ext uri="{FF2B5EF4-FFF2-40B4-BE49-F238E27FC236}">
                <a16:creationId xmlns:a16="http://schemas.microsoft.com/office/drawing/2014/main" id="{70020416-660E-487B-8F56-D83932F299B9}"/>
              </a:ext>
            </a:extLst>
          </p:cNvPr>
          <p:cNvSpPr>
            <a:spLocks noGrp="1"/>
          </p:cNvSpPr>
          <p:nvPr/>
        </p:nvSpPr>
        <p:spPr>
          <a:xfrm>
            <a:off x="9290304" y="2395728"/>
            <a:ext cx="2258568" cy="3630168"/>
          </a:xfrm>
          <a:prstGeom prst="roundRect">
            <a:avLst>
              <a:gd name="adj" fmla="val 7287"/>
            </a:avLst>
          </a:prstGeom>
          <a:solidFill>
            <a:srgbClr val="EFF0FF"/>
          </a:solidFill>
          <a:ln w="10160">
            <a:solidFill>
              <a:srgbClr val="E0E4FF"/>
            </a:solidFill>
            <a:prstDash val="solid"/>
          </a:ln>
        </p:spPr>
        <p:txBody>
          <a:bodyPr/>
          <a:lstStyle/>
          <a:p>
            <a:endParaRPr/>
          </a:p>
        </p:txBody>
      </p:sp>
      <p:sp>
        <p:nvSpPr>
          <p:cNvPr id="36" name="Shape 34">
            <a:extLst>
              <a:ext uri="{FF2B5EF4-FFF2-40B4-BE49-F238E27FC236}">
                <a16:creationId xmlns:a16="http://schemas.microsoft.com/office/drawing/2014/main" id="{A722E26C-0D33-4FC3-A870-CE259CEE6EF4}"/>
              </a:ext>
            </a:extLst>
          </p:cNvPr>
          <p:cNvSpPr>
            <a:spLocks noGrp="1"/>
          </p:cNvSpPr>
          <p:nvPr/>
        </p:nvSpPr>
        <p:spPr>
          <a:xfrm>
            <a:off x="9564624" y="2706624"/>
            <a:ext cx="420624" cy="420624"/>
          </a:xfrm>
          <a:prstGeom prst="ellipse">
            <a:avLst/>
          </a:prstGeom>
          <a:solidFill>
            <a:srgbClr val="5253D7"/>
          </a:solidFill>
          <a:ln w="12700">
            <a:solidFill>
              <a:srgbClr val="5253D7"/>
            </a:solidFill>
            <a:prstDash val="solid"/>
          </a:ln>
        </p:spPr>
        <p:txBody>
          <a:bodyPr/>
          <a:lstStyle/>
          <a:p>
            <a:endParaRPr/>
          </a:p>
        </p:txBody>
      </p:sp>
      <p:sp>
        <p:nvSpPr>
          <p:cNvPr id="37" name="Shape 35">
            <a:extLst>
              <a:ext uri="{FF2B5EF4-FFF2-40B4-BE49-F238E27FC236}">
                <a16:creationId xmlns:a16="http://schemas.microsoft.com/office/drawing/2014/main" id="{00DA1106-2099-425D-972A-3A64B88DEB7D}"/>
              </a:ext>
            </a:extLst>
          </p:cNvPr>
          <p:cNvSpPr>
            <a:spLocks noGrp="1"/>
          </p:cNvSpPr>
          <p:nvPr/>
        </p:nvSpPr>
        <p:spPr>
          <a:xfrm>
            <a:off x="9705442" y="2784348"/>
            <a:ext cx="137160" cy="137160"/>
          </a:xfrm>
          <a:prstGeom prst="ellipse">
            <a:avLst/>
          </a:prstGeom>
          <a:solidFill>
            <a:srgbClr val="FFFFFF"/>
          </a:solidFill>
          <a:ln w="12700">
            <a:solidFill>
              <a:srgbClr val="FFFFFF"/>
            </a:solidFill>
            <a:prstDash val="solid"/>
          </a:ln>
        </p:spPr>
        <p:txBody>
          <a:bodyPr/>
          <a:lstStyle/>
          <a:p>
            <a:endParaRPr/>
          </a:p>
        </p:txBody>
      </p:sp>
      <p:sp>
        <p:nvSpPr>
          <p:cNvPr id="38" name="Shape 36">
            <a:extLst>
              <a:ext uri="{FF2B5EF4-FFF2-40B4-BE49-F238E27FC236}">
                <a16:creationId xmlns:a16="http://schemas.microsoft.com/office/drawing/2014/main" id="{875D7A11-CC39-4860-874B-127781FB71D7}"/>
              </a:ext>
            </a:extLst>
          </p:cNvPr>
          <p:cNvSpPr>
            <a:spLocks noGrp="1"/>
          </p:cNvSpPr>
          <p:nvPr/>
        </p:nvSpPr>
        <p:spPr>
          <a:xfrm>
            <a:off x="9665208" y="2953512"/>
            <a:ext cx="219456" cy="109728"/>
          </a:xfrm>
          <a:prstGeom prst="roundRect">
            <a:avLst>
              <a:gd name="adj" fmla="val 50000"/>
            </a:avLst>
          </a:prstGeom>
          <a:solidFill>
            <a:srgbClr val="FFFFFF"/>
          </a:solidFill>
          <a:ln w="10160">
            <a:solidFill>
              <a:srgbClr val="FFFFFF"/>
            </a:solidFill>
            <a:prstDash val="solid"/>
          </a:ln>
        </p:spPr>
        <p:txBody>
          <a:bodyPr/>
          <a:lstStyle/>
          <a:p>
            <a:endParaRPr/>
          </a:p>
        </p:txBody>
      </p:sp>
      <p:sp>
        <p:nvSpPr>
          <p:cNvPr id="39" name="Text 37">
            <a:extLst>
              <a:ext uri="{FF2B5EF4-FFF2-40B4-BE49-F238E27FC236}">
                <a16:creationId xmlns:a16="http://schemas.microsoft.com/office/drawing/2014/main" id="{D641DDAE-D74F-49E0-B86F-4DB87D1F1071}"/>
              </a:ext>
            </a:extLst>
          </p:cNvPr>
          <p:cNvSpPr>
            <a:spLocks noGrp="1"/>
          </p:cNvSpPr>
          <p:nvPr/>
        </p:nvSpPr>
        <p:spPr>
          <a:xfrm>
            <a:off x="9564624" y="3401568"/>
            <a:ext cx="1764792" cy="731520"/>
          </a:xfrm>
          <a:prstGeom prst="rect">
            <a:avLst/>
          </a:prstGeom>
          <a:noFill/>
        </p:spPr>
        <p:txBody>
          <a:bodyPr wrap="square" lIns="0" tIns="0" rIns="0" bIns="0" anchor="t"/>
          <a:lstStyle/>
          <a:p>
            <a:pPr marL="0" indent="0" algn="l">
              <a:buNone/>
            </a:pPr>
            <a:r>
              <a:rPr sz="2010" b="1">
                <a:solidFill>
                  <a:srgbClr val="172033"/>
                </a:solidFill>
                <a:latin typeface="Inter"/>
                <a:ea typeface="Inter"/>
                <a:cs typeface="Inter"/>
              </a:rPr>
              <a:t>Human</a:t>
            </a:r>
            <a:endParaRPr sz="2010"/>
          </a:p>
          <a:p>
            <a:pPr marL="0" indent="0" algn="l">
              <a:buNone/>
            </a:pPr>
            <a:r>
              <a:rPr sz="2010" b="1">
                <a:solidFill>
                  <a:srgbClr val="172033"/>
                </a:solidFill>
                <a:latin typeface="Inter"/>
                <a:ea typeface="Inter"/>
                <a:cs typeface="Inter"/>
              </a:rPr>
              <a:t>judgement</a:t>
            </a:r>
            <a:endParaRPr sz="2010"/>
          </a:p>
        </p:txBody>
      </p:sp>
      <p:sp>
        <p:nvSpPr>
          <p:cNvPr id="40" name="Shape 38">
            <a:extLst>
              <a:ext uri="{FF2B5EF4-FFF2-40B4-BE49-F238E27FC236}">
                <a16:creationId xmlns:a16="http://schemas.microsoft.com/office/drawing/2014/main" id="{81DEE18E-B21C-4A01-85E0-F3FD6D7517AF}"/>
              </a:ext>
            </a:extLst>
          </p:cNvPr>
          <p:cNvSpPr>
            <a:spLocks noGrp="1"/>
          </p:cNvSpPr>
          <p:nvPr/>
        </p:nvSpPr>
        <p:spPr>
          <a:xfrm>
            <a:off x="9564624" y="4352544"/>
            <a:ext cx="1691640" cy="0"/>
          </a:xfrm>
          <a:prstGeom prst="line">
            <a:avLst/>
          </a:prstGeom>
          <a:noFill/>
          <a:ln w="11430">
            <a:solidFill>
              <a:srgbClr val="D6DDF5"/>
            </a:solidFill>
            <a:prstDash val="solid"/>
          </a:ln>
        </p:spPr>
        <p:txBody>
          <a:bodyPr/>
          <a:lstStyle/>
          <a:p>
            <a:endParaRPr/>
          </a:p>
        </p:txBody>
      </p:sp>
      <p:sp>
        <p:nvSpPr>
          <p:cNvPr id="41" name="Text 39">
            <a:extLst>
              <a:ext uri="{FF2B5EF4-FFF2-40B4-BE49-F238E27FC236}">
                <a16:creationId xmlns:a16="http://schemas.microsoft.com/office/drawing/2014/main" id="{DA93F8CD-D40D-4CB2-83C8-CD65866567AD}"/>
              </a:ext>
            </a:extLst>
          </p:cNvPr>
          <p:cNvSpPr>
            <a:spLocks noGrp="1"/>
          </p:cNvSpPr>
          <p:nvPr/>
        </p:nvSpPr>
        <p:spPr>
          <a:xfrm>
            <a:off x="9564624" y="4526280"/>
            <a:ext cx="1691640" cy="1252728"/>
          </a:xfrm>
          <a:prstGeom prst="rect">
            <a:avLst/>
          </a:prstGeom>
          <a:noFill/>
        </p:spPr>
        <p:txBody>
          <a:bodyPr wrap="square" lIns="0" tIns="0" rIns="0" bIns="0" anchor="t"/>
          <a:lstStyle/>
          <a:p>
            <a:pPr marL="0" indent="0" algn="l">
              <a:buNone/>
            </a:pPr>
            <a:r>
              <a:rPr sz="1360">
                <a:solidFill>
                  <a:srgbClr val="667085"/>
                </a:solidFill>
                <a:latin typeface="Inter"/>
                <a:ea typeface="Inter"/>
                <a:cs typeface="Inter"/>
              </a:rPr>
              <a:t>The team retained final product decisions and validated the observed behaviour.</a:t>
            </a:r>
            <a:endParaRPr sz="1360"/>
          </a:p>
        </p:txBody>
      </p:sp>
    </p:spTree>
    <p:extLst>
      <p:ext uri="{BB962C8B-B14F-4D97-AF65-F5344CB8AC3E}">
        <p14:creationId xmlns:p14="http://schemas.microsoft.com/office/powerpoint/2010/main" val="8101190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D"/>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87AB5B5-B72F-4649-9425-034C5BC58213}"/>
              </a:ext>
            </a:extLst>
          </p:cNvPr>
          <p:cNvSpPr>
            <a:spLocks noGrp="1"/>
          </p:cNvSpPr>
          <p:nvPr/>
        </p:nvSpPr>
        <p:spPr>
          <a:xfrm>
            <a:off x="0" y="0"/>
            <a:ext cx="12192000" cy="50292"/>
          </a:xfrm>
          <a:prstGeom prst="rect">
            <a:avLst/>
          </a:prstGeom>
          <a:solidFill>
            <a:srgbClr val="5253D7"/>
          </a:solidFill>
          <a:ln w="12700">
            <a:solidFill>
              <a:srgbClr val="5253D7"/>
            </a:solidFill>
            <a:prstDash val="solid"/>
          </a:ln>
        </p:spPr>
        <p:txBody>
          <a:bodyPr/>
          <a:lstStyle/>
          <a:p>
            <a:endParaRPr/>
          </a:p>
        </p:txBody>
      </p:sp>
      <p:sp>
        <p:nvSpPr>
          <p:cNvPr id="3" name="Text 1">
            <a:extLst>
              <a:ext uri="{FF2B5EF4-FFF2-40B4-BE49-F238E27FC236}">
                <a16:creationId xmlns:a16="http://schemas.microsoft.com/office/drawing/2014/main" id="{2E67DDC1-89DB-45A5-B4BA-C5B5C13B7D82}"/>
              </a:ext>
            </a:extLst>
          </p:cNvPr>
          <p:cNvSpPr>
            <a:spLocks noGrp="1"/>
          </p:cNvSpPr>
          <p:nvPr/>
        </p:nvSpPr>
        <p:spPr>
          <a:xfrm>
            <a:off x="640080" y="393192"/>
            <a:ext cx="9144000" cy="237744"/>
          </a:xfrm>
          <a:prstGeom prst="rect">
            <a:avLst/>
          </a:prstGeom>
          <a:noFill/>
        </p:spPr>
        <p:txBody>
          <a:bodyPr wrap="square" lIns="0" tIns="0" rIns="0" bIns="0" anchor="ctr"/>
          <a:lstStyle/>
          <a:p>
            <a:pPr marL="0" indent="0" algn="l">
              <a:buNone/>
            </a:pPr>
            <a:r>
              <a:rPr sz="1010" b="1" spc="120">
                <a:solidFill>
                  <a:srgbClr val="5253D7"/>
                </a:solidFill>
                <a:latin typeface="Inter"/>
                <a:ea typeface="Inter"/>
                <a:cs typeface="Inter"/>
              </a:rPr>
              <a:t>REFLECTION</a:t>
            </a:r>
            <a:endParaRPr sz="1010"/>
          </a:p>
        </p:txBody>
      </p:sp>
      <p:sp>
        <p:nvSpPr>
          <p:cNvPr id="4" name="Text 2">
            <a:extLst>
              <a:ext uri="{FF2B5EF4-FFF2-40B4-BE49-F238E27FC236}">
                <a16:creationId xmlns:a16="http://schemas.microsoft.com/office/drawing/2014/main" id="{74DB5577-1CDD-40E3-9CE3-4BB8B476B185}"/>
              </a:ext>
            </a:extLst>
          </p:cNvPr>
          <p:cNvSpPr>
            <a:spLocks noGrp="1"/>
          </p:cNvSpPr>
          <p:nvPr/>
        </p:nvSpPr>
        <p:spPr>
          <a:xfrm>
            <a:off x="640080" y="740664"/>
            <a:ext cx="10954512" cy="512064"/>
          </a:xfrm>
          <a:prstGeom prst="rect">
            <a:avLst/>
          </a:prstGeom>
          <a:noFill/>
        </p:spPr>
        <p:txBody>
          <a:bodyPr wrap="square" lIns="0" tIns="0" rIns="0" bIns="0" anchor="ctr"/>
          <a:lstStyle/>
          <a:p>
            <a:pPr marL="0" indent="0" algn="l">
              <a:buNone/>
            </a:pPr>
            <a:r>
              <a:rPr lang="en-US" sz="2950" b="1" dirty="0">
                <a:solidFill>
                  <a:srgbClr val="172033"/>
                </a:solidFill>
                <a:latin typeface="Inter"/>
              </a:rPr>
              <a:t>Reflection</a:t>
            </a:r>
            <a:endParaRPr sz="2950" dirty="0"/>
          </a:p>
        </p:txBody>
      </p:sp>
      <p:sp>
        <p:nvSpPr>
          <p:cNvPr id="6" name="Shape 4">
            <a:extLst>
              <a:ext uri="{FF2B5EF4-FFF2-40B4-BE49-F238E27FC236}">
                <a16:creationId xmlns:a16="http://schemas.microsoft.com/office/drawing/2014/main" id="{425BA982-EEF7-4429-B593-9F64CC41304A}"/>
              </a:ext>
            </a:extLst>
          </p:cNvPr>
          <p:cNvSpPr>
            <a:spLocks noGrp="1"/>
          </p:cNvSpPr>
          <p:nvPr/>
        </p:nvSpPr>
        <p:spPr>
          <a:xfrm>
            <a:off x="640080" y="6437376"/>
            <a:ext cx="10908792" cy="0"/>
          </a:xfrm>
          <a:prstGeom prst="line">
            <a:avLst/>
          </a:prstGeom>
          <a:noFill/>
          <a:ln w="10160">
            <a:solidFill>
              <a:srgbClr val="E5EAF2"/>
            </a:solidFill>
            <a:prstDash val="solid"/>
          </a:ln>
        </p:spPr>
        <p:txBody>
          <a:bodyPr/>
          <a:lstStyle/>
          <a:p>
            <a:endParaRPr/>
          </a:p>
        </p:txBody>
      </p:sp>
      <p:sp>
        <p:nvSpPr>
          <p:cNvPr id="7" name="Text 5">
            <a:extLst>
              <a:ext uri="{FF2B5EF4-FFF2-40B4-BE49-F238E27FC236}">
                <a16:creationId xmlns:a16="http://schemas.microsoft.com/office/drawing/2014/main" id="{0C103540-2582-41DE-8FA1-BD7B2BD6E66F}"/>
              </a:ext>
            </a:extLst>
          </p:cNvPr>
          <p:cNvSpPr>
            <a:spLocks noGrp="1"/>
          </p:cNvSpPr>
          <p:nvPr/>
        </p:nvSpPr>
        <p:spPr>
          <a:xfrm>
            <a:off x="640080" y="6528816"/>
            <a:ext cx="585216" cy="155448"/>
          </a:xfrm>
          <a:prstGeom prst="rect">
            <a:avLst/>
          </a:prstGeom>
          <a:noFill/>
        </p:spPr>
        <p:txBody>
          <a:bodyPr wrap="square" lIns="0" tIns="0" rIns="0" bIns="0" anchor="ctr"/>
          <a:lstStyle/>
          <a:p>
            <a:pPr marL="0" indent="0" algn="l">
              <a:buNone/>
            </a:pPr>
            <a:r>
              <a:rPr sz="1040" b="1">
                <a:solidFill>
                  <a:srgbClr val="172033"/>
                </a:solidFill>
                <a:latin typeface="Inter"/>
                <a:ea typeface="Inter"/>
                <a:cs typeface="Inter"/>
              </a:rPr>
              <a:t>relay</a:t>
            </a:r>
            <a:endParaRPr sz="1040"/>
          </a:p>
        </p:txBody>
      </p:sp>
      <p:sp>
        <p:nvSpPr>
          <p:cNvPr id="8" name="Text 6">
            <a:extLst>
              <a:ext uri="{FF2B5EF4-FFF2-40B4-BE49-F238E27FC236}">
                <a16:creationId xmlns:a16="http://schemas.microsoft.com/office/drawing/2014/main" id="{BDA84613-840F-4BBE-8BA9-1CB4DC3C7567}"/>
              </a:ext>
            </a:extLst>
          </p:cNvPr>
          <p:cNvSpPr>
            <a:spLocks noGrp="1"/>
          </p:cNvSpPr>
          <p:nvPr/>
        </p:nvSpPr>
        <p:spPr>
          <a:xfrm>
            <a:off x="1307592" y="6528816"/>
            <a:ext cx="2743200" cy="155448"/>
          </a:xfrm>
          <a:prstGeom prst="rect">
            <a:avLst/>
          </a:prstGeom>
          <a:noFill/>
        </p:spPr>
        <p:txBody>
          <a:bodyPr wrap="square" lIns="0" tIns="0" rIns="0" bIns="0" anchor="ctr"/>
          <a:lstStyle/>
          <a:p>
            <a:pPr marL="0" indent="0" algn="l">
              <a:buNone/>
            </a:pPr>
            <a:r>
              <a:rPr sz="970">
                <a:solidFill>
                  <a:srgbClr val="94A3B8"/>
                </a:solidFill>
                <a:latin typeface="Inter"/>
                <a:ea typeface="Inter"/>
                <a:cs typeface="Inter"/>
              </a:rPr>
              <a:t>/ Tencent Hackathon demo</a:t>
            </a:r>
            <a:endParaRPr sz="970"/>
          </a:p>
        </p:txBody>
      </p:sp>
      <p:sp>
        <p:nvSpPr>
          <p:cNvPr id="9" name="Text 7">
            <a:extLst>
              <a:ext uri="{FF2B5EF4-FFF2-40B4-BE49-F238E27FC236}">
                <a16:creationId xmlns:a16="http://schemas.microsoft.com/office/drawing/2014/main" id="{30AD1EA8-633F-4948-A48B-BF87904969AA}"/>
              </a:ext>
            </a:extLst>
          </p:cNvPr>
          <p:cNvSpPr>
            <a:spLocks noGrp="1"/>
          </p:cNvSpPr>
          <p:nvPr/>
        </p:nvSpPr>
        <p:spPr>
          <a:xfrm>
            <a:off x="11036808" y="6519672"/>
            <a:ext cx="502920" cy="164592"/>
          </a:xfrm>
          <a:prstGeom prst="rect">
            <a:avLst/>
          </a:prstGeom>
          <a:noFill/>
        </p:spPr>
        <p:txBody>
          <a:bodyPr wrap="square" lIns="0" tIns="0" rIns="0" bIns="0" anchor="ctr"/>
          <a:lstStyle/>
          <a:p>
            <a:pPr marL="0" indent="0" algn="r">
              <a:buNone/>
            </a:pPr>
            <a:r>
              <a:rPr sz="1000" b="1">
                <a:solidFill>
                  <a:srgbClr val="94A3B8"/>
                </a:solidFill>
                <a:latin typeface="Inter"/>
                <a:ea typeface="Inter"/>
                <a:cs typeface="Inter"/>
              </a:rPr>
              <a:t>08</a:t>
            </a:r>
            <a:endParaRPr sz="1000"/>
          </a:p>
        </p:txBody>
      </p:sp>
      <p:sp>
        <p:nvSpPr>
          <p:cNvPr id="13" name="Shape 11">
            <a:extLst>
              <a:ext uri="{FF2B5EF4-FFF2-40B4-BE49-F238E27FC236}">
                <a16:creationId xmlns:a16="http://schemas.microsoft.com/office/drawing/2014/main" id="{F62F7783-F83A-488E-92A5-C6FDB214FF15}"/>
              </a:ext>
            </a:extLst>
          </p:cNvPr>
          <p:cNvSpPr>
            <a:spLocks noGrp="1"/>
          </p:cNvSpPr>
          <p:nvPr/>
        </p:nvSpPr>
        <p:spPr>
          <a:xfrm>
            <a:off x="630936" y="2226563"/>
            <a:ext cx="3520440" cy="2600607"/>
          </a:xfrm>
          <a:prstGeom prst="roundRect">
            <a:avLst>
              <a:gd name="adj" fmla="val 10169"/>
            </a:avLst>
          </a:prstGeom>
          <a:solidFill>
            <a:srgbClr val="FFFFFF"/>
          </a:solidFill>
          <a:ln w="10160">
            <a:solidFill>
              <a:srgbClr val="E5EAF2"/>
            </a:solidFill>
            <a:prstDash val="solid"/>
          </a:ln>
        </p:spPr>
        <p:txBody>
          <a:bodyPr/>
          <a:lstStyle/>
          <a:p>
            <a:endParaRPr/>
          </a:p>
        </p:txBody>
      </p:sp>
      <p:sp>
        <p:nvSpPr>
          <p:cNvPr id="14" name="Shape 12">
            <a:extLst>
              <a:ext uri="{FF2B5EF4-FFF2-40B4-BE49-F238E27FC236}">
                <a16:creationId xmlns:a16="http://schemas.microsoft.com/office/drawing/2014/main" id="{2849417A-E4C1-4514-9828-D64C87839017}"/>
              </a:ext>
            </a:extLst>
          </p:cNvPr>
          <p:cNvSpPr>
            <a:spLocks noGrp="1"/>
          </p:cNvSpPr>
          <p:nvPr/>
        </p:nvSpPr>
        <p:spPr>
          <a:xfrm>
            <a:off x="832104" y="2528316"/>
            <a:ext cx="73152" cy="228600"/>
          </a:xfrm>
          <a:prstGeom prst="rect">
            <a:avLst/>
          </a:prstGeom>
          <a:solidFill>
            <a:srgbClr val="5253D7"/>
          </a:solidFill>
          <a:ln w="12700">
            <a:solidFill>
              <a:srgbClr val="5253D7"/>
            </a:solidFill>
            <a:prstDash val="solid"/>
          </a:ln>
        </p:spPr>
        <p:txBody>
          <a:bodyPr/>
          <a:lstStyle/>
          <a:p>
            <a:endParaRPr/>
          </a:p>
        </p:txBody>
      </p:sp>
      <p:sp>
        <p:nvSpPr>
          <p:cNvPr id="15" name="Text 13">
            <a:extLst>
              <a:ext uri="{FF2B5EF4-FFF2-40B4-BE49-F238E27FC236}">
                <a16:creationId xmlns:a16="http://schemas.microsoft.com/office/drawing/2014/main" id="{11A81BD2-AF52-4FDC-9F8E-D7197075603F}"/>
              </a:ext>
            </a:extLst>
          </p:cNvPr>
          <p:cNvSpPr>
            <a:spLocks noGrp="1"/>
          </p:cNvSpPr>
          <p:nvPr/>
        </p:nvSpPr>
        <p:spPr>
          <a:xfrm>
            <a:off x="1042416" y="2555748"/>
            <a:ext cx="2697480" cy="164592"/>
          </a:xfrm>
          <a:prstGeom prst="rect">
            <a:avLst/>
          </a:prstGeom>
          <a:noFill/>
        </p:spPr>
        <p:txBody>
          <a:bodyPr wrap="square" lIns="0" tIns="0" rIns="0" bIns="0" anchor="ctr"/>
          <a:lstStyle/>
          <a:p>
            <a:pPr marL="0" indent="0" algn="l">
              <a:buNone/>
            </a:pPr>
            <a:r>
              <a:rPr lang="en-US" sz="1110" b="1" spc="67" dirty="0">
                <a:solidFill>
                  <a:srgbClr val="5253D7"/>
                </a:solidFill>
                <a:latin typeface="Inter"/>
              </a:rPr>
              <a:t>ASSUMPTIONS</a:t>
            </a:r>
            <a:endParaRPr sz="1110" dirty="0"/>
          </a:p>
        </p:txBody>
      </p:sp>
      <p:sp>
        <p:nvSpPr>
          <p:cNvPr id="16" name="Text 14">
            <a:extLst>
              <a:ext uri="{FF2B5EF4-FFF2-40B4-BE49-F238E27FC236}">
                <a16:creationId xmlns:a16="http://schemas.microsoft.com/office/drawing/2014/main" id="{85D4095B-4CEE-45A6-B4B5-73A5754CD430}"/>
              </a:ext>
            </a:extLst>
          </p:cNvPr>
          <p:cNvSpPr>
            <a:spLocks noGrp="1"/>
          </p:cNvSpPr>
          <p:nvPr/>
        </p:nvSpPr>
        <p:spPr>
          <a:xfrm>
            <a:off x="832104" y="2985516"/>
            <a:ext cx="3108960" cy="603504"/>
          </a:xfrm>
          <a:prstGeom prst="rect">
            <a:avLst/>
          </a:prstGeom>
          <a:noFill/>
        </p:spPr>
        <p:txBody>
          <a:bodyPr wrap="square" lIns="0" tIns="0" rIns="0" bIns="0" anchor="t"/>
          <a:lstStyle/>
          <a:p>
            <a:pPr marL="0" indent="0" algn="l">
              <a:buNone/>
            </a:pPr>
            <a:r>
              <a:rPr lang="en-US" sz="1500" dirty="0">
                <a:solidFill>
                  <a:srgbClr val="172033"/>
                </a:solidFill>
                <a:latin typeface="Inter"/>
                <a:ea typeface="Inter"/>
                <a:cs typeface="Inter"/>
              </a:rPr>
              <a:t>Before implementation, probe assumptions that could be made and resolve this uncertainty before commencement.</a:t>
            </a:r>
            <a:endParaRPr sz="1500" dirty="0"/>
          </a:p>
        </p:txBody>
      </p:sp>
      <p:sp>
        <p:nvSpPr>
          <p:cNvPr id="17" name="Shape 15">
            <a:extLst>
              <a:ext uri="{FF2B5EF4-FFF2-40B4-BE49-F238E27FC236}">
                <a16:creationId xmlns:a16="http://schemas.microsoft.com/office/drawing/2014/main" id="{F53068D8-EF58-4442-ABA7-882AAED14525}"/>
              </a:ext>
            </a:extLst>
          </p:cNvPr>
          <p:cNvSpPr>
            <a:spLocks noGrp="1"/>
          </p:cNvSpPr>
          <p:nvPr/>
        </p:nvSpPr>
        <p:spPr>
          <a:xfrm>
            <a:off x="4325112" y="2226563"/>
            <a:ext cx="3520440" cy="2600589"/>
          </a:xfrm>
          <a:prstGeom prst="roundRect">
            <a:avLst>
              <a:gd name="adj" fmla="val 10169"/>
            </a:avLst>
          </a:prstGeom>
          <a:solidFill>
            <a:srgbClr val="FFFFFF"/>
          </a:solidFill>
          <a:ln w="10160">
            <a:solidFill>
              <a:srgbClr val="E5EAF2"/>
            </a:solidFill>
            <a:prstDash val="solid"/>
          </a:ln>
        </p:spPr>
        <p:txBody>
          <a:bodyPr/>
          <a:lstStyle/>
          <a:p>
            <a:endParaRPr/>
          </a:p>
        </p:txBody>
      </p:sp>
      <p:sp>
        <p:nvSpPr>
          <p:cNvPr id="18" name="Shape 16">
            <a:extLst>
              <a:ext uri="{FF2B5EF4-FFF2-40B4-BE49-F238E27FC236}">
                <a16:creationId xmlns:a16="http://schemas.microsoft.com/office/drawing/2014/main" id="{3B4CE38B-9379-4FB1-9643-2D68D6D0F271}"/>
              </a:ext>
            </a:extLst>
          </p:cNvPr>
          <p:cNvSpPr>
            <a:spLocks noGrp="1"/>
          </p:cNvSpPr>
          <p:nvPr/>
        </p:nvSpPr>
        <p:spPr>
          <a:xfrm>
            <a:off x="4526280" y="2528316"/>
            <a:ext cx="73152" cy="228600"/>
          </a:xfrm>
          <a:prstGeom prst="rect">
            <a:avLst/>
          </a:prstGeom>
          <a:solidFill>
            <a:srgbClr val="0B927D"/>
          </a:solidFill>
          <a:ln w="12700">
            <a:solidFill>
              <a:srgbClr val="0B927D"/>
            </a:solidFill>
            <a:prstDash val="solid"/>
          </a:ln>
        </p:spPr>
        <p:txBody>
          <a:bodyPr/>
          <a:lstStyle/>
          <a:p>
            <a:endParaRPr/>
          </a:p>
        </p:txBody>
      </p:sp>
      <p:sp>
        <p:nvSpPr>
          <p:cNvPr id="19" name="Text 17">
            <a:extLst>
              <a:ext uri="{FF2B5EF4-FFF2-40B4-BE49-F238E27FC236}">
                <a16:creationId xmlns:a16="http://schemas.microsoft.com/office/drawing/2014/main" id="{191E5D05-6963-454B-B4D1-6D4361004EB4}"/>
              </a:ext>
            </a:extLst>
          </p:cNvPr>
          <p:cNvSpPr>
            <a:spLocks noGrp="1"/>
          </p:cNvSpPr>
          <p:nvPr/>
        </p:nvSpPr>
        <p:spPr>
          <a:xfrm>
            <a:off x="4736592" y="2555748"/>
            <a:ext cx="2697480" cy="164592"/>
          </a:xfrm>
          <a:prstGeom prst="rect">
            <a:avLst/>
          </a:prstGeom>
          <a:noFill/>
        </p:spPr>
        <p:txBody>
          <a:bodyPr wrap="square" lIns="0" tIns="0" rIns="0" bIns="0" anchor="ctr"/>
          <a:lstStyle/>
          <a:p>
            <a:pPr marL="0" indent="0" algn="l">
              <a:buNone/>
            </a:pPr>
            <a:r>
              <a:rPr lang="en-US" sz="1110" b="1" spc="67" dirty="0">
                <a:solidFill>
                  <a:srgbClr val="0B927D"/>
                </a:solidFill>
                <a:latin typeface="Inter"/>
              </a:rPr>
              <a:t>PARALLELISM &amp; SPECIALISATION</a:t>
            </a:r>
            <a:endParaRPr sz="1110" dirty="0"/>
          </a:p>
        </p:txBody>
      </p:sp>
      <p:sp>
        <p:nvSpPr>
          <p:cNvPr id="20" name="Text 18">
            <a:extLst>
              <a:ext uri="{FF2B5EF4-FFF2-40B4-BE49-F238E27FC236}">
                <a16:creationId xmlns:a16="http://schemas.microsoft.com/office/drawing/2014/main" id="{4497E5D0-A5DB-455B-AF86-260A6C243F7B}"/>
              </a:ext>
            </a:extLst>
          </p:cNvPr>
          <p:cNvSpPr>
            <a:spLocks noGrp="1"/>
          </p:cNvSpPr>
          <p:nvPr/>
        </p:nvSpPr>
        <p:spPr>
          <a:xfrm>
            <a:off x="4526280" y="2985516"/>
            <a:ext cx="3108960" cy="603504"/>
          </a:xfrm>
          <a:prstGeom prst="rect">
            <a:avLst/>
          </a:prstGeom>
          <a:noFill/>
        </p:spPr>
        <p:txBody>
          <a:bodyPr wrap="square" lIns="0" tIns="0" rIns="0" bIns="0" anchor="t"/>
          <a:lstStyle/>
          <a:p>
            <a:pPr marL="0" indent="0" algn="l">
              <a:buNone/>
            </a:pPr>
            <a:r>
              <a:rPr lang="en-US" sz="1500" dirty="0" err="1"/>
              <a:t>Parallelise</a:t>
            </a:r>
            <a:r>
              <a:rPr lang="en-US" sz="1500" dirty="0"/>
              <a:t> </a:t>
            </a:r>
            <a:r>
              <a:rPr lang="en-US" sz="1500" dirty="0" err="1"/>
              <a:t>specialised</a:t>
            </a:r>
            <a:r>
              <a:rPr lang="en-US" sz="1500" dirty="0"/>
              <a:t> agents.</a:t>
            </a:r>
            <a:endParaRPr sz="1500" dirty="0"/>
          </a:p>
        </p:txBody>
      </p:sp>
      <p:sp>
        <p:nvSpPr>
          <p:cNvPr id="21" name="Shape 19">
            <a:extLst>
              <a:ext uri="{FF2B5EF4-FFF2-40B4-BE49-F238E27FC236}">
                <a16:creationId xmlns:a16="http://schemas.microsoft.com/office/drawing/2014/main" id="{8EC9DFDF-95AF-47BE-AA5F-8BDA62F152AF}"/>
              </a:ext>
            </a:extLst>
          </p:cNvPr>
          <p:cNvSpPr>
            <a:spLocks noGrp="1"/>
          </p:cNvSpPr>
          <p:nvPr/>
        </p:nvSpPr>
        <p:spPr>
          <a:xfrm>
            <a:off x="8019288" y="2226563"/>
            <a:ext cx="3520440" cy="2600573"/>
          </a:xfrm>
          <a:prstGeom prst="roundRect">
            <a:avLst>
              <a:gd name="adj" fmla="val 10169"/>
            </a:avLst>
          </a:prstGeom>
          <a:solidFill>
            <a:srgbClr val="FFFFFF"/>
          </a:solidFill>
          <a:ln w="10160">
            <a:solidFill>
              <a:srgbClr val="E5EAF2"/>
            </a:solidFill>
            <a:prstDash val="solid"/>
          </a:ln>
        </p:spPr>
        <p:txBody>
          <a:bodyPr/>
          <a:lstStyle/>
          <a:p>
            <a:endParaRPr/>
          </a:p>
        </p:txBody>
      </p:sp>
      <p:sp>
        <p:nvSpPr>
          <p:cNvPr id="22" name="Shape 20">
            <a:extLst>
              <a:ext uri="{FF2B5EF4-FFF2-40B4-BE49-F238E27FC236}">
                <a16:creationId xmlns:a16="http://schemas.microsoft.com/office/drawing/2014/main" id="{8A125400-0E14-4924-B000-7FE493087CE8}"/>
              </a:ext>
            </a:extLst>
          </p:cNvPr>
          <p:cNvSpPr>
            <a:spLocks noGrp="1"/>
          </p:cNvSpPr>
          <p:nvPr/>
        </p:nvSpPr>
        <p:spPr>
          <a:xfrm>
            <a:off x="8220456" y="2528316"/>
            <a:ext cx="73152" cy="228600"/>
          </a:xfrm>
          <a:prstGeom prst="rect">
            <a:avLst/>
          </a:prstGeom>
          <a:solidFill>
            <a:srgbClr val="5253D7"/>
          </a:solidFill>
          <a:ln w="12700">
            <a:solidFill>
              <a:srgbClr val="5253D7"/>
            </a:solidFill>
            <a:prstDash val="solid"/>
          </a:ln>
        </p:spPr>
        <p:txBody>
          <a:bodyPr/>
          <a:lstStyle/>
          <a:p>
            <a:endParaRPr/>
          </a:p>
        </p:txBody>
      </p:sp>
      <p:sp>
        <p:nvSpPr>
          <p:cNvPr id="23" name="Text 21">
            <a:extLst>
              <a:ext uri="{FF2B5EF4-FFF2-40B4-BE49-F238E27FC236}">
                <a16:creationId xmlns:a16="http://schemas.microsoft.com/office/drawing/2014/main" id="{1F598256-E872-4A5E-9D65-8FC26F060026}"/>
              </a:ext>
            </a:extLst>
          </p:cNvPr>
          <p:cNvSpPr>
            <a:spLocks noGrp="1"/>
          </p:cNvSpPr>
          <p:nvPr/>
        </p:nvSpPr>
        <p:spPr>
          <a:xfrm>
            <a:off x="8430768" y="2555748"/>
            <a:ext cx="2697480" cy="164592"/>
          </a:xfrm>
          <a:prstGeom prst="rect">
            <a:avLst/>
          </a:prstGeom>
          <a:noFill/>
        </p:spPr>
        <p:txBody>
          <a:bodyPr wrap="square" lIns="0" tIns="0" rIns="0" bIns="0" anchor="ctr"/>
          <a:lstStyle/>
          <a:p>
            <a:pPr marL="0" indent="0" algn="l">
              <a:buNone/>
            </a:pPr>
            <a:r>
              <a:rPr lang="en-US" sz="1110" b="1" spc="67" dirty="0">
                <a:solidFill>
                  <a:srgbClr val="5253D7"/>
                </a:solidFill>
                <a:latin typeface="Inter"/>
                <a:ea typeface="Inter"/>
                <a:cs typeface="Inter"/>
              </a:rPr>
              <a:t>REPO-WIDE STANDARDS</a:t>
            </a:r>
            <a:endParaRPr sz="1110" dirty="0"/>
          </a:p>
        </p:txBody>
      </p:sp>
      <p:sp>
        <p:nvSpPr>
          <p:cNvPr id="24" name="Text 22">
            <a:extLst>
              <a:ext uri="{FF2B5EF4-FFF2-40B4-BE49-F238E27FC236}">
                <a16:creationId xmlns:a16="http://schemas.microsoft.com/office/drawing/2014/main" id="{9B2B3732-7E18-4D58-BCA7-585229D55563}"/>
              </a:ext>
            </a:extLst>
          </p:cNvPr>
          <p:cNvSpPr>
            <a:spLocks noGrp="1"/>
          </p:cNvSpPr>
          <p:nvPr/>
        </p:nvSpPr>
        <p:spPr>
          <a:xfrm>
            <a:off x="8220456" y="2985516"/>
            <a:ext cx="3108960" cy="603504"/>
          </a:xfrm>
          <a:prstGeom prst="rect">
            <a:avLst/>
          </a:prstGeom>
          <a:noFill/>
        </p:spPr>
        <p:txBody>
          <a:bodyPr wrap="square" lIns="0" tIns="0" rIns="0" bIns="0" anchor="t"/>
          <a:lstStyle/>
          <a:p>
            <a:pPr marL="0" indent="0" algn="l">
              <a:buNone/>
            </a:pPr>
            <a:r>
              <a:rPr lang="en-US" sz="1500" dirty="0">
                <a:solidFill>
                  <a:srgbClr val="172033"/>
                </a:solidFill>
                <a:latin typeface="Inter"/>
                <a:ea typeface="Inter"/>
                <a:cs typeface="Inter"/>
              </a:rPr>
              <a:t>Before implementation, establish a set of standards to be complied with during implementation.</a:t>
            </a:r>
            <a:endParaRPr sz="1500" dirty="0"/>
          </a:p>
        </p:txBody>
      </p:sp>
    </p:spTree>
    <p:extLst>
      <p:ext uri="{BB962C8B-B14F-4D97-AF65-F5344CB8AC3E}">
        <p14:creationId xmlns:p14="http://schemas.microsoft.com/office/powerpoint/2010/main" val="8865486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1059</Words>
  <Application>Microsoft Macintosh PowerPoint</Application>
  <DocSecurity>0</DocSecurity>
  <PresentationFormat>宽屏</PresentationFormat>
  <Paragraphs>179</Paragraphs>
  <Slides>8</Slides>
  <Notes>8</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8</vt:i4>
      </vt:variant>
    </vt:vector>
  </HeadingPairs>
  <TitlesOfParts>
    <vt:vector size="11" baseType="lpstr">
      <vt:lpstr>Inter</vt:lpstr>
      <vt:lpstr>Arial</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Bao Tim</cp:lastModifiedBy>
  <cp:revision>1</cp:revision>
  <dcterms:created xsi:type="dcterms:W3CDTF">2026-10-15T13:13:44Z</dcterms:created>
  <dcterms:modified xsi:type="dcterms:W3CDTF">2026-10-16T04:36:14Z</dcterms:modified>
</cp:coreProperties>
</file>