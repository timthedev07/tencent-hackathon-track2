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b8cc8c7adf4f64" /><Relationship Type="http://schemas.openxmlformats.org/officeDocument/2006/relationships/extended-properties" Target="/docProps/app.xml" Id="Rdcf9050b9079419c" /><Relationship Type="http://schemas.openxmlformats.org/officeDocument/2006/relationships/officeDocument" Target="/ppt/presentation.xml" Id="Rd30d360aec5b4618" /></Relationships>
</file>

<file path=ppt/presentation.xml><?xml version="1.0" encoding="utf-8"?>
<p:presentation xmlns:p="http://schemas.openxmlformats.org/presentationml/2006/main">
  <p:sldMasterIdLst>
    <p:sldMasterId xmlns:r="http://schemas.openxmlformats.org/officeDocument/2006/relationships" id="2147483648" r:id="R2681d3403d0d449d"/>
  </p:sldMasterIdLst>
  <p:notesMasterIdLst>
    <p:notesMasterId xmlns:r="http://schemas.openxmlformats.org/officeDocument/2006/relationships" r:id="Rc368ad008e3c415f"/>
  </p:notesMasterIdLst>
  <p:sldIdLst>
    <p:sldId xmlns:r="http://schemas.openxmlformats.org/officeDocument/2006/relationships" id="256" r:id="R44d0752932114c28"/>
    <p:sldId xmlns:r="http://schemas.openxmlformats.org/officeDocument/2006/relationships" id="257" r:id="R5079ea39ffe34add"/>
    <p:sldId xmlns:r="http://schemas.openxmlformats.org/officeDocument/2006/relationships" id="258" r:id="R8ba68149298847d9"/>
    <p:sldId xmlns:r="http://schemas.openxmlformats.org/officeDocument/2006/relationships" id="259" r:id="R39d0891ec1af4408"/>
    <p:sldId xmlns:r="http://schemas.openxmlformats.org/officeDocument/2006/relationships" id="260" r:id="Rce8ae4c5eec641d9"/>
    <p:sldId xmlns:r="http://schemas.openxmlformats.org/officeDocument/2006/relationships" id="261" r:id="R9bcf98f23c444b9b"/>
    <p:sldId xmlns:r="http://schemas.openxmlformats.org/officeDocument/2006/relationships" id="262" r:id="R17a867b20bbf4d5d"/>
    <p:sldId xmlns:r="http://schemas.openxmlformats.org/officeDocument/2006/relationships" id="263" r:id="Rc3109c0183b84b6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8bf9aecf884425" /><Relationship Type="http://schemas.openxmlformats.org/officeDocument/2006/relationships/slideMaster" Target="/ppt/slideMasters/slideMaster1.xml" Id="R2681d3403d0d449d" /><Relationship Type="http://schemas.openxmlformats.org/officeDocument/2006/relationships/notesMaster" Target="/ppt/notesMasters/notesMaster1.xml" Id="Rc368ad008e3c415f" /><Relationship Type="http://schemas.openxmlformats.org/officeDocument/2006/relationships/presProps" Target="/ppt/presProps.xml" Id="R8a272b9173444d95" /><Relationship Type="http://schemas.openxmlformats.org/officeDocument/2006/relationships/viewProps" Target="/ppt/viewProps.xml" Id="R33977320b1f34c55" /><Relationship Type="http://schemas.openxmlformats.org/officeDocument/2006/relationships/tableStyles" Target="/ppt/tableStyles.xml" Id="R80e8e6b60b634f16" /><Relationship Type="http://schemas.openxmlformats.org/officeDocument/2006/relationships/slide" Target="/ppt/slides/slide1.xml" Id="R44d0752932114c28" /><Relationship Type="http://schemas.openxmlformats.org/officeDocument/2006/relationships/slide" Target="/ppt/slides/slide2.xml" Id="R5079ea39ffe34add" /><Relationship Type="http://schemas.openxmlformats.org/officeDocument/2006/relationships/slide" Target="/ppt/slides/slide3.xml" Id="R8ba68149298847d9" /><Relationship Type="http://schemas.openxmlformats.org/officeDocument/2006/relationships/slide" Target="/ppt/slides/slide4.xml" Id="R39d0891ec1af4408" /><Relationship Type="http://schemas.openxmlformats.org/officeDocument/2006/relationships/slide" Target="/ppt/slides/slide5.xml" Id="Rce8ae4c5eec641d9" /><Relationship Type="http://schemas.openxmlformats.org/officeDocument/2006/relationships/slide" Target="/ppt/slides/slide6.xml" Id="R9bcf98f23c444b9b" /><Relationship Type="http://schemas.openxmlformats.org/officeDocument/2006/relationships/slide" Target="/ppt/slides/slide7.xml" Id="R17a867b20bbf4d5d" /><Relationship Type="http://schemas.openxmlformats.org/officeDocument/2006/relationships/slide" Target="/ppt/slides/slide8.xml" Id="Rc3109c0183b84b6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454ad73d7544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84a082af63e40fc" /><Relationship Type="http://schemas.openxmlformats.org/officeDocument/2006/relationships/notesMaster" Target="/ppt/notesMasters/notesMaster1.xml" Id="Rbee26876bcb241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269758050e4539" /><Relationship Type="http://schemas.openxmlformats.org/officeDocument/2006/relationships/notesMaster" Target="/ppt/notesMasters/notesMaster1.xml" Id="Rdcfc33cd49164d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31ae49ef48614e80" /><Relationship Type="http://schemas.openxmlformats.org/officeDocument/2006/relationships/notesMaster" Target="/ppt/notesMasters/notesMaster1.xml" Id="R2cabc68ffa8b47d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5ebf40f726e47e3" /><Relationship Type="http://schemas.openxmlformats.org/officeDocument/2006/relationships/notesMaster" Target="/ppt/notesMasters/notesMaster1.xml" Id="R90dc758093f2469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8aab331602468b" /><Relationship Type="http://schemas.openxmlformats.org/officeDocument/2006/relationships/notesMaster" Target="/ppt/notesMasters/notesMaster1.xml" Id="R9462342f33ff4cf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ec4683a70124a12" /><Relationship Type="http://schemas.openxmlformats.org/officeDocument/2006/relationships/notesMaster" Target="/ppt/notesMasters/notesMaster1.xml" Id="Rc025ba4d73594c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5b5681aaee504d96" /><Relationship Type="http://schemas.openxmlformats.org/officeDocument/2006/relationships/notesMaster" Target="/ppt/notesMasters/notesMaster1.xml" Id="R9798d871e663426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9a798af9c2e42c2" /><Relationship Type="http://schemas.openxmlformats.org/officeDocument/2006/relationships/notesMaster" Target="/ppt/notesMasters/notesMaster1.xml" Id="R4612eaa981de41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data_population_plan.md sections 2, 5, 6.1–6.8 and 9, plus the user-confirmed fact that Bob is not a member of #revocation-test. Ten refers to two Jira issues, three Confluence pages, three Slack channel/thread groups and two Drive documents, not individual Slack messages. This is the intended demonstration setup, not a freshly verified provider ACL report. Carol has a documented reader grant to the restricted Drive document. No shared-source grants for Carol are implied. The live walkthrough in deliverables/relay_5_minute_demo_script.md also covers the auth decision, restricted Drive comparison, private-channel denial, a context-verified injection check, revision propagation and compliance access. Static denial is not proof of immediate revocation. No permission changes are required. The optional Confluence revision edit changes content only. Prepared query results must be labelled as prepared.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63eb380e699413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6fba74cb9440ad" /><Relationship Type="http://schemas.openxmlformats.org/officeDocument/2006/relationships/slideLayout" Target="/ppt/slideLayouts/slideLayout1.xml" Id="R4706264edd794ff3"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06264edd794ff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0ee8f0089b34c3d" /><Relationship Type="http://schemas.openxmlformats.org/officeDocument/2006/relationships/notesSlide" Target="/ppt/notesSlides/notesSlide1.xml" Id="Rbc2b09f5af494e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19de708fc944743" /><Relationship Type="http://schemas.openxmlformats.org/officeDocument/2006/relationships/notesSlide" Target="/ppt/notesSlides/notesSlide2.xml" Id="R9adafa6ef34a41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fa5413208964726" /><Relationship Type="http://schemas.openxmlformats.org/officeDocument/2006/relationships/notesSlide" Target="/ppt/notesSlides/notesSlide3.xml" Id="Rff793ef080f741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23728dca80426a" /><Relationship Type="http://schemas.openxmlformats.org/officeDocument/2006/relationships/notesSlide" Target="/ppt/notesSlides/notesSlide4.xml" Id="R4a0db3b3b39f49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5bf26d11a54035" /><Relationship Type="http://schemas.openxmlformats.org/officeDocument/2006/relationships/notesSlide" Target="/ppt/notesSlides/notesSlide5.xml" Id="R4805bb275faf4d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9fe540a7d14b34" /><Relationship Type="http://schemas.openxmlformats.org/officeDocument/2006/relationships/notesSlide" Target="/ppt/notesSlides/notesSlide6.xml" Id="Rac10f65ddd3f451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0aaf707b85493a" /><Relationship Type="http://schemas.openxmlformats.org/officeDocument/2006/relationships/notesSlide" Target="/ppt/notesSlides/notesSlide7.xml" Id="R5806194187ab43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8625a95e974e5c" /><Relationship Type="http://schemas.openxmlformats.org/officeDocument/2006/relationships/notesSlide" Target="/ppt/notesSlides/notesSlide8.xml" Id="Rda39c92b66c5483b" /></Relationships>
</file>

<file path=ppt/slides/slide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1A3B8B6-5CD2-4C8D-AFE2-538B10F4015A}"/>
              </a:ext>
            </a:extLst>
          </p:cNvPr>
          <p:cNvSpPr>
            <a:spLocks xmlns:a="http://schemas.openxmlformats.org/drawingml/2006/main" noGrp="1"/>
          </p:cNvSpPr>
          <p:nvPr/>
        </p:nvSpPr>
        <p:spPr>
          <a:xfrm xmlns:a="http://schemas.openxmlformats.org/drawingml/2006/main">
            <a:off x="0" y="0"/>
            <a:ext cx="12192000" cy="64008"/>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532EBC2C-7AA6-463B-88E7-EE6F02803D1E}"/>
              </a:ext>
            </a:extLst>
          </p:cNvPr>
          <p:cNvSpPr>
            <a:spLocks xmlns:a="http://schemas.openxmlformats.org/drawingml/2006/main" noGrp="1"/>
          </p:cNvSpPr>
          <p:nvPr/>
        </p:nvSpPr>
        <p:spPr>
          <a:xfrm xmlns:a="http://schemas.openxmlformats.org/drawingml/2006/main">
            <a:off x="667512" y="557784"/>
            <a:ext cx="356616" cy="356616"/>
          </a:xfrm>
          <a:prstGeom xmlns:a="http://schemas.openxmlformats.org/drawingml/2006/main" prst="roundRect">
            <a:avLst>
              <a:gd name="adj" fmla="val 25641"/>
            </a:avLst>
          </a:prstGeom>
          <a:solidFill xmlns:a="http://schemas.openxmlformats.org/drawingml/2006/main">
            <a:srgbClr val="5253D7"/>
          </a:solidFill>
          <a:ln xmlns:a="http://schemas.openxmlformats.org/drawingml/2006/main" w="1016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Shape 2">
            <a:extLst xmlns:a="http://schemas.openxmlformats.org/drawingml/2006/main">
              <a:ext uri="{FF2B5EF4-FFF2-40B4-BE49-F238E27FC236}">
                <a16:creationId xmlns:a16="http://schemas.microsoft.com/office/drawing/2014/main" id="{6769B565-8D54-4D03-8188-7F8429A556B5}"/>
              </a:ext>
            </a:extLst>
          </p:cNvPr>
          <p:cNvSpPr>
            <a:spLocks xmlns:a="http://schemas.openxmlformats.org/drawingml/2006/main" noGrp="1"/>
          </p:cNvSpPr>
          <p:nvPr/>
        </p:nvSpPr>
        <p:spPr>
          <a:xfrm xmlns:a="http://schemas.openxmlformats.org/drawingml/2006/main">
            <a:off x="763524" y="643738"/>
            <a:ext cx="91440" cy="91440"/>
          </a:xfrm>
          <a:prstGeom xmlns:a="http://schemas.openxmlformats.org/drawingml/2006/main" prst="ellipse">
            <a:avLst/>
          </a:prstGeom>
          <a:solidFill xmlns:a="http://schemas.openxmlformats.org/drawingml/2006/main">
            <a:srgbClr val="FFFFFF"/>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106DC2A1-1161-4994-AC1E-5BEFEC51FD3E}"/>
              </a:ext>
            </a:extLst>
          </p:cNvPr>
          <p:cNvSpPr>
            <a:spLocks xmlns:a="http://schemas.openxmlformats.org/drawingml/2006/main" noGrp="1"/>
          </p:cNvSpPr>
          <p:nvPr/>
        </p:nvSpPr>
        <p:spPr>
          <a:xfrm xmlns:a="http://schemas.openxmlformats.org/drawingml/2006/main">
            <a:off x="918972" y="643738"/>
            <a:ext cx="50292" cy="50292"/>
          </a:xfrm>
          <a:prstGeom xmlns:a="http://schemas.openxmlformats.org/drawingml/2006/main" prst="ellipse">
            <a:avLst/>
          </a:prstGeom>
          <a:solidFill xmlns:a="http://schemas.openxmlformats.org/drawingml/2006/main">
            <a:srgbClr val="FFFFFF"/>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Text 4">
            <a:extLst xmlns:a="http://schemas.openxmlformats.org/drawingml/2006/main">
              <a:ext uri="{FF2B5EF4-FFF2-40B4-BE49-F238E27FC236}">
                <a16:creationId xmlns:a16="http://schemas.microsoft.com/office/drawing/2014/main" id="{5A3C3485-10FC-429B-B4FD-E49FDD9EEA63}"/>
              </a:ext>
            </a:extLst>
          </p:cNvPr>
          <p:cNvSpPr>
            <a:spLocks xmlns:a="http://schemas.openxmlformats.org/drawingml/2006/main" noGrp="1"/>
          </p:cNvSpPr>
          <p:nvPr/>
        </p:nvSpPr>
        <p:spPr>
          <a:xfrm xmlns:a="http://schemas.openxmlformats.org/drawingml/2006/main">
            <a:off x="1133856" y="566928"/>
            <a:ext cx="146304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200" b="1">
                <a:solidFill>
                  <a:srgbClr val="121B31"/>
                </a:solidFill>
                <a:latin typeface="Inter"/>
                <a:ea typeface="Inter"/>
                <a:cs typeface="Inter"/>
              </a:rPr>
              <a:t>relay</a:t>
            </a:r>
            <a:endParaRPr sz="2200"/>
          </a:p>
        </p:txBody>
      </p:sp>
      <p:sp>
        <p:nvSpPr>
          <p:cNvPr id="7" name="Shape 5">
            <a:extLst xmlns:a="http://schemas.openxmlformats.org/drawingml/2006/main">
              <a:ext uri="{FF2B5EF4-FFF2-40B4-BE49-F238E27FC236}">
                <a16:creationId xmlns:a16="http://schemas.microsoft.com/office/drawing/2014/main" id="{7E2B9D91-388B-4C87-B2A3-E9E12D0EFAC9}"/>
              </a:ext>
            </a:extLst>
          </p:cNvPr>
          <p:cNvSpPr>
            <a:spLocks xmlns:a="http://schemas.openxmlformats.org/drawingml/2006/main" noGrp="1"/>
          </p:cNvSpPr>
          <p:nvPr/>
        </p:nvSpPr>
        <p:spPr>
          <a:xfrm xmlns:a="http://schemas.openxmlformats.org/drawingml/2006/main">
            <a:off x="9144000" y="603504"/>
            <a:ext cx="2313432" cy="320040"/>
          </a:xfrm>
          <a:prstGeom xmlns:a="http://schemas.openxmlformats.org/drawingml/2006/main" prst="roundRect">
            <a:avLst>
              <a:gd name="adj" fmla="val 37143"/>
            </a:avLst>
          </a:prstGeom>
          <a:solidFill xmlns:a="http://schemas.openxmlformats.org/drawingml/2006/main">
            <a:srgbClr val="EFF0FF"/>
          </a:solidFill>
          <a:ln xmlns:a="http://schemas.openxmlformats.org/drawingml/2006/main" w="1016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A6CA18B2-1FC1-454F-9781-DCFE00FD9EA0}"/>
              </a:ext>
            </a:extLst>
          </p:cNvPr>
          <p:cNvSpPr>
            <a:spLocks xmlns:a="http://schemas.openxmlformats.org/drawingml/2006/main" noGrp="1"/>
          </p:cNvSpPr>
          <p:nvPr/>
        </p:nvSpPr>
        <p:spPr>
          <a:xfrm xmlns:a="http://schemas.openxmlformats.org/drawingml/2006/main">
            <a:off x="9235440" y="617220"/>
            <a:ext cx="213055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70" b="1">
                <a:solidFill>
                  <a:srgbClr val="5253D7"/>
                </a:solidFill>
                <a:latin typeface="Inter"/>
                <a:ea typeface="Inter"/>
                <a:cs typeface="Inter"/>
              </a:rPr>
              <a:t>TENCENT HACKATHON</a:t>
            </a:r>
            <a:endParaRPr sz="1070"/>
          </a:p>
        </p:txBody>
      </p:sp>
      <p:sp>
        <p:nvSpPr>
          <p:cNvPr id="9" name="Text 7">
            <a:extLst xmlns:a="http://schemas.openxmlformats.org/drawingml/2006/main">
              <a:ext uri="{FF2B5EF4-FFF2-40B4-BE49-F238E27FC236}">
                <a16:creationId xmlns:a16="http://schemas.microsoft.com/office/drawing/2014/main" id="{2FE3BC43-9717-4B18-8AF7-38A1631AF00D}"/>
              </a:ext>
            </a:extLst>
          </p:cNvPr>
          <p:cNvSpPr>
            <a:spLocks xmlns:a="http://schemas.openxmlformats.org/drawingml/2006/main" noGrp="1"/>
          </p:cNvSpPr>
          <p:nvPr/>
        </p:nvSpPr>
        <p:spPr>
          <a:xfrm xmlns:a="http://schemas.openxmlformats.org/drawingml/2006/main">
            <a:off x="749808" y="1481328"/>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0B927D"/>
                </a:solidFill>
                <a:latin typeface="Inter"/>
                <a:ea typeface="Inter"/>
                <a:cs typeface="Inter"/>
              </a:rPr>
              <a:t>SECURE ANSWERS. SOURCE PERMISSIONS.</a:t>
            </a:r>
            <a:endParaRPr sz="1010"/>
          </a:p>
        </p:txBody>
      </p:sp>
      <p:sp>
        <p:nvSpPr>
          <p:cNvPr id="10" name="Text 8">
            <a:extLst xmlns:a="http://schemas.openxmlformats.org/drawingml/2006/main">
              <a:ext uri="{FF2B5EF4-FFF2-40B4-BE49-F238E27FC236}">
                <a16:creationId xmlns:a16="http://schemas.microsoft.com/office/drawing/2014/main" id="{01D4AE6A-C79B-4621-9C41-75040F72FD5E}"/>
              </a:ext>
            </a:extLst>
          </p:cNvPr>
          <p:cNvSpPr>
            <a:spLocks xmlns:a="http://schemas.openxmlformats.org/drawingml/2006/main" noGrp="1"/>
          </p:cNvSpPr>
          <p:nvPr/>
        </p:nvSpPr>
        <p:spPr>
          <a:xfrm xmlns:a="http://schemas.openxmlformats.org/drawingml/2006/main">
            <a:off x="722376" y="1901952"/>
            <a:ext cx="68580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buNone/>
            </a:pPr>
            <a:r>
              <a:rPr sz="3850" b="1">
                <a:solidFill>
                  <a:srgbClr val="172033"/>
                </a:solidFill>
                <a:latin typeface="Inter"/>
                <a:ea typeface="Inter"/>
                <a:cs typeface="Inter"/>
              </a:rPr>
              <a:t>Permission-safe answers</a:t>
            </a:r>
            <a:endParaRPr sz="3850"/>
          </a:p>
          <a:p xmlns:a="http://schemas.openxmlformats.org/drawingml/2006/main">
            <a:pPr marL="0" indent="0" algn="l">
              <a:lnSpc>
                <a:spcPct val="105000"/>
              </a:lnSpc>
              <a:buNone/>
            </a:pPr>
            <a:r>
              <a:rPr sz="3850" b="1">
                <a:solidFill>
                  <a:srgbClr val="172033"/>
                </a:solidFill>
                <a:latin typeface="Inter"/>
                <a:ea typeface="Inter"/>
                <a:cs typeface="Inter"/>
              </a:rPr>
              <a:t>across the enterprise</a:t>
            </a:r>
            <a:endParaRPr sz="3850"/>
          </a:p>
        </p:txBody>
      </p:sp>
      <p:sp>
        <p:nvSpPr>
          <p:cNvPr id="11" name="Shape 9">
            <a:extLst xmlns:a="http://schemas.openxmlformats.org/drawingml/2006/main">
              <a:ext uri="{FF2B5EF4-FFF2-40B4-BE49-F238E27FC236}">
                <a16:creationId xmlns:a16="http://schemas.microsoft.com/office/drawing/2014/main" id="{241932E3-87E9-49E0-BAB8-D77BC1FAB983}"/>
              </a:ext>
            </a:extLst>
          </p:cNvPr>
          <p:cNvSpPr>
            <a:spLocks xmlns:a="http://schemas.openxmlformats.org/drawingml/2006/main" noGrp="1"/>
          </p:cNvSpPr>
          <p:nvPr/>
        </p:nvSpPr>
        <p:spPr>
          <a:xfrm xmlns:a="http://schemas.openxmlformats.org/drawingml/2006/main">
            <a:off x="758952" y="3657600"/>
            <a:ext cx="676656" cy="68580"/>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38393FED-15C4-4D69-9654-C2D1AC2F812B}"/>
              </a:ext>
            </a:extLst>
          </p:cNvPr>
          <p:cNvSpPr>
            <a:spLocks xmlns:a="http://schemas.openxmlformats.org/drawingml/2006/main" noGrp="1"/>
          </p:cNvSpPr>
          <p:nvPr/>
        </p:nvSpPr>
        <p:spPr>
          <a:xfrm xmlns:a="http://schemas.openxmlformats.org/drawingml/2006/main">
            <a:off x="749808" y="3931920"/>
            <a:ext cx="6355080" cy="3749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880" b="1">
                <a:solidFill>
                  <a:srgbClr val="172033"/>
                </a:solidFill>
                <a:latin typeface="Inter"/>
                <a:ea typeface="Inter"/>
                <a:cs typeface="Inter"/>
              </a:rPr>
              <a:t>A five-minute project demo</a:t>
            </a:r>
            <a:endParaRPr sz="1880"/>
          </a:p>
        </p:txBody>
      </p:sp>
      <p:sp>
        <p:nvSpPr>
          <p:cNvPr id="13" name="Text 11">
            <a:extLst xmlns:a="http://schemas.openxmlformats.org/drawingml/2006/main">
              <a:ext uri="{FF2B5EF4-FFF2-40B4-BE49-F238E27FC236}">
                <a16:creationId xmlns:a16="http://schemas.microsoft.com/office/drawing/2014/main" id="{E41BB61F-5A5D-498A-9237-4D83CE1C4E9F}"/>
              </a:ext>
            </a:extLst>
          </p:cNvPr>
          <p:cNvSpPr>
            <a:spLocks xmlns:a="http://schemas.openxmlformats.org/drawingml/2006/main" noGrp="1"/>
          </p:cNvSpPr>
          <p:nvPr/>
        </p:nvSpPr>
        <p:spPr>
          <a:xfrm xmlns:a="http://schemas.openxmlformats.org/drawingml/2006/main">
            <a:off x="749808" y="4498848"/>
            <a:ext cx="61722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720">
                <a:solidFill>
                  <a:srgbClr val="667085"/>
                </a:solidFill>
                <a:latin typeface="Inter"/>
                <a:ea typeface="Inter"/>
                <a:cs typeface="Inter"/>
              </a:rPr>
              <a:t>Cross-platform retrieval with live access checks, grounded citations and a tamper-evident audit trail.</a:t>
            </a:r>
            <a:endParaRPr sz="1720"/>
          </a:p>
        </p:txBody>
      </p:sp>
      <p:sp>
        <p:nvSpPr>
          <p:cNvPr id="14" name="Shape 12">
            <a:extLst xmlns:a="http://schemas.openxmlformats.org/drawingml/2006/main">
              <a:ext uri="{FF2B5EF4-FFF2-40B4-BE49-F238E27FC236}">
                <a16:creationId xmlns:a16="http://schemas.microsoft.com/office/drawing/2014/main" id="{A785F356-00AB-403C-A391-0C9EEE9AFB0D}"/>
              </a:ext>
            </a:extLst>
          </p:cNvPr>
          <p:cNvSpPr>
            <a:spLocks xmlns:a="http://schemas.openxmlformats.org/drawingml/2006/main" noGrp="1"/>
          </p:cNvSpPr>
          <p:nvPr/>
        </p:nvSpPr>
        <p:spPr>
          <a:xfrm xmlns:a="http://schemas.openxmlformats.org/drawingml/2006/main">
            <a:off x="7818120" y="1536192"/>
            <a:ext cx="3639312" cy="3931920"/>
          </a:xfrm>
          <a:prstGeom xmlns:a="http://schemas.openxmlformats.org/drawingml/2006/main" prst="roundRect">
            <a:avLst>
              <a:gd name="adj" fmla="val 6030"/>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Shape 13">
            <a:extLst xmlns:a="http://schemas.openxmlformats.org/drawingml/2006/main">
              <a:ext uri="{FF2B5EF4-FFF2-40B4-BE49-F238E27FC236}">
                <a16:creationId xmlns:a16="http://schemas.microsoft.com/office/drawing/2014/main" id="{C3A299F5-C132-44C4-9323-B8FDC35008FB}"/>
              </a:ext>
            </a:extLst>
          </p:cNvPr>
          <p:cNvSpPr>
            <a:spLocks xmlns:a="http://schemas.openxmlformats.org/drawingml/2006/main" noGrp="1"/>
          </p:cNvSpPr>
          <p:nvPr/>
        </p:nvSpPr>
        <p:spPr>
          <a:xfrm xmlns:a="http://schemas.openxmlformats.org/drawingml/2006/main">
            <a:off x="8119872" y="1828800"/>
            <a:ext cx="3035808" cy="466344"/>
          </a:xfrm>
          <a:prstGeom xmlns:a="http://schemas.openxmlformats.org/drawingml/2006/main" prst="roundRect">
            <a:avLst>
              <a:gd name="adj" fmla="val 33333"/>
            </a:avLst>
          </a:prstGeom>
          <a:solidFill xmlns:a="http://schemas.openxmlformats.org/drawingml/2006/main">
            <a:srgbClr val="ECF9F5"/>
          </a:solidFill>
          <a:ln xmlns:a="http://schemas.openxmlformats.org/drawingml/2006/main" w="10160">
            <a:solidFill>
              <a:srgbClr val="ECF9F5"/>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A80E9B5C-E79F-453E-A3FC-1DC768FA779A}"/>
              </a:ext>
            </a:extLst>
          </p:cNvPr>
          <p:cNvSpPr>
            <a:spLocks xmlns:a="http://schemas.openxmlformats.org/drawingml/2006/main" noGrp="1"/>
          </p:cNvSpPr>
          <p:nvPr/>
        </p:nvSpPr>
        <p:spPr>
          <a:xfrm xmlns:a="http://schemas.openxmlformats.org/drawingml/2006/main">
            <a:off x="8284464" y="1965960"/>
            <a:ext cx="118872" cy="118872"/>
          </a:xfrm>
          <a:prstGeom xmlns:a="http://schemas.openxmlformats.org/drawingml/2006/main" prst="ellipse">
            <a:avLst/>
          </a:prstGeom>
          <a:solidFill xmlns:a="http://schemas.openxmlformats.org/drawingml/2006/main">
            <a:srgbClr val="0B927D"/>
          </a:solidFill>
          <a:ln xmlns:a="http://schemas.openxmlformats.org/drawingml/2006/main" w="12700">
            <a:solidFill>
              <a:srgbClr val="0B927D"/>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AC4F2D17-99FB-420B-915B-0C96B634FD6A}"/>
              </a:ext>
            </a:extLst>
          </p:cNvPr>
          <p:cNvSpPr>
            <a:spLocks xmlns:a="http://schemas.openxmlformats.org/drawingml/2006/main" noGrp="1"/>
          </p:cNvSpPr>
          <p:nvPr/>
        </p:nvSpPr>
        <p:spPr>
          <a:xfrm xmlns:a="http://schemas.openxmlformats.org/drawingml/2006/main">
            <a:off x="8522208" y="1947672"/>
            <a:ext cx="2340864"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30" b="1" spc="65">
                <a:solidFill>
                  <a:srgbClr val="0B927D"/>
                </a:solidFill>
                <a:latin typeface="Inter"/>
                <a:ea typeface="Inter"/>
                <a:cs typeface="Inter"/>
              </a:rPr>
              <a:t>SECURE RETRIEVAL ACTIVE</a:t>
            </a:r>
            <a:endParaRPr sz="1130"/>
          </a:p>
        </p:txBody>
      </p:sp>
      <p:sp>
        <p:nvSpPr>
          <p:cNvPr id="18" name="Text 16">
            <a:extLst xmlns:a="http://schemas.openxmlformats.org/drawingml/2006/main">
              <a:ext uri="{FF2B5EF4-FFF2-40B4-BE49-F238E27FC236}">
                <a16:creationId xmlns:a16="http://schemas.microsoft.com/office/drawing/2014/main" id="{B2EBDA91-3026-42D3-B816-AD2D1E6243C1}"/>
              </a:ext>
            </a:extLst>
          </p:cNvPr>
          <p:cNvSpPr>
            <a:spLocks xmlns:a="http://schemas.openxmlformats.org/drawingml/2006/main" noGrp="1"/>
          </p:cNvSpPr>
          <p:nvPr/>
        </p:nvSpPr>
        <p:spPr>
          <a:xfrm xmlns:a="http://schemas.openxmlformats.org/drawingml/2006/main">
            <a:off x="8183880" y="2587752"/>
            <a:ext cx="2816352" cy="15179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2400" b="1">
                <a:solidFill>
                  <a:srgbClr val="172033"/>
                </a:solidFill>
                <a:latin typeface="Inter"/>
                <a:ea typeface="Inter"/>
                <a:cs typeface="Inter"/>
              </a:rPr>
              <a:t>Answers only use content the asking user can access.</a:t>
            </a:r>
            <a:endParaRPr sz="2400"/>
          </a:p>
        </p:txBody>
      </p:sp>
      <p:sp>
        <p:nvSpPr>
          <p:cNvPr id="19" name="Shape 17">
            <a:extLst xmlns:a="http://schemas.openxmlformats.org/drawingml/2006/main">
              <a:ext uri="{FF2B5EF4-FFF2-40B4-BE49-F238E27FC236}">
                <a16:creationId xmlns:a16="http://schemas.microsoft.com/office/drawing/2014/main" id="{F0A02809-E7BC-4862-8EC6-310D32D77DD2}"/>
              </a:ext>
            </a:extLst>
          </p:cNvPr>
          <p:cNvSpPr>
            <a:spLocks xmlns:a="http://schemas.openxmlformats.org/drawingml/2006/main" noGrp="1"/>
          </p:cNvSpPr>
          <p:nvPr/>
        </p:nvSpPr>
        <p:spPr>
          <a:xfrm xmlns:a="http://schemas.openxmlformats.org/drawingml/2006/main">
            <a:off x="8183880" y="4443984"/>
            <a:ext cx="2807208" cy="0"/>
          </a:xfrm>
          <a:prstGeom xmlns:a="http://schemas.openxmlformats.org/drawingml/2006/main" prst="line">
            <a:avLst/>
          </a:prstGeom>
          <a:noFill xmlns:a="http://schemas.openxmlformats.org/drawingml/2006/main"/>
          <a:ln xmlns:a="http://schemas.openxmlformats.org/drawingml/2006/main" w="1270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07AC56A1-9D41-4944-ABD2-AB99BABB24B1}"/>
              </a:ext>
            </a:extLst>
          </p:cNvPr>
          <p:cNvSpPr>
            <a:spLocks xmlns:a="http://schemas.openxmlformats.org/drawingml/2006/main" noGrp="1"/>
          </p:cNvSpPr>
          <p:nvPr/>
        </p:nvSpPr>
        <p:spPr>
          <a:xfrm xmlns:a="http://schemas.openxmlformats.org/drawingml/2006/main">
            <a:off x="8183880" y="4617720"/>
            <a:ext cx="2834640" cy="49377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667085"/>
                </a:solidFill>
                <a:latin typeface="Inter"/>
                <a:ea typeface="Inter"/>
                <a:cs typeface="Inter"/>
              </a:rPr>
              <a:t>Sources remain the source of truth.</a:t>
            </a:r>
            <a:endParaRPr sz="1500"/>
          </a:p>
        </p:txBody>
      </p:sp>
      <p:sp>
        <p:nvSpPr>
          <p:cNvPr id="21" name="Shape 19">
            <a:extLst xmlns:a="http://schemas.openxmlformats.org/drawingml/2006/main">
              <a:ext uri="{FF2B5EF4-FFF2-40B4-BE49-F238E27FC236}">
                <a16:creationId xmlns:a16="http://schemas.microsoft.com/office/drawing/2014/main" id="{A770715B-A22E-4E23-AEDE-637737507259}"/>
              </a:ext>
            </a:extLst>
          </p:cNvPr>
          <p:cNvSpPr>
            <a:spLocks xmlns:a="http://schemas.openxmlformats.org/drawingml/2006/main" noGrp="1"/>
          </p:cNvSpPr>
          <p:nvPr/>
        </p:nvSpPr>
        <p:spPr>
          <a:xfrm xmlns:a="http://schemas.openxmlformats.org/drawingml/2006/main">
            <a:off x="749808" y="5971032"/>
            <a:ext cx="10707624" cy="0"/>
          </a:xfrm>
          <a:prstGeom xmlns:a="http://schemas.openxmlformats.org/drawingml/2006/main" prst="line">
            <a:avLst/>
          </a:prstGeom>
          <a:noFill xmlns:a="http://schemas.openxmlformats.org/drawingml/2006/main"/>
          <a:ln xmlns:a="http://schemas.openxmlformats.org/drawingml/2006/main" w="1270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396B6182-241A-474B-9D0F-A0B63A75F919}"/>
              </a:ext>
            </a:extLst>
          </p:cNvPr>
          <p:cNvSpPr>
            <a:spLocks xmlns:a="http://schemas.openxmlformats.org/drawingml/2006/main" noGrp="1"/>
          </p:cNvSpPr>
          <p:nvPr/>
        </p:nvSpPr>
        <p:spPr>
          <a:xfrm xmlns:a="http://schemas.openxmlformats.org/drawingml/2006/main">
            <a:off x="749808" y="6144768"/>
            <a:ext cx="139903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b="1" spc="70">
                <a:solidFill>
                  <a:srgbClr val="667085"/>
                </a:solidFill>
                <a:latin typeface="Inter"/>
                <a:ea typeface="Inter"/>
                <a:cs typeface="Inter"/>
              </a:rPr>
              <a:t>CONFLUENCE</a:t>
            </a:r>
            <a:endParaRPr sz="1050"/>
          </a:p>
        </p:txBody>
      </p:sp>
      <p:sp>
        <p:nvSpPr>
          <p:cNvPr id="23" name="Shape 21">
            <a:extLst xmlns:a="http://schemas.openxmlformats.org/drawingml/2006/main">
              <a:ext uri="{FF2B5EF4-FFF2-40B4-BE49-F238E27FC236}">
                <a16:creationId xmlns:a16="http://schemas.microsoft.com/office/drawing/2014/main" id="{CF71E312-4A18-428C-878E-F53F07F0AD20}"/>
              </a:ext>
            </a:extLst>
          </p:cNvPr>
          <p:cNvSpPr>
            <a:spLocks xmlns:a="http://schemas.openxmlformats.org/drawingml/2006/main" noGrp="1"/>
          </p:cNvSpPr>
          <p:nvPr/>
        </p:nvSpPr>
        <p:spPr>
          <a:xfrm xmlns:a="http://schemas.openxmlformats.org/drawingml/2006/main">
            <a:off x="2350008" y="6190488"/>
            <a:ext cx="64008" cy="64008"/>
          </a:xfrm>
          <a:prstGeom xmlns:a="http://schemas.openxmlformats.org/drawingml/2006/main" prst="ellipse">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A8168CD7-D694-4B19-99EF-63037A3CBC58}"/>
              </a:ext>
            </a:extLst>
          </p:cNvPr>
          <p:cNvSpPr>
            <a:spLocks xmlns:a="http://schemas.openxmlformats.org/drawingml/2006/main" noGrp="1"/>
          </p:cNvSpPr>
          <p:nvPr/>
        </p:nvSpPr>
        <p:spPr>
          <a:xfrm xmlns:a="http://schemas.openxmlformats.org/drawingml/2006/main">
            <a:off x="2569464" y="6144768"/>
            <a:ext cx="667512"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b="1" spc="70">
                <a:solidFill>
                  <a:srgbClr val="667085"/>
                </a:solidFill>
                <a:latin typeface="Inter"/>
                <a:ea typeface="Inter"/>
                <a:cs typeface="Inter"/>
              </a:rPr>
              <a:t>JIRA</a:t>
            </a:r>
            <a:endParaRPr sz="1050"/>
          </a:p>
        </p:txBody>
      </p:sp>
      <p:sp>
        <p:nvSpPr>
          <p:cNvPr id="25" name="Shape 23">
            <a:extLst xmlns:a="http://schemas.openxmlformats.org/drawingml/2006/main">
              <a:ext uri="{FF2B5EF4-FFF2-40B4-BE49-F238E27FC236}">
                <a16:creationId xmlns:a16="http://schemas.microsoft.com/office/drawing/2014/main" id="{845979D7-55C9-48CB-8A05-7742107C928C}"/>
              </a:ext>
            </a:extLst>
          </p:cNvPr>
          <p:cNvSpPr>
            <a:spLocks xmlns:a="http://schemas.openxmlformats.org/drawingml/2006/main" noGrp="1"/>
          </p:cNvSpPr>
          <p:nvPr/>
        </p:nvSpPr>
        <p:spPr>
          <a:xfrm xmlns:a="http://schemas.openxmlformats.org/drawingml/2006/main">
            <a:off x="3383280" y="6190488"/>
            <a:ext cx="64008" cy="64008"/>
          </a:xfrm>
          <a:prstGeom xmlns:a="http://schemas.openxmlformats.org/drawingml/2006/main" prst="ellipse">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B24270B1-EAFF-4037-9B48-812D146F887C}"/>
              </a:ext>
            </a:extLst>
          </p:cNvPr>
          <p:cNvSpPr>
            <a:spLocks xmlns:a="http://schemas.openxmlformats.org/drawingml/2006/main" noGrp="1"/>
          </p:cNvSpPr>
          <p:nvPr/>
        </p:nvSpPr>
        <p:spPr>
          <a:xfrm xmlns:a="http://schemas.openxmlformats.org/drawingml/2006/main">
            <a:off x="3602736" y="6144768"/>
            <a:ext cx="81381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b="1" spc="70">
                <a:solidFill>
                  <a:srgbClr val="667085"/>
                </a:solidFill>
                <a:latin typeface="Inter"/>
                <a:ea typeface="Inter"/>
                <a:cs typeface="Inter"/>
              </a:rPr>
              <a:t>SLACK</a:t>
            </a:r>
            <a:endParaRPr sz="1050"/>
          </a:p>
        </p:txBody>
      </p:sp>
      <p:sp>
        <p:nvSpPr>
          <p:cNvPr id="27" name="Shape 25">
            <a:extLst xmlns:a="http://schemas.openxmlformats.org/drawingml/2006/main">
              <a:ext uri="{FF2B5EF4-FFF2-40B4-BE49-F238E27FC236}">
                <a16:creationId xmlns:a16="http://schemas.microsoft.com/office/drawing/2014/main" id="{F397E133-F847-488B-92D4-2BC61628EA8B}"/>
              </a:ext>
            </a:extLst>
          </p:cNvPr>
          <p:cNvSpPr>
            <a:spLocks xmlns:a="http://schemas.openxmlformats.org/drawingml/2006/main" noGrp="1"/>
          </p:cNvSpPr>
          <p:nvPr/>
        </p:nvSpPr>
        <p:spPr>
          <a:xfrm xmlns:a="http://schemas.openxmlformats.org/drawingml/2006/main">
            <a:off x="4617720" y="6190488"/>
            <a:ext cx="64008" cy="64008"/>
          </a:xfrm>
          <a:prstGeom xmlns:a="http://schemas.openxmlformats.org/drawingml/2006/main" prst="ellipse">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F3FAEC05-D9B0-4916-B786-72FB5EB75F77}"/>
              </a:ext>
            </a:extLst>
          </p:cNvPr>
          <p:cNvSpPr>
            <a:spLocks xmlns:a="http://schemas.openxmlformats.org/drawingml/2006/main" noGrp="1"/>
          </p:cNvSpPr>
          <p:nvPr/>
        </p:nvSpPr>
        <p:spPr>
          <a:xfrm xmlns:a="http://schemas.openxmlformats.org/drawingml/2006/main">
            <a:off x="4837176" y="6144768"/>
            <a:ext cx="1545336"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50" b="1" spc="70">
                <a:solidFill>
                  <a:srgbClr val="667085"/>
                </a:solidFill>
                <a:latin typeface="Inter"/>
                <a:ea typeface="Inter"/>
                <a:cs typeface="Inter"/>
              </a:rPr>
              <a:t>GOOGLE DRIVE</a:t>
            </a:r>
            <a:endParaRPr sz="1050"/>
          </a:p>
        </p:txBody>
      </p:sp>
      <p:sp>
        <p:nvSpPr>
          <p:cNvPr id="29" name="Text 27">
            <a:extLst xmlns:a="http://schemas.openxmlformats.org/drawingml/2006/main">
              <a:ext uri="{FF2B5EF4-FFF2-40B4-BE49-F238E27FC236}">
                <a16:creationId xmlns:a16="http://schemas.microsoft.com/office/drawing/2014/main" id="{063B433F-F0D3-4D13-8553-42A6F8051604}"/>
              </a:ext>
            </a:extLst>
          </p:cNvPr>
          <p:cNvSpPr>
            <a:spLocks xmlns:a="http://schemas.openxmlformats.org/drawingml/2006/main" noGrp="1"/>
          </p:cNvSpPr>
          <p:nvPr/>
        </p:nvSpPr>
        <p:spPr>
          <a:xfrm xmlns:a="http://schemas.openxmlformats.org/drawingml/2006/main">
            <a:off x="11027664" y="6153912"/>
            <a:ext cx="411480"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01</a:t>
            </a:r>
            <a:endParaRPr sz="1000"/>
          </a:p>
        </p:txBody>
      </p:sp>
    </p:spTree>
    <p:extLst>
      <p:ext uri="{BB962C8B-B14F-4D97-AF65-F5344CB8AC3E}">
        <p14:creationId xmlns:p14="http://schemas.microsoft.com/office/powerpoint/2010/main" val="422194234"/>
      </p:ext>
    </p:extLst>
  </p:cSld>
</p:sld>
</file>

<file path=ppt/slides/slide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0BD542D-7B97-41A3-A4ED-E43542DBBCDD}"/>
              </a:ext>
            </a:extLst>
          </p:cNvPr>
          <p:cNvSpPr>
            <a:spLocks xmlns:a="http://schemas.openxmlformats.org/drawingml/2006/main" noGrp="1"/>
          </p:cNvSpPr>
          <p:nvPr/>
        </p:nvSpPr>
        <p:spPr>
          <a:xfrm xmlns:a="http://schemas.openxmlformats.org/drawingml/2006/main">
            <a:off x="0" y="0"/>
            <a:ext cx="12192000" cy="50292"/>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0C15C0AD-85A0-4DEC-9A3A-40D94A9EF06D}"/>
              </a:ext>
            </a:extLst>
          </p:cNvPr>
          <p:cNvSpPr>
            <a:spLocks xmlns:a="http://schemas.openxmlformats.org/drawingml/2006/main" noGrp="1"/>
          </p:cNvSpPr>
          <p:nvPr/>
        </p:nvSpPr>
        <p:spPr>
          <a:xfrm xmlns:a="http://schemas.openxmlformats.org/drawingml/2006/main">
            <a:off x="640080" y="3931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PROJECT OVERVIEW</a:t>
            </a:r>
            <a:endParaRPr sz="1010"/>
          </a:p>
        </p:txBody>
      </p:sp>
      <p:sp>
        <p:nvSpPr>
          <p:cNvPr id="4" name="Text 2">
            <a:extLst xmlns:a="http://schemas.openxmlformats.org/drawingml/2006/main">
              <a:ext uri="{FF2B5EF4-FFF2-40B4-BE49-F238E27FC236}">
                <a16:creationId xmlns:a16="http://schemas.microsoft.com/office/drawing/2014/main" id="{D6E42DC9-8202-463C-AC9D-EDDEC9558836}"/>
              </a:ext>
            </a:extLst>
          </p:cNvPr>
          <p:cNvSpPr>
            <a:spLocks xmlns:a="http://schemas.openxmlformats.org/drawingml/2006/main" noGrp="1"/>
          </p:cNvSpPr>
          <p:nvPr/>
        </p:nvSpPr>
        <p:spPr>
          <a:xfrm xmlns:a="http://schemas.openxmlformats.org/drawingml/2006/main">
            <a:off x="640080" y="740664"/>
            <a:ext cx="109545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950" b="1">
                <a:solidFill>
                  <a:srgbClr val="172033"/>
                </a:solidFill>
                <a:latin typeface="Inter"/>
                <a:ea typeface="Inter"/>
                <a:cs typeface="Inter"/>
              </a:rPr>
              <a:t>Why Relay</a:t>
            </a:r>
            <a:endParaRPr sz="2950"/>
          </a:p>
        </p:txBody>
      </p:sp>
      <p:sp>
        <p:nvSpPr>
          <p:cNvPr id="5" name="Text 3">
            <a:extLst xmlns:a="http://schemas.openxmlformats.org/drawingml/2006/main">
              <a:ext uri="{FF2B5EF4-FFF2-40B4-BE49-F238E27FC236}">
                <a16:creationId xmlns:a16="http://schemas.microsoft.com/office/drawing/2014/main" id="{4702BAD8-7B12-4904-B097-6B2ABB0A04D7}"/>
              </a:ext>
            </a:extLst>
          </p:cNvPr>
          <p:cNvSpPr>
            <a:spLocks xmlns:a="http://schemas.openxmlformats.org/drawingml/2006/main" noGrp="1"/>
          </p:cNvSpPr>
          <p:nvPr/>
        </p:nvSpPr>
        <p:spPr>
          <a:xfrm xmlns:a="http://schemas.openxmlformats.org/drawingml/2006/main">
            <a:off x="640080" y="1399032"/>
            <a:ext cx="10844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10">
                <a:solidFill>
                  <a:srgbClr val="667085"/>
                </a:solidFill>
                <a:latin typeface="Inter"/>
                <a:ea typeface="Inter"/>
                <a:cs typeface="Inter"/>
              </a:rPr>
              <a:t>One answer across the workspace, with the source permissions intact.</a:t>
            </a:r>
            <a:endParaRPr sz="1410"/>
          </a:p>
        </p:txBody>
      </p:sp>
      <p:sp>
        <p:nvSpPr>
          <p:cNvPr id="6" name="Shape 4">
            <a:extLst xmlns:a="http://schemas.openxmlformats.org/drawingml/2006/main">
              <a:ext uri="{FF2B5EF4-FFF2-40B4-BE49-F238E27FC236}">
                <a16:creationId xmlns:a16="http://schemas.microsoft.com/office/drawing/2014/main" id="{36DBE279-8C42-4042-A091-11D9015A22CF}"/>
              </a:ext>
            </a:extLst>
          </p:cNvPr>
          <p:cNvSpPr>
            <a:spLocks xmlns:a="http://schemas.openxmlformats.org/drawingml/2006/main" noGrp="1"/>
          </p:cNvSpPr>
          <p:nvPr/>
        </p:nvSpPr>
        <p:spPr>
          <a:xfrm xmlns:a="http://schemas.openxmlformats.org/drawingml/2006/main">
            <a:off x="640080" y="6437376"/>
            <a:ext cx="10908792" cy="0"/>
          </a:xfrm>
          <a:prstGeom xmlns:a="http://schemas.openxmlformats.org/drawingml/2006/main" prst="line">
            <a:avLst/>
          </a:prstGeom>
          <a:noFill xmlns:a="http://schemas.openxmlformats.org/drawingml/2006/main"/>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610C683F-595C-4338-A31C-EC2AD387C2D1}"/>
              </a:ext>
            </a:extLst>
          </p:cNvPr>
          <p:cNvSpPr>
            <a:spLocks xmlns:a="http://schemas.openxmlformats.org/drawingml/2006/main" noGrp="1"/>
          </p:cNvSpPr>
          <p:nvPr/>
        </p:nvSpPr>
        <p:spPr>
          <a:xfrm xmlns:a="http://schemas.openxmlformats.org/drawingml/2006/main">
            <a:off x="640080" y="6528816"/>
            <a:ext cx="585216"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40" b="1">
                <a:solidFill>
                  <a:srgbClr val="172033"/>
                </a:solidFill>
                <a:latin typeface="Inter"/>
                <a:ea typeface="Inter"/>
                <a:cs typeface="Inter"/>
              </a:rPr>
              <a:t>relay</a:t>
            </a:r>
            <a:endParaRPr sz="1040"/>
          </a:p>
        </p:txBody>
      </p:sp>
      <p:sp>
        <p:nvSpPr>
          <p:cNvPr id="8" name="Text 6">
            <a:extLst xmlns:a="http://schemas.openxmlformats.org/drawingml/2006/main">
              <a:ext uri="{FF2B5EF4-FFF2-40B4-BE49-F238E27FC236}">
                <a16:creationId xmlns:a16="http://schemas.microsoft.com/office/drawing/2014/main" id="{9E881EE1-CCC1-4BD4-84A6-5EA9E350EECA}"/>
              </a:ext>
            </a:extLst>
          </p:cNvPr>
          <p:cNvSpPr>
            <a:spLocks xmlns:a="http://schemas.openxmlformats.org/drawingml/2006/main" noGrp="1"/>
          </p:cNvSpPr>
          <p:nvPr/>
        </p:nvSpPr>
        <p:spPr>
          <a:xfrm xmlns:a="http://schemas.openxmlformats.org/drawingml/2006/main">
            <a:off x="1307592" y="6528816"/>
            <a:ext cx="274320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70">
                <a:solidFill>
                  <a:srgbClr val="94A3B8"/>
                </a:solidFill>
                <a:latin typeface="Inter"/>
                <a:ea typeface="Inter"/>
                <a:cs typeface="Inter"/>
              </a:rPr>
              <a:t>/ Tencent Hackathon demo</a:t>
            </a:r>
            <a:endParaRPr sz="970"/>
          </a:p>
        </p:txBody>
      </p:sp>
      <p:sp>
        <p:nvSpPr>
          <p:cNvPr id="9" name="Text 7">
            <a:extLst xmlns:a="http://schemas.openxmlformats.org/drawingml/2006/main">
              <a:ext uri="{FF2B5EF4-FFF2-40B4-BE49-F238E27FC236}">
                <a16:creationId xmlns:a16="http://schemas.microsoft.com/office/drawing/2014/main" id="{DC8E293B-D201-4A42-AF86-038C13374DF2}"/>
              </a:ext>
            </a:extLst>
          </p:cNvPr>
          <p:cNvSpPr>
            <a:spLocks xmlns:a="http://schemas.openxmlformats.org/drawingml/2006/main" noGrp="1"/>
          </p:cNvSpPr>
          <p:nvPr/>
        </p:nvSpPr>
        <p:spPr>
          <a:xfrm xmlns:a="http://schemas.openxmlformats.org/drawingml/2006/main">
            <a:off x="11036808" y="6519672"/>
            <a:ext cx="502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02</a:t>
            </a:r>
            <a:endParaRPr sz="1000"/>
          </a:p>
        </p:txBody>
      </p:sp>
      <p:sp>
        <p:nvSpPr>
          <p:cNvPr id="10" name="Shape 8">
            <a:extLst xmlns:a="http://schemas.openxmlformats.org/drawingml/2006/main">
              <a:ext uri="{FF2B5EF4-FFF2-40B4-BE49-F238E27FC236}">
                <a16:creationId xmlns:a16="http://schemas.microsoft.com/office/drawing/2014/main" id="{AD085A9B-42E3-413F-9236-7D69B6A10D16}"/>
              </a:ext>
            </a:extLst>
          </p:cNvPr>
          <p:cNvSpPr>
            <a:spLocks xmlns:a="http://schemas.openxmlformats.org/drawingml/2006/main" noGrp="1"/>
          </p:cNvSpPr>
          <p:nvPr/>
        </p:nvSpPr>
        <p:spPr>
          <a:xfrm xmlns:a="http://schemas.openxmlformats.org/drawingml/2006/main">
            <a:off x="640080" y="2029968"/>
            <a:ext cx="5833872" cy="329184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E64FFBC7-3127-488D-8DA4-D11351F2E9CE}"/>
              </a:ext>
            </a:extLst>
          </p:cNvPr>
          <p:cNvSpPr>
            <a:spLocks xmlns:a="http://schemas.openxmlformats.org/drawingml/2006/main" noGrp="1"/>
          </p:cNvSpPr>
          <p:nvPr/>
        </p:nvSpPr>
        <p:spPr>
          <a:xfrm xmlns:a="http://schemas.openxmlformats.org/drawingml/2006/main">
            <a:off x="886968" y="2286000"/>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THE PROBLEM</a:t>
            </a:r>
            <a:endParaRPr sz="1010"/>
          </a:p>
        </p:txBody>
      </p:sp>
      <p:sp>
        <p:nvSpPr>
          <p:cNvPr id="12" name="Text 10">
            <a:extLst xmlns:a="http://schemas.openxmlformats.org/drawingml/2006/main">
              <a:ext uri="{FF2B5EF4-FFF2-40B4-BE49-F238E27FC236}">
                <a16:creationId xmlns:a16="http://schemas.microsoft.com/office/drawing/2014/main" id="{2EDE349B-8400-4BD5-B163-2EEBCE2D20F5}"/>
              </a:ext>
            </a:extLst>
          </p:cNvPr>
          <p:cNvSpPr>
            <a:spLocks xmlns:a="http://schemas.openxmlformats.org/drawingml/2006/main" noGrp="1"/>
          </p:cNvSpPr>
          <p:nvPr/>
        </p:nvSpPr>
        <p:spPr>
          <a:xfrm xmlns:a="http://schemas.openxmlformats.org/drawingml/2006/main">
            <a:off x="877824" y="2715768"/>
            <a:ext cx="5394960" cy="119786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2200" b="1">
                <a:solidFill>
                  <a:srgbClr val="172033"/>
                </a:solidFill>
                <a:latin typeface="Inter"/>
                <a:ea typeface="Inter"/>
                <a:cs typeface="Inter"/>
              </a:rPr>
              <a:t>Teams lose time reconstructing</a:t>
            </a:r>
            <a:endParaRPr sz="2200"/>
          </a:p>
          <a:p xmlns:a="http://schemas.openxmlformats.org/drawingml/2006/main">
            <a:pPr marL="0" indent="0" algn="l">
              <a:buNone/>
            </a:pPr>
            <a:r>
              <a:rPr sz="2200" b="1">
                <a:solidFill>
                  <a:srgbClr val="172033"/>
                </a:solidFill>
                <a:latin typeface="Inter"/>
                <a:ea typeface="Inter"/>
                <a:cs typeface="Inter"/>
              </a:rPr>
              <a:t>decisions across documents,</a:t>
            </a:r>
            <a:endParaRPr sz="2200"/>
          </a:p>
          <a:p xmlns:a="http://schemas.openxmlformats.org/drawingml/2006/main">
            <a:pPr marL="0" indent="0" algn="l">
              <a:buNone/>
            </a:pPr>
            <a:r>
              <a:rPr sz="2200" b="1">
                <a:solidFill>
                  <a:srgbClr val="172033"/>
                </a:solidFill>
                <a:latin typeface="Inter"/>
                <a:ea typeface="Inter"/>
                <a:cs typeface="Inter"/>
              </a:rPr>
              <a:t>tickets and conversations.</a:t>
            </a:r>
            <a:endParaRPr sz="2200"/>
          </a:p>
        </p:txBody>
      </p:sp>
      <p:sp>
        <p:nvSpPr>
          <p:cNvPr id="13" name="Shape 11">
            <a:extLst xmlns:a="http://schemas.openxmlformats.org/drawingml/2006/main">
              <a:ext uri="{FF2B5EF4-FFF2-40B4-BE49-F238E27FC236}">
                <a16:creationId xmlns:a16="http://schemas.microsoft.com/office/drawing/2014/main" id="{5FB87FF8-19D8-41CA-BC4E-BFFA4C81D1FD}"/>
              </a:ext>
            </a:extLst>
          </p:cNvPr>
          <p:cNvSpPr>
            <a:spLocks xmlns:a="http://schemas.openxmlformats.org/drawingml/2006/main" noGrp="1"/>
          </p:cNvSpPr>
          <p:nvPr/>
        </p:nvSpPr>
        <p:spPr>
          <a:xfrm xmlns:a="http://schemas.openxmlformats.org/drawingml/2006/main">
            <a:off x="896112" y="4114800"/>
            <a:ext cx="5303520" cy="0"/>
          </a:xfrm>
          <a:prstGeom xmlns:a="http://schemas.openxmlformats.org/drawingml/2006/main" prst="line">
            <a:avLst/>
          </a:prstGeom>
          <a:noFill xmlns:a="http://schemas.openxmlformats.org/drawingml/2006/main"/>
          <a:ln xmlns:a="http://schemas.openxmlformats.org/drawingml/2006/main" w="1143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E2C9E5A-43B9-461D-A159-AB191715EBF8}"/>
              </a:ext>
            </a:extLst>
          </p:cNvPr>
          <p:cNvSpPr>
            <a:spLocks xmlns:a="http://schemas.openxmlformats.org/drawingml/2006/main" noGrp="1"/>
          </p:cNvSpPr>
          <p:nvPr/>
        </p:nvSpPr>
        <p:spPr>
          <a:xfrm xmlns:a="http://schemas.openxmlformats.org/drawingml/2006/main">
            <a:off x="886968" y="4315968"/>
            <a:ext cx="530352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20">
                <a:solidFill>
                  <a:srgbClr val="667085"/>
                </a:solidFill>
                <a:latin typeface="Inter"/>
                <a:ea typeface="Inter"/>
                <a:cs typeface="Inter"/>
              </a:rPr>
              <a:t>During an incident, the answer may sit across a Jira issue, Slack thread, Confluence runbook and Drive postmortem. Searching tool by tool slows response and weakens confidence.</a:t>
            </a:r>
            <a:endParaRPr sz="1420"/>
          </a:p>
        </p:txBody>
      </p:sp>
      <p:sp>
        <p:nvSpPr>
          <p:cNvPr id="15" name="Shape 13">
            <a:extLst xmlns:a="http://schemas.openxmlformats.org/drawingml/2006/main">
              <a:ext uri="{FF2B5EF4-FFF2-40B4-BE49-F238E27FC236}">
                <a16:creationId xmlns:a16="http://schemas.microsoft.com/office/drawing/2014/main" id="{8FF57168-C0F3-4670-A023-D517E98E7708}"/>
              </a:ext>
            </a:extLst>
          </p:cNvPr>
          <p:cNvSpPr>
            <a:spLocks xmlns:a="http://schemas.openxmlformats.org/drawingml/2006/main" noGrp="1"/>
          </p:cNvSpPr>
          <p:nvPr/>
        </p:nvSpPr>
        <p:spPr>
          <a:xfrm xmlns:a="http://schemas.openxmlformats.org/drawingml/2006/main">
            <a:off x="6702552" y="2029968"/>
            <a:ext cx="4846320" cy="1545336"/>
          </a:xfrm>
          <a:prstGeom xmlns:a="http://schemas.openxmlformats.org/drawingml/2006/main" prst="roundRect">
            <a:avLst>
              <a:gd name="adj" fmla="val 10651"/>
            </a:avLst>
          </a:prstGeom>
          <a:solidFill xmlns:a="http://schemas.openxmlformats.org/drawingml/2006/main">
            <a:srgbClr val="EFF0FF"/>
          </a:solidFill>
          <a:ln xmlns:a="http://schemas.openxmlformats.org/drawingml/2006/main" w="10160">
            <a:solidFill>
              <a:srgbClr val="E1E5FF"/>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85E34B05-844C-4149-A2A2-5AE9F3BAC966}"/>
              </a:ext>
            </a:extLst>
          </p:cNvPr>
          <p:cNvSpPr>
            <a:spLocks xmlns:a="http://schemas.openxmlformats.org/drawingml/2006/main" noGrp="1"/>
          </p:cNvSpPr>
          <p:nvPr/>
        </p:nvSpPr>
        <p:spPr>
          <a:xfrm xmlns:a="http://schemas.openxmlformats.org/drawingml/2006/main">
            <a:off x="6958584" y="2267712"/>
            <a:ext cx="459028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PRIMARY USERS</a:t>
            </a:r>
            <a:endParaRPr sz="1010"/>
          </a:p>
        </p:txBody>
      </p:sp>
      <p:sp>
        <p:nvSpPr>
          <p:cNvPr id="17" name="Text 15">
            <a:extLst xmlns:a="http://schemas.openxmlformats.org/drawingml/2006/main">
              <a:ext uri="{FF2B5EF4-FFF2-40B4-BE49-F238E27FC236}">
                <a16:creationId xmlns:a16="http://schemas.microsoft.com/office/drawing/2014/main" id="{8AC43149-78C3-4A07-93E7-DCAEBCA0AA9A}"/>
              </a:ext>
            </a:extLst>
          </p:cNvPr>
          <p:cNvSpPr>
            <a:spLocks xmlns:a="http://schemas.openxmlformats.org/drawingml/2006/main" noGrp="1"/>
          </p:cNvSpPr>
          <p:nvPr/>
        </p:nvSpPr>
        <p:spPr>
          <a:xfrm xmlns:a="http://schemas.openxmlformats.org/drawingml/2006/main">
            <a:off x="6949440" y="2624328"/>
            <a:ext cx="4315968"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70">
                <a:solidFill>
                  <a:srgbClr val="172033"/>
                </a:solidFill>
                <a:latin typeface="Inter"/>
                <a:ea typeface="Inter"/>
                <a:cs typeface="Inter"/>
              </a:rPr>
              <a:t>Employees who need an answer they can act on, without knowing where the evidence lives.</a:t>
            </a:r>
            <a:endParaRPr sz="1570"/>
          </a:p>
        </p:txBody>
      </p:sp>
      <p:sp>
        <p:nvSpPr>
          <p:cNvPr id="18" name="Shape 16">
            <a:extLst xmlns:a="http://schemas.openxmlformats.org/drawingml/2006/main">
              <a:ext uri="{FF2B5EF4-FFF2-40B4-BE49-F238E27FC236}">
                <a16:creationId xmlns:a16="http://schemas.microsoft.com/office/drawing/2014/main" id="{B5266229-D546-4CF9-82A4-FFCAE38F02F2}"/>
              </a:ext>
            </a:extLst>
          </p:cNvPr>
          <p:cNvSpPr>
            <a:spLocks xmlns:a="http://schemas.openxmlformats.org/drawingml/2006/main" noGrp="1"/>
          </p:cNvSpPr>
          <p:nvPr/>
        </p:nvSpPr>
        <p:spPr>
          <a:xfrm xmlns:a="http://schemas.openxmlformats.org/drawingml/2006/main">
            <a:off x="6702552" y="3739896"/>
            <a:ext cx="4846320" cy="1581912"/>
          </a:xfrm>
          <a:prstGeom xmlns:a="http://schemas.openxmlformats.org/drawingml/2006/main" prst="roundRect">
            <a:avLst>
              <a:gd name="adj" fmla="val 10405"/>
            </a:avLst>
          </a:prstGeom>
          <a:solidFill xmlns:a="http://schemas.openxmlformats.org/drawingml/2006/main">
            <a:srgbClr val="ECF9F5"/>
          </a:solidFill>
          <a:ln xmlns:a="http://schemas.openxmlformats.org/drawingml/2006/main" w="10160">
            <a:solidFill>
              <a:srgbClr val="CFEEE5"/>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C7E4274A-732F-474F-8BB6-E51CFBF20AA6}"/>
              </a:ext>
            </a:extLst>
          </p:cNvPr>
          <p:cNvSpPr>
            <a:spLocks xmlns:a="http://schemas.openxmlformats.org/drawingml/2006/main" noGrp="1"/>
          </p:cNvSpPr>
          <p:nvPr/>
        </p:nvSpPr>
        <p:spPr>
          <a:xfrm xmlns:a="http://schemas.openxmlformats.org/drawingml/2006/main">
            <a:off x="6958584" y="3968496"/>
            <a:ext cx="459028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0B927D"/>
                </a:solidFill>
                <a:latin typeface="Inter"/>
                <a:ea typeface="Inter"/>
                <a:cs typeface="Inter"/>
              </a:rPr>
              <a:t>TRUST REQUIREMENT</a:t>
            </a:r>
            <a:endParaRPr sz="1010"/>
          </a:p>
        </p:txBody>
      </p:sp>
      <p:sp>
        <p:nvSpPr>
          <p:cNvPr id="20" name="Text 18">
            <a:extLst xmlns:a="http://schemas.openxmlformats.org/drawingml/2006/main">
              <a:ext uri="{FF2B5EF4-FFF2-40B4-BE49-F238E27FC236}">
                <a16:creationId xmlns:a16="http://schemas.microsoft.com/office/drawing/2014/main" id="{616F8022-3CF4-40F3-A994-851FA6F16173}"/>
              </a:ext>
            </a:extLst>
          </p:cNvPr>
          <p:cNvSpPr>
            <a:spLocks xmlns:a="http://schemas.openxmlformats.org/drawingml/2006/main" noGrp="1"/>
          </p:cNvSpPr>
          <p:nvPr/>
        </p:nvSpPr>
        <p:spPr>
          <a:xfrm xmlns:a="http://schemas.openxmlformats.org/drawingml/2006/main">
            <a:off x="6949440" y="4325112"/>
            <a:ext cx="4334256" cy="70408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70">
                <a:solidFill>
                  <a:srgbClr val="172033"/>
                </a:solidFill>
                <a:latin typeface="Inter"/>
                <a:ea typeface="Inter"/>
                <a:cs typeface="Inter"/>
              </a:rPr>
              <a:t>Administrators and compliance teams need to see who asked, what was used and why access was allowed.</a:t>
            </a:r>
            <a:endParaRPr sz="1570"/>
          </a:p>
        </p:txBody>
      </p:sp>
      <p:sp>
        <p:nvSpPr>
          <p:cNvPr id="21" name="Shape 19">
            <a:extLst xmlns:a="http://schemas.openxmlformats.org/drawingml/2006/main">
              <a:ext uri="{FF2B5EF4-FFF2-40B4-BE49-F238E27FC236}">
                <a16:creationId xmlns:a16="http://schemas.microsoft.com/office/drawing/2014/main" id="{3FD1F1C6-9310-4B3E-886D-B1A3E9A45E0E}"/>
              </a:ext>
            </a:extLst>
          </p:cNvPr>
          <p:cNvSpPr>
            <a:spLocks xmlns:a="http://schemas.openxmlformats.org/drawingml/2006/main" noGrp="1"/>
          </p:cNvSpPr>
          <p:nvPr/>
        </p:nvSpPr>
        <p:spPr>
          <a:xfrm xmlns:a="http://schemas.openxmlformats.org/drawingml/2006/main">
            <a:off x="640080" y="5532120"/>
            <a:ext cx="10908792" cy="603504"/>
          </a:xfrm>
          <a:prstGeom xmlns:a="http://schemas.openxmlformats.org/drawingml/2006/main" prst="roundRect">
            <a:avLst>
              <a:gd name="adj" fmla="val 21212"/>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8AE9BCE5-54EF-4A6C-80E7-B52AB442EE1F}"/>
              </a:ext>
            </a:extLst>
          </p:cNvPr>
          <p:cNvSpPr>
            <a:spLocks xmlns:a="http://schemas.openxmlformats.org/drawingml/2006/main" noGrp="1"/>
          </p:cNvSpPr>
          <p:nvPr/>
        </p:nvSpPr>
        <p:spPr>
          <a:xfrm xmlns:a="http://schemas.openxmlformats.org/drawingml/2006/main">
            <a:off x="859536" y="5705856"/>
            <a:ext cx="1499616"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spc="50">
                <a:solidFill>
                  <a:srgbClr val="5253D7"/>
                </a:solidFill>
                <a:latin typeface="Inter"/>
                <a:ea typeface="Inter"/>
                <a:cs typeface="Inter"/>
              </a:rPr>
              <a:t>RELAY CONNECTS</a:t>
            </a:r>
            <a:endParaRPr sz="1100"/>
          </a:p>
        </p:txBody>
      </p:sp>
      <p:sp>
        <p:nvSpPr>
          <p:cNvPr id="23" name="Shape 21">
            <a:extLst xmlns:a="http://schemas.openxmlformats.org/drawingml/2006/main">
              <a:ext uri="{FF2B5EF4-FFF2-40B4-BE49-F238E27FC236}">
                <a16:creationId xmlns:a16="http://schemas.microsoft.com/office/drawing/2014/main" id="{AF7063FB-B4BF-43A8-910F-5522D0F677D5}"/>
              </a:ext>
            </a:extLst>
          </p:cNvPr>
          <p:cNvSpPr>
            <a:spLocks xmlns:a="http://schemas.openxmlformats.org/drawingml/2006/main" noGrp="1"/>
          </p:cNvSpPr>
          <p:nvPr/>
        </p:nvSpPr>
        <p:spPr>
          <a:xfrm xmlns:a="http://schemas.openxmlformats.org/drawingml/2006/main">
            <a:off x="2395728" y="5632704"/>
            <a:ext cx="1490472" cy="374904"/>
          </a:xfrm>
          <a:prstGeom xmlns:a="http://schemas.openxmlformats.org/drawingml/2006/main" prst="roundRect">
            <a:avLst>
              <a:gd name="adj" fmla="val 31707"/>
            </a:avLst>
          </a:prstGeom>
          <a:solidFill xmlns:a="http://schemas.openxmlformats.org/drawingml/2006/main">
            <a:srgbClr val="F2F5FA"/>
          </a:solidFill>
          <a:ln xmlns:a="http://schemas.openxmlformats.org/drawingml/2006/main" w="10160">
            <a:solidFill>
              <a:srgbClr val="F2F5FA"/>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Text 22">
            <a:extLst xmlns:a="http://schemas.openxmlformats.org/drawingml/2006/main">
              <a:ext uri="{FF2B5EF4-FFF2-40B4-BE49-F238E27FC236}">
                <a16:creationId xmlns:a16="http://schemas.microsoft.com/office/drawing/2014/main" id="{E638F57D-8B9B-4E0F-8215-FDBA8FC57232}"/>
              </a:ext>
            </a:extLst>
          </p:cNvPr>
          <p:cNvSpPr>
            <a:spLocks xmlns:a="http://schemas.openxmlformats.org/drawingml/2006/main" noGrp="1"/>
          </p:cNvSpPr>
          <p:nvPr/>
        </p:nvSpPr>
        <p:spPr>
          <a:xfrm xmlns:a="http://schemas.openxmlformats.org/drawingml/2006/main">
            <a:off x="2487168" y="5646420"/>
            <a:ext cx="130759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40" b="1">
                <a:solidFill>
                  <a:srgbClr val="172033"/>
                </a:solidFill>
                <a:latin typeface="Inter"/>
                <a:ea typeface="Inter"/>
                <a:cs typeface="Inter"/>
              </a:rPr>
              <a:t>Confluence</a:t>
            </a:r>
            <a:endParaRPr sz="1140"/>
          </a:p>
        </p:txBody>
      </p:sp>
      <p:sp>
        <p:nvSpPr>
          <p:cNvPr id="25" name="Shape 23">
            <a:extLst xmlns:a="http://schemas.openxmlformats.org/drawingml/2006/main">
              <a:ext uri="{FF2B5EF4-FFF2-40B4-BE49-F238E27FC236}">
                <a16:creationId xmlns:a16="http://schemas.microsoft.com/office/drawing/2014/main" id="{A0406B2C-90B8-48D8-A6DD-8075E9D5EF20}"/>
              </a:ext>
            </a:extLst>
          </p:cNvPr>
          <p:cNvSpPr>
            <a:spLocks xmlns:a="http://schemas.openxmlformats.org/drawingml/2006/main" noGrp="1"/>
          </p:cNvSpPr>
          <p:nvPr/>
        </p:nvSpPr>
        <p:spPr>
          <a:xfrm xmlns:a="http://schemas.openxmlformats.org/drawingml/2006/main">
            <a:off x="4069080" y="5632704"/>
            <a:ext cx="731520" cy="374904"/>
          </a:xfrm>
          <a:prstGeom xmlns:a="http://schemas.openxmlformats.org/drawingml/2006/main" prst="roundRect">
            <a:avLst>
              <a:gd name="adj" fmla="val 31707"/>
            </a:avLst>
          </a:prstGeom>
          <a:solidFill xmlns:a="http://schemas.openxmlformats.org/drawingml/2006/main">
            <a:srgbClr val="F2F5FA"/>
          </a:solidFill>
          <a:ln xmlns:a="http://schemas.openxmlformats.org/drawingml/2006/main" w="10160">
            <a:solidFill>
              <a:srgbClr val="F2F5FA"/>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A7BC3ADB-6363-4053-8621-0EBDDB9C7AAD}"/>
              </a:ext>
            </a:extLst>
          </p:cNvPr>
          <p:cNvSpPr>
            <a:spLocks xmlns:a="http://schemas.openxmlformats.org/drawingml/2006/main" noGrp="1"/>
          </p:cNvSpPr>
          <p:nvPr/>
        </p:nvSpPr>
        <p:spPr>
          <a:xfrm xmlns:a="http://schemas.openxmlformats.org/drawingml/2006/main">
            <a:off x="4160520" y="5646420"/>
            <a:ext cx="54864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40" b="1">
                <a:solidFill>
                  <a:srgbClr val="172033"/>
                </a:solidFill>
                <a:latin typeface="Inter"/>
                <a:ea typeface="Inter"/>
                <a:cs typeface="Inter"/>
              </a:rPr>
              <a:t>Jira</a:t>
            </a:r>
            <a:endParaRPr sz="1140"/>
          </a:p>
        </p:txBody>
      </p:sp>
      <p:sp>
        <p:nvSpPr>
          <p:cNvPr id="27" name="Shape 25">
            <a:extLst xmlns:a="http://schemas.openxmlformats.org/drawingml/2006/main">
              <a:ext uri="{FF2B5EF4-FFF2-40B4-BE49-F238E27FC236}">
                <a16:creationId xmlns:a16="http://schemas.microsoft.com/office/drawing/2014/main" id="{D7F54EE3-44AF-482F-A50B-4171BE56793D}"/>
              </a:ext>
            </a:extLst>
          </p:cNvPr>
          <p:cNvSpPr>
            <a:spLocks xmlns:a="http://schemas.openxmlformats.org/drawingml/2006/main" noGrp="1"/>
          </p:cNvSpPr>
          <p:nvPr/>
        </p:nvSpPr>
        <p:spPr>
          <a:xfrm xmlns:a="http://schemas.openxmlformats.org/drawingml/2006/main">
            <a:off x="5047488" y="5632704"/>
            <a:ext cx="1042416" cy="374904"/>
          </a:xfrm>
          <a:prstGeom xmlns:a="http://schemas.openxmlformats.org/drawingml/2006/main" prst="roundRect">
            <a:avLst>
              <a:gd name="adj" fmla="val 31707"/>
            </a:avLst>
          </a:prstGeom>
          <a:solidFill xmlns:a="http://schemas.openxmlformats.org/drawingml/2006/main">
            <a:srgbClr val="F2F5FA"/>
          </a:solidFill>
          <a:ln xmlns:a="http://schemas.openxmlformats.org/drawingml/2006/main" w="10160">
            <a:solidFill>
              <a:srgbClr val="F2F5FA"/>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0D1AD15D-54F5-41B2-957C-31EAB8D96B9A}"/>
              </a:ext>
            </a:extLst>
          </p:cNvPr>
          <p:cNvSpPr>
            <a:spLocks xmlns:a="http://schemas.openxmlformats.org/drawingml/2006/main" noGrp="1"/>
          </p:cNvSpPr>
          <p:nvPr/>
        </p:nvSpPr>
        <p:spPr>
          <a:xfrm xmlns:a="http://schemas.openxmlformats.org/drawingml/2006/main">
            <a:off x="5138928" y="5646420"/>
            <a:ext cx="859536"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40" b="1">
                <a:solidFill>
                  <a:srgbClr val="172033"/>
                </a:solidFill>
                <a:latin typeface="Inter"/>
                <a:ea typeface="Inter"/>
                <a:cs typeface="Inter"/>
              </a:rPr>
              <a:t>Slack</a:t>
            </a:r>
            <a:endParaRPr sz="1140"/>
          </a:p>
        </p:txBody>
      </p:sp>
      <p:sp>
        <p:nvSpPr>
          <p:cNvPr id="29" name="Shape 27">
            <a:extLst xmlns:a="http://schemas.openxmlformats.org/drawingml/2006/main">
              <a:ext uri="{FF2B5EF4-FFF2-40B4-BE49-F238E27FC236}">
                <a16:creationId xmlns:a16="http://schemas.microsoft.com/office/drawing/2014/main" id="{F9F120A6-1A99-4087-98D7-82869140CAE3}"/>
              </a:ext>
            </a:extLst>
          </p:cNvPr>
          <p:cNvSpPr>
            <a:spLocks xmlns:a="http://schemas.openxmlformats.org/drawingml/2006/main" noGrp="1"/>
          </p:cNvSpPr>
          <p:nvPr/>
        </p:nvSpPr>
        <p:spPr>
          <a:xfrm xmlns:a="http://schemas.openxmlformats.org/drawingml/2006/main">
            <a:off x="6364224" y="5632704"/>
            <a:ext cx="1508760" cy="374904"/>
          </a:xfrm>
          <a:prstGeom xmlns:a="http://schemas.openxmlformats.org/drawingml/2006/main" prst="roundRect">
            <a:avLst>
              <a:gd name="adj" fmla="val 31707"/>
            </a:avLst>
          </a:prstGeom>
          <a:solidFill xmlns:a="http://schemas.openxmlformats.org/drawingml/2006/main">
            <a:srgbClr val="F2F5FA"/>
          </a:solidFill>
          <a:ln xmlns:a="http://schemas.openxmlformats.org/drawingml/2006/main" w="10160">
            <a:solidFill>
              <a:srgbClr val="F2F5FA"/>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Text 28">
            <a:extLst xmlns:a="http://schemas.openxmlformats.org/drawingml/2006/main">
              <a:ext uri="{FF2B5EF4-FFF2-40B4-BE49-F238E27FC236}">
                <a16:creationId xmlns:a16="http://schemas.microsoft.com/office/drawing/2014/main" id="{AA6F2728-5BB6-4246-AB70-7A0BB3486F01}"/>
              </a:ext>
            </a:extLst>
          </p:cNvPr>
          <p:cNvSpPr>
            <a:spLocks xmlns:a="http://schemas.openxmlformats.org/drawingml/2006/main" noGrp="1"/>
          </p:cNvSpPr>
          <p:nvPr/>
        </p:nvSpPr>
        <p:spPr>
          <a:xfrm xmlns:a="http://schemas.openxmlformats.org/drawingml/2006/main">
            <a:off x="6455664" y="5646420"/>
            <a:ext cx="13258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40" b="1">
                <a:solidFill>
                  <a:srgbClr val="172033"/>
                </a:solidFill>
                <a:latin typeface="Inter"/>
                <a:ea typeface="Inter"/>
                <a:cs typeface="Inter"/>
              </a:rPr>
              <a:t>Google Drive</a:t>
            </a:r>
            <a:endParaRPr sz="1140"/>
          </a:p>
        </p:txBody>
      </p:sp>
      <p:sp>
        <p:nvSpPr>
          <p:cNvPr id="31" name="Text 29">
            <a:extLst xmlns:a="http://schemas.openxmlformats.org/drawingml/2006/main">
              <a:ext uri="{FF2B5EF4-FFF2-40B4-BE49-F238E27FC236}">
                <a16:creationId xmlns:a16="http://schemas.microsoft.com/office/drawing/2014/main" id="{6750DDD5-3EEF-4555-B48C-EB09DC260112}"/>
              </a:ext>
            </a:extLst>
          </p:cNvPr>
          <p:cNvSpPr>
            <a:spLocks xmlns:a="http://schemas.openxmlformats.org/drawingml/2006/main" noGrp="1"/>
          </p:cNvSpPr>
          <p:nvPr/>
        </p:nvSpPr>
        <p:spPr>
          <a:xfrm xmlns:a="http://schemas.openxmlformats.org/drawingml/2006/main">
            <a:off x="8247888" y="5715000"/>
            <a:ext cx="301752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b="1">
                <a:solidFill>
                  <a:srgbClr val="0B927D"/>
                </a:solidFill>
                <a:latin typeface="Inter"/>
                <a:ea typeface="Inter"/>
                <a:cs typeface="Inter"/>
              </a:rPr>
              <a:t>Permissions checked at retrieval</a:t>
            </a:r>
            <a:endParaRPr sz="1100"/>
          </a:p>
        </p:txBody>
      </p:sp>
    </p:spTree>
    <p:extLst>
      <p:ext uri="{BB962C8B-B14F-4D97-AF65-F5344CB8AC3E}">
        <p14:creationId xmlns:p14="http://schemas.microsoft.com/office/powerpoint/2010/main" val="1367956542"/>
      </p:ext>
    </p:extLst>
  </p:cSld>
</p:sld>
</file>

<file path=ppt/slides/slide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1B5A66B-89A7-4A83-9549-415BFBD8028E}"/>
              </a:ext>
            </a:extLst>
          </p:cNvPr>
          <p:cNvSpPr>
            <a:spLocks xmlns:a="http://schemas.openxmlformats.org/drawingml/2006/main" noGrp="1"/>
          </p:cNvSpPr>
          <p:nvPr/>
        </p:nvSpPr>
        <p:spPr>
          <a:xfrm xmlns:a="http://schemas.openxmlformats.org/drawingml/2006/main">
            <a:off x="0" y="0"/>
            <a:ext cx="12192000" cy="50292"/>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FB0F1462-DB47-4929-804D-D595D269BFD6}"/>
              </a:ext>
            </a:extLst>
          </p:cNvPr>
          <p:cNvSpPr>
            <a:spLocks xmlns:a="http://schemas.openxmlformats.org/drawingml/2006/main" noGrp="1"/>
          </p:cNvSpPr>
          <p:nvPr/>
        </p:nvSpPr>
        <p:spPr>
          <a:xfrm xmlns:a="http://schemas.openxmlformats.org/drawingml/2006/main">
            <a:off x="640080" y="3931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TECHNICAL OVERVIEW</a:t>
            </a:r>
            <a:endParaRPr sz="1010"/>
          </a:p>
        </p:txBody>
      </p:sp>
      <p:sp>
        <p:nvSpPr>
          <p:cNvPr id="4" name="Text 2">
            <a:extLst xmlns:a="http://schemas.openxmlformats.org/drawingml/2006/main">
              <a:ext uri="{FF2B5EF4-FFF2-40B4-BE49-F238E27FC236}">
                <a16:creationId xmlns:a16="http://schemas.microsoft.com/office/drawing/2014/main" id="{2B1F1D67-D5F5-40BE-9435-6D5C3B8E42B3}"/>
              </a:ext>
            </a:extLst>
          </p:cNvPr>
          <p:cNvSpPr>
            <a:spLocks xmlns:a="http://schemas.openxmlformats.org/drawingml/2006/main" noGrp="1"/>
          </p:cNvSpPr>
          <p:nvPr/>
        </p:nvSpPr>
        <p:spPr>
          <a:xfrm xmlns:a="http://schemas.openxmlformats.org/drawingml/2006/main">
            <a:off x="640080" y="740664"/>
            <a:ext cx="109545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950" b="1">
                <a:solidFill>
                  <a:srgbClr val="172033"/>
                </a:solidFill>
                <a:latin typeface="Inter"/>
                <a:ea typeface="Inter"/>
                <a:cs typeface="Inter"/>
              </a:rPr>
              <a:t>Ingestion and the knowledge index</a:t>
            </a:r>
            <a:endParaRPr sz="2950"/>
          </a:p>
        </p:txBody>
      </p:sp>
      <p:sp>
        <p:nvSpPr>
          <p:cNvPr id="5" name="Text 3">
            <a:extLst xmlns:a="http://schemas.openxmlformats.org/drawingml/2006/main">
              <a:ext uri="{FF2B5EF4-FFF2-40B4-BE49-F238E27FC236}">
                <a16:creationId xmlns:a16="http://schemas.microsoft.com/office/drawing/2014/main" id="{ADD7FB51-73E3-4F5F-BE49-59C006960755}"/>
              </a:ext>
            </a:extLst>
          </p:cNvPr>
          <p:cNvSpPr>
            <a:spLocks xmlns:a="http://schemas.openxmlformats.org/drawingml/2006/main" noGrp="1"/>
          </p:cNvSpPr>
          <p:nvPr/>
        </p:nvSpPr>
        <p:spPr>
          <a:xfrm xmlns:a="http://schemas.openxmlformats.org/drawingml/2006/main">
            <a:off x="640080" y="1399032"/>
            <a:ext cx="10844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10">
                <a:solidFill>
                  <a:srgbClr val="667085"/>
                </a:solidFill>
                <a:latin typeface="Inter"/>
                <a:ea typeface="Inter"/>
                <a:cs typeface="Inter"/>
              </a:rPr>
              <a:t>Retrieval-augmented generation (RAG) grounds each answer in retrieved source evidence.</a:t>
            </a:r>
            <a:endParaRPr sz="1410"/>
          </a:p>
        </p:txBody>
      </p:sp>
      <p:sp>
        <p:nvSpPr>
          <p:cNvPr id="6" name="Shape 4">
            <a:extLst xmlns:a="http://schemas.openxmlformats.org/drawingml/2006/main">
              <a:ext uri="{FF2B5EF4-FFF2-40B4-BE49-F238E27FC236}">
                <a16:creationId xmlns:a16="http://schemas.microsoft.com/office/drawing/2014/main" id="{D4759355-B5E3-4815-93FB-10CD3D108B25}"/>
              </a:ext>
            </a:extLst>
          </p:cNvPr>
          <p:cNvSpPr>
            <a:spLocks xmlns:a="http://schemas.openxmlformats.org/drawingml/2006/main" noGrp="1"/>
          </p:cNvSpPr>
          <p:nvPr/>
        </p:nvSpPr>
        <p:spPr>
          <a:xfrm xmlns:a="http://schemas.openxmlformats.org/drawingml/2006/main">
            <a:off x="640080" y="6437376"/>
            <a:ext cx="10908792" cy="0"/>
          </a:xfrm>
          <a:prstGeom xmlns:a="http://schemas.openxmlformats.org/drawingml/2006/main" prst="line">
            <a:avLst/>
          </a:prstGeom>
          <a:noFill xmlns:a="http://schemas.openxmlformats.org/drawingml/2006/main"/>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C800A3F7-5707-4CCD-ABDA-CB12A2F7BABC}"/>
              </a:ext>
            </a:extLst>
          </p:cNvPr>
          <p:cNvSpPr>
            <a:spLocks xmlns:a="http://schemas.openxmlformats.org/drawingml/2006/main" noGrp="1"/>
          </p:cNvSpPr>
          <p:nvPr/>
        </p:nvSpPr>
        <p:spPr>
          <a:xfrm xmlns:a="http://schemas.openxmlformats.org/drawingml/2006/main">
            <a:off x="640080" y="6528816"/>
            <a:ext cx="585216"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40" b="1">
                <a:solidFill>
                  <a:srgbClr val="172033"/>
                </a:solidFill>
                <a:latin typeface="Inter"/>
                <a:ea typeface="Inter"/>
                <a:cs typeface="Inter"/>
              </a:rPr>
              <a:t>relay</a:t>
            </a:r>
            <a:endParaRPr sz="1040"/>
          </a:p>
        </p:txBody>
      </p:sp>
      <p:sp>
        <p:nvSpPr>
          <p:cNvPr id="8" name="Text 6">
            <a:extLst xmlns:a="http://schemas.openxmlformats.org/drawingml/2006/main">
              <a:ext uri="{FF2B5EF4-FFF2-40B4-BE49-F238E27FC236}">
                <a16:creationId xmlns:a16="http://schemas.microsoft.com/office/drawing/2014/main" id="{BF7A4967-DE7C-4E6A-914E-CDF31A034A00}"/>
              </a:ext>
            </a:extLst>
          </p:cNvPr>
          <p:cNvSpPr>
            <a:spLocks xmlns:a="http://schemas.openxmlformats.org/drawingml/2006/main" noGrp="1"/>
          </p:cNvSpPr>
          <p:nvPr/>
        </p:nvSpPr>
        <p:spPr>
          <a:xfrm xmlns:a="http://schemas.openxmlformats.org/drawingml/2006/main">
            <a:off x="1307592" y="6528816"/>
            <a:ext cx="274320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70">
                <a:solidFill>
                  <a:srgbClr val="94A3B8"/>
                </a:solidFill>
                <a:latin typeface="Inter"/>
                <a:ea typeface="Inter"/>
                <a:cs typeface="Inter"/>
              </a:rPr>
              <a:t>/ Tencent Hackathon demo</a:t>
            </a:r>
            <a:endParaRPr sz="970"/>
          </a:p>
        </p:txBody>
      </p:sp>
      <p:sp>
        <p:nvSpPr>
          <p:cNvPr id="9" name="Text 7">
            <a:extLst xmlns:a="http://schemas.openxmlformats.org/drawingml/2006/main">
              <a:ext uri="{FF2B5EF4-FFF2-40B4-BE49-F238E27FC236}">
                <a16:creationId xmlns:a16="http://schemas.microsoft.com/office/drawing/2014/main" id="{8C97F1D6-34AB-4F6B-A011-230AEE833307}"/>
              </a:ext>
            </a:extLst>
          </p:cNvPr>
          <p:cNvSpPr>
            <a:spLocks xmlns:a="http://schemas.openxmlformats.org/drawingml/2006/main" noGrp="1"/>
          </p:cNvSpPr>
          <p:nvPr/>
        </p:nvSpPr>
        <p:spPr>
          <a:xfrm xmlns:a="http://schemas.openxmlformats.org/drawingml/2006/main">
            <a:off x="11036808" y="6519672"/>
            <a:ext cx="502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03</a:t>
            </a:r>
            <a:endParaRPr sz="1000"/>
          </a:p>
        </p:txBody>
      </p:sp>
      <p:sp>
        <p:nvSpPr>
          <p:cNvPr id="10" name="Shape 8">
            <a:extLst xmlns:a="http://schemas.openxmlformats.org/drawingml/2006/main">
              <a:ext uri="{FF2B5EF4-FFF2-40B4-BE49-F238E27FC236}">
                <a16:creationId xmlns:a16="http://schemas.microsoft.com/office/drawing/2014/main" id="{A20D0875-C2C5-49F3-8602-30C399A6E2A7}"/>
              </a:ext>
            </a:extLst>
          </p:cNvPr>
          <p:cNvSpPr>
            <a:spLocks xmlns:a="http://schemas.openxmlformats.org/drawingml/2006/main" noGrp="1"/>
          </p:cNvSpPr>
          <p:nvPr/>
        </p:nvSpPr>
        <p:spPr>
          <a:xfrm xmlns:a="http://schemas.openxmlformats.org/drawingml/2006/main">
            <a:off x="640080" y="2057400"/>
            <a:ext cx="3511296" cy="3054096"/>
          </a:xfrm>
          <a:prstGeom xmlns:a="http://schemas.openxmlformats.org/drawingml/2006/main" prst="roundRect">
            <a:avLst>
              <a:gd name="adj" fmla="val 5988"/>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0D0FD8BD-EBEB-4132-B710-E16E10DAE873}"/>
              </a:ext>
            </a:extLst>
          </p:cNvPr>
          <p:cNvSpPr>
            <a:spLocks xmlns:a="http://schemas.openxmlformats.org/drawingml/2006/main" noGrp="1"/>
          </p:cNvSpPr>
          <p:nvPr/>
        </p:nvSpPr>
        <p:spPr>
          <a:xfrm xmlns:a="http://schemas.openxmlformats.org/drawingml/2006/main">
            <a:off x="841248" y="2276856"/>
            <a:ext cx="429768" cy="429768"/>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B7E810DE-56CC-458A-8E26-38F9D3F2723B}"/>
              </a:ext>
            </a:extLst>
          </p:cNvPr>
          <p:cNvSpPr>
            <a:spLocks xmlns:a="http://schemas.openxmlformats.org/drawingml/2006/main" noGrp="1"/>
          </p:cNvSpPr>
          <p:nvPr/>
        </p:nvSpPr>
        <p:spPr>
          <a:xfrm xmlns:a="http://schemas.openxmlformats.org/drawingml/2006/main">
            <a:off x="841248" y="2340864"/>
            <a:ext cx="42976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5253D7"/>
                </a:solidFill>
                <a:latin typeface="Inter"/>
                <a:ea typeface="Inter"/>
                <a:cs typeface="Inter"/>
              </a:rPr>
              <a:t>01</a:t>
            </a:r>
            <a:endParaRPr sz="1300"/>
          </a:p>
        </p:txBody>
      </p:sp>
      <p:sp>
        <p:nvSpPr>
          <p:cNvPr id="13" name="Text 11">
            <a:extLst xmlns:a="http://schemas.openxmlformats.org/drawingml/2006/main">
              <a:ext uri="{FF2B5EF4-FFF2-40B4-BE49-F238E27FC236}">
                <a16:creationId xmlns:a16="http://schemas.microsoft.com/office/drawing/2014/main" id="{7074F2E0-B2F0-413D-B52E-6B8E12181CE8}"/>
              </a:ext>
            </a:extLst>
          </p:cNvPr>
          <p:cNvSpPr>
            <a:spLocks xmlns:a="http://schemas.openxmlformats.org/drawingml/2006/main" noGrp="1"/>
          </p:cNvSpPr>
          <p:nvPr/>
        </p:nvSpPr>
        <p:spPr>
          <a:xfrm xmlns:a="http://schemas.openxmlformats.org/drawingml/2006/main">
            <a:off x="841248" y="2898648"/>
            <a:ext cx="3108960" cy="484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920" b="1">
                <a:solidFill>
                  <a:srgbClr val="172033"/>
                </a:solidFill>
                <a:latin typeface="Inter"/>
                <a:ea typeface="Inter"/>
                <a:cs typeface="Inter"/>
              </a:rPr>
              <a:t>Connect and fetch</a:t>
            </a:r>
            <a:endParaRPr sz="1920"/>
          </a:p>
        </p:txBody>
      </p:sp>
      <p:sp>
        <p:nvSpPr>
          <p:cNvPr id="14" name="Text 12">
            <a:extLst xmlns:a="http://schemas.openxmlformats.org/drawingml/2006/main">
              <a:ext uri="{FF2B5EF4-FFF2-40B4-BE49-F238E27FC236}">
                <a16:creationId xmlns:a16="http://schemas.microsoft.com/office/drawing/2014/main" id="{5EF7CAA0-36A8-4937-ACBA-25A15ABBBEB4}"/>
              </a:ext>
            </a:extLst>
          </p:cNvPr>
          <p:cNvSpPr>
            <a:spLocks xmlns:a="http://schemas.openxmlformats.org/drawingml/2006/main" noGrp="1"/>
          </p:cNvSpPr>
          <p:nvPr/>
        </p:nvSpPr>
        <p:spPr>
          <a:xfrm xmlns:a="http://schemas.openxmlformats.org/drawingml/2006/main">
            <a:off x="841248" y="3493008"/>
            <a:ext cx="310896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60">
                <a:solidFill>
                  <a:srgbClr val="667085"/>
                </a:solidFill>
                <a:latin typeface="Inter"/>
                <a:ea typeface="Inter"/>
                <a:cs typeface="Inter"/>
              </a:rPr>
              <a:t>Delegated OAuth links source identities. Celery workers import content and reconcile provider changes.</a:t>
            </a:r>
            <a:endParaRPr sz="1460"/>
          </a:p>
        </p:txBody>
      </p:sp>
      <p:sp>
        <p:nvSpPr>
          <p:cNvPr id="15" name="Shape 13">
            <a:extLst xmlns:a="http://schemas.openxmlformats.org/drawingml/2006/main">
              <a:ext uri="{FF2B5EF4-FFF2-40B4-BE49-F238E27FC236}">
                <a16:creationId xmlns:a16="http://schemas.microsoft.com/office/drawing/2014/main" id="{E149E1D7-925B-461B-964A-D48115034C86}"/>
              </a:ext>
            </a:extLst>
          </p:cNvPr>
          <p:cNvSpPr>
            <a:spLocks xmlns:a="http://schemas.openxmlformats.org/drawingml/2006/main" noGrp="1"/>
          </p:cNvSpPr>
          <p:nvPr/>
        </p:nvSpPr>
        <p:spPr>
          <a:xfrm xmlns:a="http://schemas.openxmlformats.org/drawingml/2006/main">
            <a:off x="4334256" y="2057400"/>
            <a:ext cx="3511296" cy="3054096"/>
          </a:xfrm>
          <a:prstGeom xmlns:a="http://schemas.openxmlformats.org/drawingml/2006/main" prst="roundRect">
            <a:avLst>
              <a:gd name="adj" fmla="val 5988"/>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FA848936-79B5-4789-8B18-B58DFAD5CD08}"/>
              </a:ext>
            </a:extLst>
          </p:cNvPr>
          <p:cNvSpPr>
            <a:spLocks xmlns:a="http://schemas.openxmlformats.org/drawingml/2006/main" noGrp="1"/>
          </p:cNvSpPr>
          <p:nvPr/>
        </p:nvSpPr>
        <p:spPr>
          <a:xfrm xmlns:a="http://schemas.openxmlformats.org/drawingml/2006/main">
            <a:off x="4535424" y="2276856"/>
            <a:ext cx="429768" cy="429768"/>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1AA06DD8-5CFA-4052-8666-5D1A49F7923A}"/>
              </a:ext>
            </a:extLst>
          </p:cNvPr>
          <p:cNvSpPr>
            <a:spLocks xmlns:a="http://schemas.openxmlformats.org/drawingml/2006/main" noGrp="1"/>
          </p:cNvSpPr>
          <p:nvPr/>
        </p:nvSpPr>
        <p:spPr>
          <a:xfrm xmlns:a="http://schemas.openxmlformats.org/drawingml/2006/main">
            <a:off x="4535424" y="2340864"/>
            <a:ext cx="42976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5253D7"/>
                </a:solidFill>
                <a:latin typeface="Inter"/>
                <a:ea typeface="Inter"/>
                <a:cs typeface="Inter"/>
              </a:rPr>
              <a:t>02</a:t>
            </a:r>
            <a:endParaRPr sz="1300"/>
          </a:p>
        </p:txBody>
      </p:sp>
      <p:sp>
        <p:nvSpPr>
          <p:cNvPr id="18" name="Text 16">
            <a:extLst xmlns:a="http://schemas.openxmlformats.org/drawingml/2006/main">
              <a:ext uri="{FF2B5EF4-FFF2-40B4-BE49-F238E27FC236}">
                <a16:creationId xmlns:a16="http://schemas.microsoft.com/office/drawing/2014/main" id="{499AE96C-6862-4E9F-86E1-61A06F90DCAD}"/>
              </a:ext>
            </a:extLst>
          </p:cNvPr>
          <p:cNvSpPr>
            <a:spLocks xmlns:a="http://schemas.openxmlformats.org/drawingml/2006/main" noGrp="1"/>
          </p:cNvSpPr>
          <p:nvPr/>
        </p:nvSpPr>
        <p:spPr>
          <a:xfrm xmlns:a="http://schemas.openxmlformats.org/drawingml/2006/main">
            <a:off x="4535424" y="2898648"/>
            <a:ext cx="3108960" cy="484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920" b="1">
                <a:solidFill>
                  <a:srgbClr val="172033"/>
                </a:solidFill>
                <a:latin typeface="Inter"/>
                <a:ea typeface="Inter"/>
                <a:cs typeface="Inter"/>
              </a:rPr>
              <a:t>Prepare evidence</a:t>
            </a:r>
            <a:endParaRPr sz="1920"/>
          </a:p>
        </p:txBody>
      </p:sp>
      <p:sp>
        <p:nvSpPr>
          <p:cNvPr id="19" name="Text 17">
            <a:extLst xmlns:a="http://schemas.openxmlformats.org/drawingml/2006/main">
              <a:ext uri="{FF2B5EF4-FFF2-40B4-BE49-F238E27FC236}">
                <a16:creationId xmlns:a16="http://schemas.microsoft.com/office/drawing/2014/main" id="{8CCB137B-BC07-4C89-8532-42C5ADF56B19}"/>
              </a:ext>
            </a:extLst>
          </p:cNvPr>
          <p:cNvSpPr>
            <a:spLocks xmlns:a="http://schemas.openxmlformats.org/drawingml/2006/main" noGrp="1"/>
          </p:cNvSpPr>
          <p:nvPr/>
        </p:nvSpPr>
        <p:spPr>
          <a:xfrm xmlns:a="http://schemas.openxmlformats.org/drawingml/2006/main">
            <a:off x="4535424" y="3493008"/>
            <a:ext cx="310896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60">
                <a:solidFill>
                  <a:srgbClr val="667085"/>
                </a:solidFill>
                <a:latin typeface="Inter"/>
                <a:ea typeface="Inter"/>
                <a:cs typeface="Inter"/>
              </a:rPr>
              <a:t>Normalise source content, resolve access-control metadata and split text into searchable chunks.</a:t>
            </a:r>
            <a:endParaRPr sz="1460"/>
          </a:p>
        </p:txBody>
      </p:sp>
      <p:sp>
        <p:nvSpPr>
          <p:cNvPr id="20" name="Shape 18">
            <a:extLst xmlns:a="http://schemas.openxmlformats.org/drawingml/2006/main">
              <a:ext uri="{FF2B5EF4-FFF2-40B4-BE49-F238E27FC236}">
                <a16:creationId xmlns:a16="http://schemas.microsoft.com/office/drawing/2014/main" id="{81F737B6-723B-4DAD-AD42-D8B41A6B47CE}"/>
              </a:ext>
            </a:extLst>
          </p:cNvPr>
          <p:cNvSpPr>
            <a:spLocks xmlns:a="http://schemas.openxmlformats.org/drawingml/2006/main" noGrp="1"/>
          </p:cNvSpPr>
          <p:nvPr/>
        </p:nvSpPr>
        <p:spPr>
          <a:xfrm xmlns:a="http://schemas.openxmlformats.org/drawingml/2006/main">
            <a:off x="8037576" y="2057400"/>
            <a:ext cx="3511296" cy="3054096"/>
          </a:xfrm>
          <a:prstGeom xmlns:a="http://schemas.openxmlformats.org/drawingml/2006/main" prst="roundRect">
            <a:avLst>
              <a:gd name="adj" fmla="val 5988"/>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C104FE1E-E5AE-4414-A18E-AB8E7E9CD6F4}"/>
              </a:ext>
            </a:extLst>
          </p:cNvPr>
          <p:cNvSpPr>
            <a:spLocks xmlns:a="http://schemas.openxmlformats.org/drawingml/2006/main" noGrp="1"/>
          </p:cNvSpPr>
          <p:nvPr/>
        </p:nvSpPr>
        <p:spPr>
          <a:xfrm xmlns:a="http://schemas.openxmlformats.org/drawingml/2006/main">
            <a:off x="8238744" y="2276856"/>
            <a:ext cx="429768" cy="429768"/>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51214B2D-A62E-4963-8939-75FC2424A291}"/>
              </a:ext>
            </a:extLst>
          </p:cNvPr>
          <p:cNvSpPr>
            <a:spLocks xmlns:a="http://schemas.openxmlformats.org/drawingml/2006/main" noGrp="1"/>
          </p:cNvSpPr>
          <p:nvPr/>
        </p:nvSpPr>
        <p:spPr>
          <a:xfrm xmlns:a="http://schemas.openxmlformats.org/drawingml/2006/main">
            <a:off x="8238744" y="2340864"/>
            <a:ext cx="429768" cy="2103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5253D7"/>
                </a:solidFill>
                <a:latin typeface="Inter"/>
                <a:ea typeface="Inter"/>
                <a:cs typeface="Inter"/>
              </a:rPr>
              <a:t>03</a:t>
            </a:r>
            <a:endParaRPr sz="1300"/>
          </a:p>
        </p:txBody>
      </p:sp>
      <p:sp>
        <p:nvSpPr>
          <p:cNvPr id="23" name="Text 21">
            <a:extLst xmlns:a="http://schemas.openxmlformats.org/drawingml/2006/main">
              <a:ext uri="{FF2B5EF4-FFF2-40B4-BE49-F238E27FC236}">
                <a16:creationId xmlns:a16="http://schemas.microsoft.com/office/drawing/2014/main" id="{1FAFD916-0798-4B3D-99E8-BA2943931805}"/>
              </a:ext>
            </a:extLst>
          </p:cNvPr>
          <p:cNvSpPr>
            <a:spLocks xmlns:a="http://schemas.openxmlformats.org/drawingml/2006/main" noGrp="1"/>
          </p:cNvSpPr>
          <p:nvPr/>
        </p:nvSpPr>
        <p:spPr>
          <a:xfrm xmlns:a="http://schemas.openxmlformats.org/drawingml/2006/main">
            <a:off x="8238744" y="2898648"/>
            <a:ext cx="3108960" cy="4846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920" b="1">
                <a:solidFill>
                  <a:srgbClr val="172033"/>
                </a:solidFill>
                <a:latin typeface="Inter"/>
                <a:ea typeface="Inter"/>
                <a:cs typeface="Inter"/>
              </a:rPr>
              <a:t>Index and activate</a:t>
            </a:r>
            <a:endParaRPr sz="1920"/>
          </a:p>
        </p:txBody>
      </p:sp>
      <p:sp>
        <p:nvSpPr>
          <p:cNvPr id="24" name="Text 22">
            <a:extLst xmlns:a="http://schemas.openxmlformats.org/drawingml/2006/main">
              <a:ext uri="{FF2B5EF4-FFF2-40B4-BE49-F238E27FC236}">
                <a16:creationId xmlns:a16="http://schemas.microsoft.com/office/drawing/2014/main" id="{07893489-9271-4EB9-AF6D-D2DA2264363A}"/>
              </a:ext>
            </a:extLst>
          </p:cNvPr>
          <p:cNvSpPr>
            <a:spLocks xmlns:a="http://schemas.openxmlformats.org/drawingml/2006/main" noGrp="1"/>
          </p:cNvSpPr>
          <p:nvPr/>
        </p:nvSpPr>
        <p:spPr>
          <a:xfrm xmlns:a="http://schemas.openxmlformats.org/drawingml/2006/main">
            <a:off x="8238744" y="3493008"/>
            <a:ext cx="310896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60">
                <a:solidFill>
                  <a:srgbClr val="667085"/>
                </a:solidFill>
                <a:latin typeface="Inter"/>
                <a:ea typeface="Inter"/>
                <a:cs typeface="Inter"/>
              </a:rPr>
              <a:t>Store embeddings and full-text indexes in PostgreSQL with pgvector. Activate a version only when ready.</a:t>
            </a:r>
            <a:endParaRPr sz="1460"/>
          </a:p>
        </p:txBody>
      </p:sp>
      <p:sp>
        <p:nvSpPr>
          <p:cNvPr id="25" name="Shape 23">
            <a:extLst xmlns:a="http://schemas.openxmlformats.org/drawingml/2006/main">
              <a:ext uri="{FF2B5EF4-FFF2-40B4-BE49-F238E27FC236}">
                <a16:creationId xmlns:a16="http://schemas.microsoft.com/office/drawing/2014/main" id="{35E38A73-763C-4239-A734-9FDA15F2F0BD}"/>
              </a:ext>
            </a:extLst>
          </p:cNvPr>
          <p:cNvSpPr>
            <a:spLocks xmlns:a="http://schemas.openxmlformats.org/drawingml/2006/main" noGrp="1"/>
          </p:cNvSpPr>
          <p:nvPr/>
        </p:nvSpPr>
        <p:spPr>
          <a:xfrm xmlns:a="http://schemas.openxmlformats.org/drawingml/2006/main">
            <a:off x="640080" y="5394960"/>
            <a:ext cx="10908792" cy="768096"/>
          </a:xfrm>
          <a:prstGeom xmlns:a="http://schemas.openxmlformats.org/drawingml/2006/main" prst="roundRect">
            <a:avLst>
              <a:gd name="adj" fmla="val 21429"/>
            </a:avLst>
          </a:prstGeom>
          <a:solidFill xmlns:a="http://schemas.openxmlformats.org/drawingml/2006/main">
            <a:srgbClr val="ECF9F5"/>
          </a:solidFill>
          <a:ln xmlns:a="http://schemas.openxmlformats.org/drawingml/2006/main" w="10160">
            <a:solidFill>
              <a:srgbClr val="D3EBE4"/>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62320EBF-398F-4A94-B3A5-5088488765F8}"/>
              </a:ext>
            </a:extLst>
          </p:cNvPr>
          <p:cNvSpPr>
            <a:spLocks xmlns:a="http://schemas.openxmlformats.org/drawingml/2006/main" noGrp="1"/>
          </p:cNvSpPr>
          <p:nvPr/>
        </p:nvSpPr>
        <p:spPr>
          <a:xfrm xmlns:a="http://schemas.openxmlformats.org/drawingml/2006/main">
            <a:off x="841248" y="5632704"/>
            <a:ext cx="256032" cy="256032"/>
          </a:xfrm>
          <a:prstGeom xmlns:a="http://schemas.openxmlformats.org/drawingml/2006/main" prst="ellipse">
            <a:avLst/>
          </a:prstGeom>
          <a:solidFill xmlns:a="http://schemas.openxmlformats.org/drawingml/2006/main">
            <a:srgbClr val="0B927D"/>
          </a:solidFill>
          <a:ln xmlns:a="http://schemas.openxmlformats.org/drawingml/2006/main" w="12700">
            <a:solidFill>
              <a:srgbClr val="0B927D"/>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Shape 25">
            <a:extLst xmlns:a="http://schemas.openxmlformats.org/drawingml/2006/main">
              <a:ext uri="{FF2B5EF4-FFF2-40B4-BE49-F238E27FC236}">
                <a16:creationId xmlns:a16="http://schemas.microsoft.com/office/drawing/2014/main" id="{25222C1E-BBED-40C7-8BB5-92385103FC50}"/>
              </a:ext>
            </a:extLst>
          </p:cNvPr>
          <p:cNvSpPr>
            <a:spLocks xmlns:a="http://schemas.openxmlformats.org/drawingml/2006/main" noGrp="1"/>
          </p:cNvSpPr>
          <p:nvPr/>
        </p:nvSpPr>
        <p:spPr>
          <a:xfrm xmlns:a="http://schemas.openxmlformats.org/drawingml/2006/main">
            <a:off x="902513" y="5773522"/>
            <a:ext cx="52121" cy="51206"/>
          </a:xfrm>
          <a:prstGeom xmlns:a="http://schemas.openxmlformats.org/drawingml/2006/main" prst="line">
            <a:avLst/>
          </a:prstGeom>
          <a:noFill xmlns:a="http://schemas.openxmlformats.org/drawingml/2006/main"/>
          <a:ln xmlns:a="http://schemas.openxmlformats.org/drawingml/2006/main" w="254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29" name="Text 27">
            <a:extLst xmlns:a="http://schemas.openxmlformats.org/drawingml/2006/main">
              <a:ext uri="{FF2B5EF4-FFF2-40B4-BE49-F238E27FC236}">
                <a16:creationId xmlns:a16="http://schemas.microsoft.com/office/drawing/2014/main" id="{A407E83A-DA1F-4FB1-9C79-1B15560CF464}"/>
              </a:ext>
            </a:extLst>
          </p:cNvPr>
          <p:cNvSpPr>
            <a:spLocks xmlns:a="http://schemas.openxmlformats.org/drawingml/2006/main" noGrp="1"/>
          </p:cNvSpPr>
          <p:nvPr/>
        </p:nvSpPr>
        <p:spPr>
          <a:xfrm xmlns:a="http://schemas.openxmlformats.org/drawingml/2006/main">
            <a:off x="1243584" y="5541264"/>
            <a:ext cx="2770632"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80" b="1" spc="50">
                <a:solidFill>
                  <a:srgbClr val="0B927D"/>
                </a:solidFill>
                <a:latin typeface="Inter"/>
                <a:ea typeface="Inter"/>
                <a:cs typeface="Inter"/>
              </a:rPr>
              <a:t>FRESHNESS + PROVENANCE</a:t>
            </a:r>
            <a:endParaRPr sz="1080"/>
          </a:p>
        </p:txBody>
      </p:sp>
      <p:sp>
        <p:nvSpPr>
          <p:cNvPr id="30" name="Text 28">
            <a:extLst xmlns:a="http://schemas.openxmlformats.org/drawingml/2006/main">
              <a:ext uri="{FF2B5EF4-FFF2-40B4-BE49-F238E27FC236}">
                <a16:creationId xmlns:a16="http://schemas.microsoft.com/office/drawing/2014/main" id="{E5BC6029-B92B-4ADF-9042-A17A5D0C68F5}"/>
              </a:ext>
            </a:extLst>
          </p:cNvPr>
          <p:cNvSpPr>
            <a:spLocks xmlns:a="http://schemas.openxmlformats.org/drawingml/2006/main" noGrp="1"/>
          </p:cNvSpPr>
          <p:nvPr/>
        </p:nvSpPr>
        <p:spPr>
          <a:xfrm xmlns:a="http://schemas.openxmlformats.org/drawingml/2006/main">
            <a:off x="1243584" y="5788152"/>
            <a:ext cx="97840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40">
                <a:solidFill>
                  <a:srgbClr val="172033"/>
                </a:solidFill>
                <a:latin typeface="Inter"/>
                <a:ea typeface="Inter"/>
                <a:cs typeface="Inter"/>
              </a:rPr>
              <a:t>Reconciliation finds changes; immutable revisions preserve provenance. Indexed ACLs narrow candidates, but live provider checks decide access.</a:t>
            </a:r>
            <a:endParaRPr sz="1340"/>
          </a:p>
        </p:txBody>
      </p:sp>
    </p:spTree>
    <p:extLst>
      <p:ext uri="{BB962C8B-B14F-4D97-AF65-F5344CB8AC3E}">
        <p14:creationId xmlns:p14="http://schemas.microsoft.com/office/powerpoint/2010/main" val="625855707"/>
      </p:ext>
    </p:extLst>
  </p:cSld>
</p:sld>
</file>

<file path=ppt/slides/slide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5568EA8-C357-4D99-8787-36961E70D11C}"/>
              </a:ext>
            </a:extLst>
          </p:cNvPr>
          <p:cNvSpPr>
            <a:spLocks xmlns:a="http://schemas.openxmlformats.org/drawingml/2006/main" noGrp="1"/>
          </p:cNvSpPr>
          <p:nvPr/>
        </p:nvSpPr>
        <p:spPr>
          <a:xfrm xmlns:a="http://schemas.openxmlformats.org/drawingml/2006/main">
            <a:off x="0" y="0"/>
            <a:ext cx="12192000" cy="50292"/>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ADDF965-A0AF-44BA-938C-F1485322DD9B}"/>
              </a:ext>
            </a:extLst>
          </p:cNvPr>
          <p:cNvSpPr>
            <a:spLocks xmlns:a="http://schemas.openxmlformats.org/drawingml/2006/main" noGrp="1"/>
          </p:cNvSpPr>
          <p:nvPr/>
        </p:nvSpPr>
        <p:spPr>
          <a:xfrm xmlns:a="http://schemas.openxmlformats.org/drawingml/2006/main">
            <a:off x="640080" y="3931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TECHNICAL OVERVIEW</a:t>
            </a:r>
            <a:endParaRPr sz="1010"/>
          </a:p>
        </p:txBody>
      </p:sp>
      <p:sp>
        <p:nvSpPr>
          <p:cNvPr id="4" name="Text 2">
            <a:extLst xmlns:a="http://schemas.openxmlformats.org/drawingml/2006/main">
              <a:ext uri="{FF2B5EF4-FFF2-40B4-BE49-F238E27FC236}">
                <a16:creationId xmlns:a16="http://schemas.microsoft.com/office/drawing/2014/main" id="{E27FB200-DDA5-4FE6-94A7-C9CAC143C329}"/>
              </a:ext>
            </a:extLst>
          </p:cNvPr>
          <p:cNvSpPr>
            <a:spLocks xmlns:a="http://schemas.openxmlformats.org/drawingml/2006/main" noGrp="1"/>
          </p:cNvSpPr>
          <p:nvPr/>
        </p:nvSpPr>
        <p:spPr>
          <a:xfrm xmlns:a="http://schemas.openxmlformats.org/drawingml/2006/main">
            <a:off x="640080" y="740664"/>
            <a:ext cx="109545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950" b="1">
                <a:solidFill>
                  <a:srgbClr val="172033"/>
                </a:solidFill>
                <a:latin typeface="Inter"/>
                <a:ea typeface="Inter"/>
                <a:cs typeface="Inter"/>
              </a:rPr>
              <a:t>Permission-safe retrieval and RAG</a:t>
            </a:r>
            <a:endParaRPr sz="2950"/>
          </a:p>
        </p:txBody>
      </p:sp>
      <p:sp>
        <p:nvSpPr>
          <p:cNvPr id="5" name="Text 3">
            <a:extLst xmlns:a="http://schemas.openxmlformats.org/drawingml/2006/main">
              <a:ext uri="{FF2B5EF4-FFF2-40B4-BE49-F238E27FC236}">
                <a16:creationId xmlns:a16="http://schemas.microsoft.com/office/drawing/2014/main" id="{99172781-F63C-4CFB-9FFD-F3F6FCF09F3D}"/>
              </a:ext>
            </a:extLst>
          </p:cNvPr>
          <p:cNvSpPr>
            <a:spLocks xmlns:a="http://schemas.openxmlformats.org/drawingml/2006/main" noGrp="1"/>
          </p:cNvSpPr>
          <p:nvPr/>
        </p:nvSpPr>
        <p:spPr>
          <a:xfrm xmlns:a="http://schemas.openxmlformats.org/drawingml/2006/main">
            <a:off x="640080" y="1399032"/>
            <a:ext cx="10844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10">
                <a:solidFill>
                  <a:srgbClr val="667085"/>
                </a:solidFill>
                <a:latin typeface="Inter"/>
                <a:ea typeface="Inter"/>
                <a:cs typeface="Inter"/>
              </a:rPr>
              <a:t>Hybrid search finds evidence. Live authorisation controls what may enter the answer.</a:t>
            </a:r>
            <a:endParaRPr sz="1410"/>
          </a:p>
        </p:txBody>
      </p:sp>
      <p:sp>
        <p:nvSpPr>
          <p:cNvPr id="6" name="Shape 4">
            <a:extLst xmlns:a="http://schemas.openxmlformats.org/drawingml/2006/main">
              <a:ext uri="{FF2B5EF4-FFF2-40B4-BE49-F238E27FC236}">
                <a16:creationId xmlns:a16="http://schemas.microsoft.com/office/drawing/2014/main" id="{A82991C7-9E46-43A4-AB9A-19B94E2DCCFA}"/>
              </a:ext>
            </a:extLst>
          </p:cNvPr>
          <p:cNvSpPr>
            <a:spLocks xmlns:a="http://schemas.openxmlformats.org/drawingml/2006/main" noGrp="1"/>
          </p:cNvSpPr>
          <p:nvPr/>
        </p:nvSpPr>
        <p:spPr>
          <a:xfrm xmlns:a="http://schemas.openxmlformats.org/drawingml/2006/main">
            <a:off x="640080" y="6437376"/>
            <a:ext cx="10908792" cy="0"/>
          </a:xfrm>
          <a:prstGeom xmlns:a="http://schemas.openxmlformats.org/drawingml/2006/main" prst="line">
            <a:avLst/>
          </a:prstGeom>
          <a:noFill xmlns:a="http://schemas.openxmlformats.org/drawingml/2006/main"/>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61EAB6F2-C203-4F37-BE30-250389372F60}"/>
              </a:ext>
            </a:extLst>
          </p:cNvPr>
          <p:cNvSpPr>
            <a:spLocks xmlns:a="http://schemas.openxmlformats.org/drawingml/2006/main" noGrp="1"/>
          </p:cNvSpPr>
          <p:nvPr/>
        </p:nvSpPr>
        <p:spPr>
          <a:xfrm xmlns:a="http://schemas.openxmlformats.org/drawingml/2006/main">
            <a:off x="640080" y="6528816"/>
            <a:ext cx="585216"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40" b="1">
                <a:solidFill>
                  <a:srgbClr val="172033"/>
                </a:solidFill>
                <a:latin typeface="Inter"/>
                <a:ea typeface="Inter"/>
                <a:cs typeface="Inter"/>
              </a:rPr>
              <a:t>relay</a:t>
            </a:r>
            <a:endParaRPr sz="1040"/>
          </a:p>
        </p:txBody>
      </p:sp>
      <p:sp>
        <p:nvSpPr>
          <p:cNvPr id="8" name="Text 6">
            <a:extLst xmlns:a="http://schemas.openxmlformats.org/drawingml/2006/main">
              <a:ext uri="{FF2B5EF4-FFF2-40B4-BE49-F238E27FC236}">
                <a16:creationId xmlns:a16="http://schemas.microsoft.com/office/drawing/2014/main" id="{61A4E8F6-5E2A-44FD-AD5F-FCCA871C6321}"/>
              </a:ext>
            </a:extLst>
          </p:cNvPr>
          <p:cNvSpPr>
            <a:spLocks xmlns:a="http://schemas.openxmlformats.org/drawingml/2006/main" noGrp="1"/>
          </p:cNvSpPr>
          <p:nvPr/>
        </p:nvSpPr>
        <p:spPr>
          <a:xfrm xmlns:a="http://schemas.openxmlformats.org/drawingml/2006/main">
            <a:off x="1307592" y="6528816"/>
            <a:ext cx="274320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70">
                <a:solidFill>
                  <a:srgbClr val="94A3B8"/>
                </a:solidFill>
                <a:latin typeface="Inter"/>
                <a:ea typeface="Inter"/>
                <a:cs typeface="Inter"/>
              </a:rPr>
              <a:t>/ Tencent Hackathon demo</a:t>
            </a:r>
            <a:endParaRPr sz="970"/>
          </a:p>
        </p:txBody>
      </p:sp>
      <p:sp>
        <p:nvSpPr>
          <p:cNvPr id="9" name="Text 7">
            <a:extLst xmlns:a="http://schemas.openxmlformats.org/drawingml/2006/main">
              <a:ext uri="{FF2B5EF4-FFF2-40B4-BE49-F238E27FC236}">
                <a16:creationId xmlns:a16="http://schemas.microsoft.com/office/drawing/2014/main" id="{DC66538D-294F-4A39-A285-FC263B285319}"/>
              </a:ext>
            </a:extLst>
          </p:cNvPr>
          <p:cNvSpPr>
            <a:spLocks xmlns:a="http://schemas.openxmlformats.org/drawingml/2006/main" noGrp="1"/>
          </p:cNvSpPr>
          <p:nvPr/>
        </p:nvSpPr>
        <p:spPr>
          <a:xfrm xmlns:a="http://schemas.openxmlformats.org/drawingml/2006/main">
            <a:off x="11036808" y="6519672"/>
            <a:ext cx="502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04</a:t>
            </a:r>
            <a:endParaRPr sz="1000"/>
          </a:p>
        </p:txBody>
      </p:sp>
      <p:sp>
        <p:nvSpPr>
          <p:cNvPr id="10" name="Shape 8">
            <a:extLst xmlns:a="http://schemas.openxmlformats.org/drawingml/2006/main">
              <a:ext uri="{FF2B5EF4-FFF2-40B4-BE49-F238E27FC236}">
                <a16:creationId xmlns:a16="http://schemas.microsoft.com/office/drawing/2014/main" id="{9F836A2D-F04D-4024-974C-F510E211EAF4}"/>
              </a:ext>
            </a:extLst>
          </p:cNvPr>
          <p:cNvSpPr>
            <a:spLocks xmlns:a="http://schemas.openxmlformats.org/drawingml/2006/main" noGrp="1"/>
          </p:cNvSpPr>
          <p:nvPr/>
        </p:nvSpPr>
        <p:spPr>
          <a:xfrm xmlns:a="http://schemas.openxmlformats.org/drawingml/2006/main">
            <a:off x="640080" y="2039112"/>
            <a:ext cx="2020824" cy="2990088"/>
          </a:xfrm>
          <a:prstGeom xmlns:a="http://schemas.openxmlformats.org/drawingml/2006/main" prst="roundRect">
            <a:avLst>
              <a:gd name="adj" fmla="val 8145"/>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888B791C-7DD0-4A6B-95EA-DB548C12762C}"/>
              </a:ext>
            </a:extLst>
          </p:cNvPr>
          <p:cNvSpPr>
            <a:spLocks xmlns:a="http://schemas.openxmlformats.org/drawingml/2006/main" noGrp="1"/>
          </p:cNvSpPr>
          <p:nvPr/>
        </p:nvSpPr>
        <p:spPr>
          <a:xfrm xmlns:a="http://schemas.openxmlformats.org/drawingml/2006/main">
            <a:off x="813816" y="2240280"/>
            <a:ext cx="521208" cy="338328"/>
          </a:xfrm>
          <a:prstGeom xmlns:a="http://schemas.openxmlformats.org/drawingml/2006/main" prst="roundRect">
            <a:avLst>
              <a:gd name="adj" fmla="val 35135"/>
            </a:avLst>
          </a:prstGeom>
          <a:solidFill xmlns:a="http://schemas.openxmlformats.org/drawingml/2006/main">
            <a:srgbClr val="EFF0FF"/>
          </a:solidFill>
          <a:ln xmlns:a="http://schemas.openxmlformats.org/drawingml/2006/main" w="1016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0E632BC9-6A8A-41EF-A299-7E83633DDD03}"/>
              </a:ext>
            </a:extLst>
          </p:cNvPr>
          <p:cNvSpPr>
            <a:spLocks xmlns:a="http://schemas.openxmlformats.org/drawingml/2006/main" noGrp="1"/>
          </p:cNvSpPr>
          <p:nvPr/>
        </p:nvSpPr>
        <p:spPr>
          <a:xfrm xmlns:a="http://schemas.openxmlformats.org/drawingml/2006/main">
            <a:off x="905256" y="2253996"/>
            <a:ext cx="338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10" b="1">
                <a:solidFill>
                  <a:srgbClr val="5253D7"/>
                </a:solidFill>
                <a:latin typeface="Inter"/>
                <a:ea typeface="Inter"/>
                <a:cs typeface="Inter"/>
              </a:rPr>
              <a:t>01</a:t>
            </a:r>
            <a:endParaRPr sz="1110"/>
          </a:p>
        </p:txBody>
      </p:sp>
      <p:sp>
        <p:nvSpPr>
          <p:cNvPr id="13" name="Text 11">
            <a:extLst xmlns:a="http://schemas.openxmlformats.org/drawingml/2006/main">
              <a:ext uri="{FF2B5EF4-FFF2-40B4-BE49-F238E27FC236}">
                <a16:creationId xmlns:a16="http://schemas.microsoft.com/office/drawing/2014/main" id="{8B504D69-C59D-4947-BE99-631493CC797C}"/>
              </a:ext>
            </a:extLst>
          </p:cNvPr>
          <p:cNvSpPr>
            <a:spLocks xmlns:a="http://schemas.openxmlformats.org/drawingml/2006/main" noGrp="1"/>
          </p:cNvSpPr>
          <p:nvPr/>
        </p:nvSpPr>
        <p:spPr>
          <a:xfrm xmlns:a="http://schemas.openxmlformats.org/drawingml/2006/main">
            <a:off x="813816" y="2770632"/>
            <a:ext cx="1673352" cy="5394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90" b="1">
                <a:solidFill>
                  <a:srgbClr val="172033"/>
                </a:solidFill>
                <a:latin typeface="Inter"/>
                <a:ea typeface="Inter"/>
                <a:cs typeface="Inter"/>
              </a:rPr>
              <a:t>Hybrid search</a:t>
            </a:r>
            <a:endParaRPr sz="1690"/>
          </a:p>
        </p:txBody>
      </p:sp>
      <p:sp>
        <p:nvSpPr>
          <p:cNvPr id="14" name="Text 12">
            <a:extLst xmlns:a="http://schemas.openxmlformats.org/drawingml/2006/main">
              <a:ext uri="{FF2B5EF4-FFF2-40B4-BE49-F238E27FC236}">
                <a16:creationId xmlns:a16="http://schemas.microsoft.com/office/drawing/2014/main" id="{33A85914-6912-4B70-9AA5-7E5D0F494CA0}"/>
              </a:ext>
            </a:extLst>
          </p:cNvPr>
          <p:cNvSpPr>
            <a:spLocks xmlns:a="http://schemas.openxmlformats.org/drawingml/2006/main" noGrp="1"/>
          </p:cNvSpPr>
          <p:nvPr/>
        </p:nvSpPr>
        <p:spPr>
          <a:xfrm xmlns:a="http://schemas.openxmlformats.org/drawingml/2006/main">
            <a:off x="813816" y="3483864"/>
            <a:ext cx="1673352" cy="1289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75">
                <a:solidFill>
                  <a:srgbClr val="667085"/>
                </a:solidFill>
                <a:latin typeface="Inter"/>
                <a:ea typeface="Inter"/>
                <a:cs typeface="Inter"/>
              </a:rPr>
              <a:t>Vector similarity and full-text search. RRF merges candidate ranks.</a:t>
            </a:r>
            <a:endParaRPr sz="1375"/>
          </a:p>
        </p:txBody>
      </p:sp>
      <p:sp>
        <p:nvSpPr>
          <p:cNvPr id="15" name="Shape 13">
            <a:extLst xmlns:a="http://schemas.openxmlformats.org/drawingml/2006/main">
              <a:ext uri="{FF2B5EF4-FFF2-40B4-BE49-F238E27FC236}">
                <a16:creationId xmlns:a16="http://schemas.microsoft.com/office/drawing/2014/main" id="{42434438-6E11-4394-A7D6-2ABB2CC37625}"/>
              </a:ext>
            </a:extLst>
          </p:cNvPr>
          <p:cNvSpPr>
            <a:spLocks xmlns:a="http://schemas.openxmlformats.org/drawingml/2006/main" noGrp="1"/>
          </p:cNvSpPr>
          <p:nvPr/>
        </p:nvSpPr>
        <p:spPr>
          <a:xfrm xmlns:a="http://schemas.openxmlformats.org/drawingml/2006/main">
            <a:off x="2862072" y="2039112"/>
            <a:ext cx="2020824" cy="2990088"/>
          </a:xfrm>
          <a:prstGeom xmlns:a="http://schemas.openxmlformats.org/drawingml/2006/main" prst="roundRect">
            <a:avLst>
              <a:gd name="adj" fmla="val 8145"/>
            </a:avLst>
          </a:prstGeom>
          <a:solidFill xmlns:a="http://schemas.openxmlformats.org/drawingml/2006/main">
            <a:srgbClr val="F0FBF7"/>
          </a:solidFill>
          <a:ln xmlns:a="http://schemas.openxmlformats.org/drawingml/2006/main" w="10160">
            <a:solidFill>
              <a:srgbClr val="97D6C4"/>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C3395D4D-8FB8-45B8-8F66-EEE5EDBEB7F3}"/>
              </a:ext>
            </a:extLst>
          </p:cNvPr>
          <p:cNvSpPr>
            <a:spLocks xmlns:a="http://schemas.openxmlformats.org/drawingml/2006/main" noGrp="1"/>
          </p:cNvSpPr>
          <p:nvPr/>
        </p:nvSpPr>
        <p:spPr>
          <a:xfrm xmlns:a="http://schemas.openxmlformats.org/drawingml/2006/main">
            <a:off x="3035808" y="2240280"/>
            <a:ext cx="521208" cy="338328"/>
          </a:xfrm>
          <a:prstGeom xmlns:a="http://schemas.openxmlformats.org/drawingml/2006/main" prst="roundRect">
            <a:avLst>
              <a:gd name="adj" fmla="val 35135"/>
            </a:avLst>
          </a:prstGeom>
          <a:solidFill xmlns:a="http://schemas.openxmlformats.org/drawingml/2006/main">
            <a:srgbClr val="0B927D"/>
          </a:solidFill>
          <a:ln xmlns:a="http://schemas.openxmlformats.org/drawingml/2006/main" w="10160">
            <a:solidFill>
              <a:srgbClr val="0B927D"/>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D9E70D1E-0A6A-415E-861E-5C000054851F}"/>
              </a:ext>
            </a:extLst>
          </p:cNvPr>
          <p:cNvSpPr>
            <a:spLocks xmlns:a="http://schemas.openxmlformats.org/drawingml/2006/main" noGrp="1"/>
          </p:cNvSpPr>
          <p:nvPr/>
        </p:nvSpPr>
        <p:spPr>
          <a:xfrm xmlns:a="http://schemas.openxmlformats.org/drawingml/2006/main">
            <a:off x="3127248" y="2253996"/>
            <a:ext cx="338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10" b="1">
                <a:solidFill>
                  <a:srgbClr val="FFFFFF"/>
                </a:solidFill>
                <a:latin typeface="Inter"/>
                <a:ea typeface="Inter"/>
                <a:cs typeface="Inter"/>
              </a:rPr>
              <a:t>02</a:t>
            </a:r>
            <a:endParaRPr sz="1110"/>
          </a:p>
        </p:txBody>
      </p:sp>
      <p:sp>
        <p:nvSpPr>
          <p:cNvPr id="18" name="Text 16">
            <a:extLst xmlns:a="http://schemas.openxmlformats.org/drawingml/2006/main">
              <a:ext uri="{FF2B5EF4-FFF2-40B4-BE49-F238E27FC236}">
                <a16:creationId xmlns:a16="http://schemas.microsoft.com/office/drawing/2014/main" id="{8EA809B3-1AF3-4502-ACF3-8785BD8556CB}"/>
              </a:ext>
            </a:extLst>
          </p:cNvPr>
          <p:cNvSpPr>
            <a:spLocks xmlns:a="http://schemas.openxmlformats.org/drawingml/2006/main" noGrp="1"/>
          </p:cNvSpPr>
          <p:nvPr/>
        </p:nvSpPr>
        <p:spPr>
          <a:xfrm xmlns:a="http://schemas.openxmlformats.org/drawingml/2006/main">
            <a:off x="3035808" y="2770632"/>
            <a:ext cx="1673352" cy="5394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90" b="1">
                <a:solidFill>
                  <a:srgbClr val="172033"/>
                </a:solidFill>
                <a:latin typeface="Inter"/>
                <a:ea typeface="Inter"/>
                <a:cs typeface="Inter"/>
              </a:rPr>
              <a:t>Live access</a:t>
            </a:r>
            <a:endParaRPr sz="1690"/>
          </a:p>
        </p:txBody>
      </p:sp>
      <p:sp>
        <p:nvSpPr>
          <p:cNvPr id="19" name="Text 17">
            <a:extLst xmlns:a="http://schemas.openxmlformats.org/drawingml/2006/main">
              <a:ext uri="{FF2B5EF4-FFF2-40B4-BE49-F238E27FC236}">
                <a16:creationId xmlns:a16="http://schemas.microsoft.com/office/drawing/2014/main" id="{2E1DF105-C25D-44AD-89C1-A5F1EEF98445}"/>
              </a:ext>
            </a:extLst>
          </p:cNvPr>
          <p:cNvSpPr>
            <a:spLocks xmlns:a="http://schemas.openxmlformats.org/drawingml/2006/main" noGrp="1"/>
          </p:cNvSpPr>
          <p:nvPr/>
        </p:nvSpPr>
        <p:spPr>
          <a:xfrm xmlns:a="http://schemas.openxmlformats.org/drawingml/2006/main">
            <a:off x="3035808" y="3483864"/>
            <a:ext cx="1673352" cy="1289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75">
                <a:solidFill>
                  <a:srgbClr val="667085"/>
                </a:solidFill>
                <a:latin typeface="Inter"/>
                <a:ea typeface="Inter"/>
                <a:cs typeface="Inter"/>
              </a:rPr>
              <a:t>Tenant-scoped identity; delegated provider checks. Uncertain access is denied.</a:t>
            </a:r>
            <a:endParaRPr sz="1375"/>
          </a:p>
        </p:txBody>
      </p:sp>
      <p:sp>
        <p:nvSpPr>
          <p:cNvPr id="20" name="Shape 18">
            <a:extLst xmlns:a="http://schemas.openxmlformats.org/drawingml/2006/main">
              <a:ext uri="{FF2B5EF4-FFF2-40B4-BE49-F238E27FC236}">
                <a16:creationId xmlns:a16="http://schemas.microsoft.com/office/drawing/2014/main" id="{6ADE68B1-EE17-4ABD-A5C5-9A09328DA3E8}"/>
              </a:ext>
            </a:extLst>
          </p:cNvPr>
          <p:cNvSpPr>
            <a:spLocks xmlns:a="http://schemas.openxmlformats.org/drawingml/2006/main" noGrp="1"/>
          </p:cNvSpPr>
          <p:nvPr/>
        </p:nvSpPr>
        <p:spPr>
          <a:xfrm xmlns:a="http://schemas.openxmlformats.org/drawingml/2006/main">
            <a:off x="5084064" y="2039112"/>
            <a:ext cx="2020824" cy="2990088"/>
          </a:xfrm>
          <a:prstGeom xmlns:a="http://schemas.openxmlformats.org/drawingml/2006/main" prst="roundRect">
            <a:avLst>
              <a:gd name="adj" fmla="val 8145"/>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7B0BE278-0869-450F-B1B5-E5C060217BD2}"/>
              </a:ext>
            </a:extLst>
          </p:cNvPr>
          <p:cNvSpPr>
            <a:spLocks xmlns:a="http://schemas.openxmlformats.org/drawingml/2006/main" noGrp="1"/>
          </p:cNvSpPr>
          <p:nvPr/>
        </p:nvSpPr>
        <p:spPr>
          <a:xfrm xmlns:a="http://schemas.openxmlformats.org/drawingml/2006/main">
            <a:off x="5257800" y="2240280"/>
            <a:ext cx="521208" cy="338328"/>
          </a:xfrm>
          <a:prstGeom xmlns:a="http://schemas.openxmlformats.org/drawingml/2006/main" prst="roundRect">
            <a:avLst>
              <a:gd name="adj" fmla="val 35135"/>
            </a:avLst>
          </a:prstGeom>
          <a:solidFill xmlns:a="http://schemas.openxmlformats.org/drawingml/2006/main">
            <a:srgbClr val="EFF0FF"/>
          </a:solidFill>
          <a:ln xmlns:a="http://schemas.openxmlformats.org/drawingml/2006/main" w="1016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27188C9E-612A-421B-9C21-F84D4AD865BD}"/>
              </a:ext>
            </a:extLst>
          </p:cNvPr>
          <p:cNvSpPr>
            <a:spLocks xmlns:a="http://schemas.openxmlformats.org/drawingml/2006/main" noGrp="1"/>
          </p:cNvSpPr>
          <p:nvPr/>
        </p:nvSpPr>
        <p:spPr>
          <a:xfrm xmlns:a="http://schemas.openxmlformats.org/drawingml/2006/main">
            <a:off x="5349240" y="2253996"/>
            <a:ext cx="338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10" b="1">
                <a:solidFill>
                  <a:srgbClr val="5253D7"/>
                </a:solidFill>
                <a:latin typeface="Inter"/>
                <a:ea typeface="Inter"/>
                <a:cs typeface="Inter"/>
              </a:rPr>
              <a:t>03</a:t>
            </a:r>
            <a:endParaRPr sz="1110"/>
          </a:p>
        </p:txBody>
      </p:sp>
      <p:sp>
        <p:nvSpPr>
          <p:cNvPr id="23" name="Text 21">
            <a:extLst xmlns:a="http://schemas.openxmlformats.org/drawingml/2006/main">
              <a:ext uri="{FF2B5EF4-FFF2-40B4-BE49-F238E27FC236}">
                <a16:creationId xmlns:a16="http://schemas.microsoft.com/office/drawing/2014/main" id="{0580F254-EA87-4B72-9C98-95B66D2377CF}"/>
              </a:ext>
            </a:extLst>
          </p:cNvPr>
          <p:cNvSpPr>
            <a:spLocks xmlns:a="http://schemas.openxmlformats.org/drawingml/2006/main" noGrp="1"/>
          </p:cNvSpPr>
          <p:nvPr/>
        </p:nvSpPr>
        <p:spPr>
          <a:xfrm xmlns:a="http://schemas.openxmlformats.org/drawingml/2006/main">
            <a:off x="5257800" y="2770632"/>
            <a:ext cx="1673352" cy="5394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90" b="1">
                <a:solidFill>
                  <a:srgbClr val="172033"/>
                </a:solidFill>
                <a:latin typeface="Inter"/>
                <a:ea typeface="Inter"/>
                <a:cs typeface="Inter"/>
              </a:rPr>
              <a:t>Context</a:t>
            </a:r>
            <a:endParaRPr sz="1690"/>
          </a:p>
        </p:txBody>
      </p:sp>
      <p:sp>
        <p:nvSpPr>
          <p:cNvPr id="24" name="Text 22">
            <a:extLst xmlns:a="http://schemas.openxmlformats.org/drawingml/2006/main">
              <a:ext uri="{FF2B5EF4-FFF2-40B4-BE49-F238E27FC236}">
                <a16:creationId xmlns:a16="http://schemas.microsoft.com/office/drawing/2014/main" id="{08837E16-5842-4C35-AF5B-C9793699E267}"/>
              </a:ext>
            </a:extLst>
          </p:cNvPr>
          <p:cNvSpPr>
            <a:spLocks xmlns:a="http://schemas.openxmlformats.org/drawingml/2006/main" noGrp="1"/>
          </p:cNvSpPr>
          <p:nvPr/>
        </p:nvSpPr>
        <p:spPr>
          <a:xfrm xmlns:a="http://schemas.openxmlformats.org/drawingml/2006/main">
            <a:off x="5257800" y="3483864"/>
            <a:ext cx="1673352" cy="1289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75">
                <a:solidFill>
                  <a:srgbClr val="667085"/>
                </a:solidFill>
                <a:latin typeface="Inter"/>
                <a:ea typeface="Inter"/>
                <a:cs typeface="Inter"/>
              </a:rPr>
              <a:t>Load permitted text, rerank, then compile evidence IDs within a token budget.</a:t>
            </a:r>
            <a:endParaRPr sz="1375"/>
          </a:p>
        </p:txBody>
      </p:sp>
      <p:sp>
        <p:nvSpPr>
          <p:cNvPr id="25" name="Shape 23">
            <a:extLst xmlns:a="http://schemas.openxmlformats.org/drawingml/2006/main">
              <a:ext uri="{FF2B5EF4-FFF2-40B4-BE49-F238E27FC236}">
                <a16:creationId xmlns:a16="http://schemas.microsoft.com/office/drawing/2014/main" id="{ADEBEA59-56AC-46F6-840F-E32097D5FD94}"/>
              </a:ext>
            </a:extLst>
          </p:cNvPr>
          <p:cNvSpPr>
            <a:spLocks xmlns:a="http://schemas.openxmlformats.org/drawingml/2006/main" noGrp="1"/>
          </p:cNvSpPr>
          <p:nvPr/>
        </p:nvSpPr>
        <p:spPr>
          <a:xfrm xmlns:a="http://schemas.openxmlformats.org/drawingml/2006/main">
            <a:off x="7306056" y="2039112"/>
            <a:ext cx="2020824" cy="2990088"/>
          </a:xfrm>
          <a:prstGeom xmlns:a="http://schemas.openxmlformats.org/drawingml/2006/main" prst="roundRect">
            <a:avLst>
              <a:gd name="adj" fmla="val 8145"/>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3E09330B-AA63-4F92-A61A-594FCF3F4A41}"/>
              </a:ext>
            </a:extLst>
          </p:cNvPr>
          <p:cNvSpPr>
            <a:spLocks xmlns:a="http://schemas.openxmlformats.org/drawingml/2006/main" noGrp="1"/>
          </p:cNvSpPr>
          <p:nvPr/>
        </p:nvSpPr>
        <p:spPr>
          <a:xfrm xmlns:a="http://schemas.openxmlformats.org/drawingml/2006/main">
            <a:off x="7479792" y="2240280"/>
            <a:ext cx="521208" cy="338328"/>
          </a:xfrm>
          <a:prstGeom xmlns:a="http://schemas.openxmlformats.org/drawingml/2006/main" prst="roundRect">
            <a:avLst>
              <a:gd name="adj" fmla="val 35135"/>
            </a:avLst>
          </a:prstGeom>
          <a:solidFill xmlns:a="http://schemas.openxmlformats.org/drawingml/2006/main">
            <a:srgbClr val="EFF0FF"/>
          </a:solidFill>
          <a:ln xmlns:a="http://schemas.openxmlformats.org/drawingml/2006/main" w="1016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184ECF6B-C9CD-4606-A94B-BCAC967ECB08}"/>
              </a:ext>
            </a:extLst>
          </p:cNvPr>
          <p:cNvSpPr>
            <a:spLocks xmlns:a="http://schemas.openxmlformats.org/drawingml/2006/main" noGrp="1"/>
          </p:cNvSpPr>
          <p:nvPr/>
        </p:nvSpPr>
        <p:spPr>
          <a:xfrm xmlns:a="http://schemas.openxmlformats.org/drawingml/2006/main">
            <a:off x="7571232" y="2253996"/>
            <a:ext cx="338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10" b="1">
                <a:solidFill>
                  <a:srgbClr val="5253D7"/>
                </a:solidFill>
                <a:latin typeface="Inter"/>
                <a:ea typeface="Inter"/>
                <a:cs typeface="Inter"/>
              </a:rPr>
              <a:t>04</a:t>
            </a:r>
            <a:endParaRPr sz="1110"/>
          </a:p>
        </p:txBody>
      </p:sp>
      <p:sp>
        <p:nvSpPr>
          <p:cNvPr id="28" name="Text 26">
            <a:extLst xmlns:a="http://schemas.openxmlformats.org/drawingml/2006/main">
              <a:ext uri="{FF2B5EF4-FFF2-40B4-BE49-F238E27FC236}">
                <a16:creationId xmlns:a16="http://schemas.microsoft.com/office/drawing/2014/main" id="{3B32522C-D8DD-4111-AFAE-C7F5111B86EE}"/>
              </a:ext>
            </a:extLst>
          </p:cNvPr>
          <p:cNvSpPr>
            <a:spLocks xmlns:a="http://schemas.openxmlformats.org/drawingml/2006/main" noGrp="1"/>
          </p:cNvSpPr>
          <p:nvPr/>
        </p:nvSpPr>
        <p:spPr>
          <a:xfrm xmlns:a="http://schemas.openxmlformats.org/drawingml/2006/main">
            <a:off x="7479792" y="2770632"/>
            <a:ext cx="1673352" cy="5394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90" b="1">
                <a:solidFill>
                  <a:srgbClr val="172033"/>
                </a:solidFill>
                <a:latin typeface="Inter"/>
                <a:ea typeface="Inter"/>
                <a:cs typeface="Inter"/>
              </a:rPr>
              <a:t>Generate</a:t>
            </a:r>
            <a:endParaRPr sz="1690"/>
          </a:p>
        </p:txBody>
      </p:sp>
      <p:sp>
        <p:nvSpPr>
          <p:cNvPr id="29" name="Text 27">
            <a:extLst xmlns:a="http://schemas.openxmlformats.org/drawingml/2006/main">
              <a:ext uri="{FF2B5EF4-FFF2-40B4-BE49-F238E27FC236}">
                <a16:creationId xmlns:a16="http://schemas.microsoft.com/office/drawing/2014/main" id="{AF744241-05CA-447F-8E84-ACC2B4E54D9A}"/>
              </a:ext>
            </a:extLst>
          </p:cNvPr>
          <p:cNvSpPr>
            <a:spLocks xmlns:a="http://schemas.openxmlformats.org/drawingml/2006/main" noGrp="1"/>
          </p:cNvSpPr>
          <p:nvPr/>
        </p:nvSpPr>
        <p:spPr>
          <a:xfrm xmlns:a="http://schemas.openxmlformats.org/drawingml/2006/main">
            <a:off x="7479792" y="3483864"/>
            <a:ext cx="1673352" cy="1289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75">
                <a:solidFill>
                  <a:srgbClr val="667085"/>
                </a:solidFill>
                <a:latin typeface="Inter"/>
                <a:ea typeface="Inter"/>
                <a:cs typeface="Inter"/>
              </a:rPr>
              <a:t>Treat source text as untrusted data. Attach evidence IDs to answer claims.</a:t>
            </a:r>
            <a:endParaRPr sz="1375"/>
          </a:p>
        </p:txBody>
      </p:sp>
      <p:sp>
        <p:nvSpPr>
          <p:cNvPr id="30" name="Shape 28">
            <a:extLst xmlns:a="http://schemas.openxmlformats.org/drawingml/2006/main">
              <a:ext uri="{FF2B5EF4-FFF2-40B4-BE49-F238E27FC236}">
                <a16:creationId xmlns:a16="http://schemas.microsoft.com/office/drawing/2014/main" id="{9C0F2218-183B-4829-B145-76E3A21F4215}"/>
              </a:ext>
            </a:extLst>
          </p:cNvPr>
          <p:cNvSpPr>
            <a:spLocks xmlns:a="http://schemas.openxmlformats.org/drawingml/2006/main" noGrp="1"/>
          </p:cNvSpPr>
          <p:nvPr/>
        </p:nvSpPr>
        <p:spPr>
          <a:xfrm xmlns:a="http://schemas.openxmlformats.org/drawingml/2006/main">
            <a:off x="9528048" y="2039112"/>
            <a:ext cx="2020824" cy="2990088"/>
          </a:xfrm>
          <a:prstGeom xmlns:a="http://schemas.openxmlformats.org/drawingml/2006/main" prst="roundRect">
            <a:avLst>
              <a:gd name="adj" fmla="val 8145"/>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Shape 29">
            <a:extLst xmlns:a="http://schemas.openxmlformats.org/drawingml/2006/main">
              <a:ext uri="{FF2B5EF4-FFF2-40B4-BE49-F238E27FC236}">
                <a16:creationId xmlns:a16="http://schemas.microsoft.com/office/drawing/2014/main" id="{9EC21E06-7FF8-466D-A57F-5D97FADEC04B}"/>
              </a:ext>
            </a:extLst>
          </p:cNvPr>
          <p:cNvSpPr>
            <a:spLocks xmlns:a="http://schemas.openxmlformats.org/drawingml/2006/main" noGrp="1"/>
          </p:cNvSpPr>
          <p:nvPr/>
        </p:nvSpPr>
        <p:spPr>
          <a:xfrm xmlns:a="http://schemas.openxmlformats.org/drawingml/2006/main">
            <a:off x="9701784" y="2240280"/>
            <a:ext cx="521208" cy="338328"/>
          </a:xfrm>
          <a:prstGeom xmlns:a="http://schemas.openxmlformats.org/drawingml/2006/main" prst="roundRect">
            <a:avLst>
              <a:gd name="adj" fmla="val 35135"/>
            </a:avLst>
          </a:prstGeom>
          <a:solidFill xmlns:a="http://schemas.openxmlformats.org/drawingml/2006/main">
            <a:srgbClr val="EFF0FF"/>
          </a:solidFill>
          <a:ln xmlns:a="http://schemas.openxmlformats.org/drawingml/2006/main" w="1016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32" name="Text 30">
            <a:extLst xmlns:a="http://schemas.openxmlformats.org/drawingml/2006/main">
              <a:ext uri="{FF2B5EF4-FFF2-40B4-BE49-F238E27FC236}">
                <a16:creationId xmlns:a16="http://schemas.microsoft.com/office/drawing/2014/main" id="{27665F14-5ACB-4C61-B4E1-BF87537CD674}"/>
              </a:ext>
            </a:extLst>
          </p:cNvPr>
          <p:cNvSpPr>
            <a:spLocks xmlns:a="http://schemas.openxmlformats.org/drawingml/2006/main" noGrp="1"/>
          </p:cNvSpPr>
          <p:nvPr/>
        </p:nvSpPr>
        <p:spPr>
          <a:xfrm xmlns:a="http://schemas.openxmlformats.org/drawingml/2006/main">
            <a:off x="9793224" y="2253996"/>
            <a:ext cx="33832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10" b="1">
                <a:solidFill>
                  <a:srgbClr val="5253D7"/>
                </a:solidFill>
                <a:latin typeface="Inter"/>
                <a:ea typeface="Inter"/>
                <a:cs typeface="Inter"/>
              </a:rPr>
              <a:t>05</a:t>
            </a:r>
            <a:endParaRPr sz="1110"/>
          </a:p>
        </p:txBody>
      </p:sp>
      <p:sp>
        <p:nvSpPr>
          <p:cNvPr id="33" name="Text 31">
            <a:extLst xmlns:a="http://schemas.openxmlformats.org/drawingml/2006/main">
              <a:ext uri="{FF2B5EF4-FFF2-40B4-BE49-F238E27FC236}">
                <a16:creationId xmlns:a16="http://schemas.microsoft.com/office/drawing/2014/main" id="{65BFFADB-7C0B-47C8-9F9A-05B2ABEE805E}"/>
              </a:ext>
            </a:extLst>
          </p:cNvPr>
          <p:cNvSpPr>
            <a:spLocks xmlns:a="http://schemas.openxmlformats.org/drawingml/2006/main" noGrp="1"/>
          </p:cNvSpPr>
          <p:nvPr/>
        </p:nvSpPr>
        <p:spPr>
          <a:xfrm xmlns:a="http://schemas.openxmlformats.org/drawingml/2006/main">
            <a:off x="9701784" y="2770632"/>
            <a:ext cx="1673352" cy="5394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690" b="1">
                <a:solidFill>
                  <a:srgbClr val="172033"/>
                </a:solidFill>
                <a:latin typeface="Inter"/>
                <a:ea typeface="Inter"/>
                <a:cs typeface="Inter"/>
              </a:rPr>
              <a:t>Verify + audit</a:t>
            </a:r>
            <a:endParaRPr sz="1690"/>
          </a:p>
        </p:txBody>
      </p:sp>
      <p:sp>
        <p:nvSpPr>
          <p:cNvPr id="34" name="Text 32">
            <a:extLst xmlns:a="http://schemas.openxmlformats.org/drawingml/2006/main">
              <a:ext uri="{FF2B5EF4-FFF2-40B4-BE49-F238E27FC236}">
                <a16:creationId xmlns:a16="http://schemas.microsoft.com/office/drawing/2014/main" id="{32C90367-0CA8-46A4-B16F-FF4FD1009FAF}"/>
              </a:ext>
            </a:extLst>
          </p:cNvPr>
          <p:cNvSpPr>
            <a:spLocks xmlns:a="http://schemas.openxmlformats.org/drawingml/2006/main" noGrp="1"/>
          </p:cNvSpPr>
          <p:nvPr/>
        </p:nvSpPr>
        <p:spPr>
          <a:xfrm xmlns:a="http://schemas.openxmlformats.org/drawingml/2006/main">
            <a:off x="9701784" y="3483864"/>
            <a:ext cx="1673352" cy="12893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75">
                <a:solidFill>
                  <a:srgbClr val="667085"/>
                </a:solidFill>
                <a:latin typeface="Inter"/>
                <a:ea typeface="Inter"/>
                <a:cs typeface="Inter"/>
              </a:rPr>
              <a:t>Validate references, repair once, then use an extractive fallback if needed.</a:t>
            </a:r>
            <a:endParaRPr sz="1375"/>
          </a:p>
        </p:txBody>
      </p:sp>
      <p:sp>
        <p:nvSpPr>
          <p:cNvPr id="35" name="Shape 33">
            <a:extLst xmlns:a="http://schemas.openxmlformats.org/drawingml/2006/main">
              <a:ext uri="{FF2B5EF4-FFF2-40B4-BE49-F238E27FC236}">
                <a16:creationId xmlns:a16="http://schemas.microsoft.com/office/drawing/2014/main" id="{836ECAE8-2779-413C-B7CA-E64B9EE2C953}"/>
              </a:ext>
            </a:extLst>
          </p:cNvPr>
          <p:cNvSpPr>
            <a:spLocks xmlns:a="http://schemas.openxmlformats.org/drawingml/2006/main" noGrp="1"/>
          </p:cNvSpPr>
          <p:nvPr/>
        </p:nvSpPr>
        <p:spPr>
          <a:xfrm xmlns:a="http://schemas.openxmlformats.org/drawingml/2006/main">
            <a:off x="640080" y="5266944"/>
            <a:ext cx="10908792" cy="923544"/>
          </a:xfrm>
          <a:prstGeom xmlns:a="http://schemas.openxmlformats.org/drawingml/2006/main" prst="roundRect">
            <a:avLst>
              <a:gd name="adj" fmla="val 17822"/>
            </a:avLst>
          </a:prstGeom>
          <a:solidFill xmlns:a="http://schemas.openxmlformats.org/drawingml/2006/main">
            <a:srgbClr val="EFF0FF"/>
          </a:solidFill>
          <a:ln xmlns:a="http://schemas.openxmlformats.org/drawingml/2006/main" w="10160">
            <a:solidFill>
              <a:srgbClr val="E0E5FD"/>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6AAC96BA-DBCD-4A0C-9EA7-B62EFFABF362}"/>
              </a:ext>
            </a:extLst>
          </p:cNvPr>
          <p:cNvSpPr>
            <a:spLocks xmlns:a="http://schemas.openxmlformats.org/drawingml/2006/main" noGrp="1"/>
          </p:cNvSpPr>
          <p:nvPr/>
        </p:nvSpPr>
        <p:spPr>
          <a:xfrm xmlns:a="http://schemas.openxmlformats.org/drawingml/2006/main">
            <a:off x="6089904" y="5449824"/>
            <a:ext cx="14630" cy="557784"/>
          </a:xfrm>
          <a:prstGeom xmlns:a="http://schemas.openxmlformats.org/drawingml/2006/main" prst="rect">
            <a:avLst/>
          </a:prstGeom>
          <a:solidFill xmlns:a="http://schemas.openxmlformats.org/drawingml/2006/main">
            <a:srgbClr val="D1D9EF"/>
          </a:solidFill>
          <a:ln xmlns:a="http://schemas.openxmlformats.org/drawingml/2006/main" w="12700">
            <a:solidFill>
              <a:srgbClr val="D1D9EF"/>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Text 35">
            <a:extLst xmlns:a="http://schemas.openxmlformats.org/drawingml/2006/main">
              <a:ext uri="{FF2B5EF4-FFF2-40B4-BE49-F238E27FC236}">
                <a16:creationId xmlns:a16="http://schemas.microsoft.com/office/drawing/2014/main" id="{84633440-1C5D-41F2-A4C2-5505B36148D4}"/>
              </a:ext>
            </a:extLst>
          </p:cNvPr>
          <p:cNvSpPr>
            <a:spLocks xmlns:a="http://schemas.openxmlformats.org/drawingml/2006/main" noGrp="1"/>
          </p:cNvSpPr>
          <p:nvPr/>
        </p:nvSpPr>
        <p:spPr>
          <a:xfrm xmlns:a="http://schemas.openxmlformats.org/drawingml/2006/main">
            <a:off x="886968" y="54223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KEEP RESTRICTED TEXT OUT</a:t>
            </a:r>
            <a:endParaRPr sz="1010"/>
          </a:p>
        </p:txBody>
      </p:sp>
      <p:sp>
        <p:nvSpPr>
          <p:cNvPr id="38" name="Text 36">
            <a:extLst xmlns:a="http://schemas.openxmlformats.org/drawingml/2006/main">
              <a:ext uri="{FF2B5EF4-FFF2-40B4-BE49-F238E27FC236}">
                <a16:creationId xmlns:a16="http://schemas.microsoft.com/office/drawing/2014/main" id="{C705D12E-49E2-4185-BBFC-CC81677B1FC7}"/>
              </a:ext>
            </a:extLst>
          </p:cNvPr>
          <p:cNvSpPr>
            <a:spLocks xmlns:a="http://schemas.openxmlformats.org/drawingml/2006/main" noGrp="1"/>
          </p:cNvSpPr>
          <p:nvPr/>
        </p:nvSpPr>
        <p:spPr>
          <a:xfrm xmlns:a="http://schemas.openxmlformats.org/drawingml/2006/main">
            <a:off x="886968" y="5733288"/>
            <a:ext cx="4901184"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20">
                <a:solidFill>
                  <a:srgbClr val="172033"/>
                </a:solidFill>
                <a:latin typeface="Inter"/>
                <a:ea typeface="Inter"/>
                <a:cs typeface="Inter"/>
              </a:rPr>
              <a:t>No unauthorised text enters reranking, model context, logs or the browser.</a:t>
            </a:r>
            <a:endParaRPr sz="1320"/>
          </a:p>
        </p:txBody>
      </p:sp>
      <p:sp>
        <p:nvSpPr>
          <p:cNvPr id="39" name="Text 37">
            <a:extLst xmlns:a="http://schemas.openxmlformats.org/drawingml/2006/main">
              <a:ext uri="{FF2B5EF4-FFF2-40B4-BE49-F238E27FC236}">
                <a16:creationId xmlns:a16="http://schemas.microsoft.com/office/drawing/2014/main" id="{2195E9B8-6566-4143-B807-24B9D97DE4AE}"/>
              </a:ext>
            </a:extLst>
          </p:cNvPr>
          <p:cNvSpPr>
            <a:spLocks xmlns:a="http://schemas.openxmlformats.org/drawingml/2006/main" noGrp="1"/>
          </p:cNvSpPr>
          <p:nvPr/>
        </p:nvSpPr>
        <p:spPr>
          <a:xfrm xmlns:a="http://schemas.openxmlformats.org/drawingml/2006/main">
            <a:off x="6345936" y="5422392"/>
            <a:ext cx="5202936"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0B927D"/>
                </a:solidFill>
                <a:latin typeface="Inter"/>
                <a:ea typeface="Inter"/>
                <a:cs typeface="Inter"/>
              </a:rPr>
              <a:t>AUDIT BEFORE RELEASE</a:t>
            </a:r>
            <a:endParaRPr sz="1010"/>
          </a:p>
        </p:txBody>
      </p:sp>
      <p:sp>
        <p:nvSpPr>
          <p:cNvPr id="40" name="Text 38">
            <a:extLst xmlns:a="http://schemas.openxmlformats.org/drawingml/2006/main">
              <a:ext uri="{FF2B5EF4-FFF2-40B4-BE49-F238E27FC236}">
                <a16:creationId xmlns:a16="http://schemas.microsoft.com/office/drawing/2014/main" id="{412724C7-7FAD-458F-872E-1DE48CE9EE7B}"/>
              </a:ext>
            </a:extLst>
          </p:cNvPr>
          <p:cNvSpPr>
            <a:spLocks xmlns:a="http://schemas.openxmlformats.org/drawingml/2006/main" noGrp="1"/>
          </p:cNvSpPr>
          <p:nvPr/>
        </p:nvSpPr>
        <p:spPr>
          <a:xfrm xmlns:a="http://schemas.openxmlformats.org/drawingml/2006/main">
            <a:off x="6345936" y="5733288"/>
            <a:ext cx="4818888"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10">
                <a:solidFill>
                  <a:srgbClr val="172033"/>
                </a:solidFill>
                <a:latin typeface="Inter"/>
                <a:ea typeface="Inter"/>
                <a:cs typeface="Inter"/>
              </a:rPr>
              <a:t>Commit SHA-256-chained audit before release; recheck citations when opened. References are not factual proof.</a:t>
            </a:r>
            <a:endParaRPr sz="1310"/>
          </a:p>
        </p:txBody>
      </p:sp>
    </p:spTree>
    <p:extLst>
      <p:ext uri="{BB962C8B-B14F-4D97-AF65-F5344CB8AC3E}">
        <p14:creationId xmlns:p14="http://schemas.microsoft.com/office/powerpoint/2010/main" val="12710632"/>
      </p:ext>
    </p:extLst>
  </p:cSld>
</p:sld>
</file>

<file path=ppt/slides/slide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4AB8A90-F06B-478B-BAD5-7668FE46F568}"/>
              </a:ext>
            </a:extLst>
          </p:cNvPr>
          <p:cNvSpPr>
            <a:spLocks xmlns:a="http://schemas.openxmlformats.org/drawingml/2006/main" noGrp="1"/>
          </p:cNvSpPr>
          <p:nvPr/>
        </p:nvSpPr>
        <p:spPr>
          <a:xfrm xmlns:a="http://schemas.openxmlformats.org/drawingml/2006/main">
            <a:off x="0" y="0"/>
            <a:ext cx="12192000" cy="50292"/>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2E550117-03E7-4FF6-8C80-941EFB72330A}"/>
              </a:ext>
            </a:extLst>
          </p:cNvPr>
          <p:cNvSpPr>
            <a:spLocks xmlns:a="http://schemas.openxmlformats.org/drawingml/2006/main" noGrp="1"/>
          </p:cNvSpPr>
          <p:nvPr/>
        </p:nvSpPr>
        <p:spPr>
          <a:xfrm xmlns:a="http://schemas.openxmlformats.org/drawingml/2006/main">
            <a:off x="640080" y="3931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WALKTHROUGH DEMO</a:t>
            </a:r>
            <a:endParaRPr sz="1010"/>
          </a:p>
        </p:txBody>
      </p:sp>
      <p:sp>
        <p:nvSpPr>
          <p:cNvPr id="4" name="Text 2">
            <a:extLst xmlns:a="http://schemas.openxmlformats.org/drawingml/2006/main">
              <a:ext uri="{FF2B5EF4-FFF2-40B4-BE49-F238E27FC236}">
                <a16:creationId xmlns:a16="http://schemas.microsoft.com/office/drawing/2014/main" id="{03CA4E00-352D-406F-ADFD-9D9B898F8BB5}"/>
              </a:ext>
            </a:extLst>
          </p:cNvPr>
          <p:cNvSpPr>
            <a:spLocks xmlns:a="http://schemas.openxmlformats.org/drawingml/2006/main" noGrp="1"/>
          </p:cNvSpPr>
          <p:nvPr/>
        </p:nvSpPr>
        <p:spPr>
          <a:xfrm xmlns:a="http://schemas.openxmlformats.org/drawingml/2006/main">
            <a:off x="640080" y="740664"/>
            <a:ext cx="109545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950" b="1">
                <a:solidFill>
                  <a:srgbClr val="172033"/>
                </a:solidFill>
                <a:latin typeface="Inter"/>
                <a:ea typeface="Inter"/>
                <a:cs typeface="Inter"/>
              </a:rPr>
              <a:t>Demo corpus and access</a:t>
            </a:r>
            <a:endParaRPr sz="2950"/>
          </a:p>
        </p:txBody>
      </p:sp>
      <p:sp>
        <p:nvSpPr>
          <p:cNvPr id="5" name="Text 3">
            <a:extLst xmlns:a="http://schemas.openxmlformats.org/drawingml/2006/main">
              <a:ext uri="{FF2B5EF4-FFF2-40B4-BE49-F238E27FC236}">
                <a16:creationId xmlns:a16="http://schemas.microsoft.com/office/drawing/2014/main" id="{BE38655A-DE4F-4B2B-B3F4-B5D7D4C97562}"/>
              </a:ext>
            </a:extLst>
          </p:cNvPr>
          <p:cNvSpPr>
            <a:spLocks xmlns:a="http://schemas.openxmlformats.org/drawingml/2006/main" noGrp="1"/>
          </p:cNvSpPr>
          <p:nvPr/>
        </p:nvSpPr>
        <p:spPr>
          <a:xfrm xmlns:a="http://schemas.openxmlformats.org/drawingml/2006/main">
            <a:off x="640080" y="1399032"/>
            <a:ext cx="10844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10">
                <a:solidFill>
                  <a:srgbClr val="667085"/>
                </a:solidFill>
                <a:latin typeface="Inter"/>
                <a:ea typeface="Inter"/>
                <a:cs typeface="Inter"/>
              </a:rPr>
              <a:t>Four integrations, ten records or channel groups, with readers beneath each item</a:t>
            </a:r>
            <a:endParaRPr sz="1410"/>
          </a:p>
        </p:txBody>
      </p:sp>
      <p:sp>
        <p:nvSpPr>
          <p:cNvPr id="6" name="Shape 4">
            <a:extLst xmlns:a="http://schemas.openxmlformats.org/drawingml/2006/main">
              <a:ext uri="{FF2B5EF4-FFF2-40B4-BE49-F238E27FC236}">
                <a16:creationId xmlns:a16="http://schemas.microsoft.com/office/drawing/2014/main" id="{65C916BC-0786-44DA-992B-A8FDC11E1736}"/>
              </a:ext>
            </a:extLst>
          </p:cNvPr>
          <p:cNvSpPr>
            <a:spLocks xmlns:a="http://schemas.openxmlformats.org/drawingml/2006/main" noGrp="1"/>
          </p:cNvSpPr>
          <p:nvPr/>
        </p:nvSpPr>
        <p:spPr>
          <a:xfrm xmlns:a="http://schemas.openxmlformats.org/drawingml/2006/main">
            <a:off x="640080" y="6437376"/>
            <a:ext cx="10908792" cy="0"/>
          </a:xfrm>
          <a:prstGeom xmlns:a="http://schemas.openxmlformats.org/drawingml/2006/main" prst="line">
            <a:avLst/>
          </a:prstGeom>
          <a:noFill xmlns:a="http://schemas.openxmlformats.org/drawingml/2006/main"/>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4F8EDEE4-C275-4830-994E-3EC8D6BD1CCC}"/>
              </a:ext>
            </a:extLst>
          </p:cNvPr>
          <p:cNvSpPr>
            <a:spLocks xmlns:a="http://schemas.openxmlformats.org/drawingml/2006/main" noGrp="1"/>
          </p:cNvSpPr>
          <p:nvPr/>
        </p:nvSpPr>
        <p:spPr>
          <a:xfrm xmlns:a="http://schemas.openxmlformats.org/drawingml/2006/main">
            <a:off x="640080" y="6528816"/>
            <a:ext cx="585216"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40" b="1">
                <a:solidFill>
                  <a:srgbClr val="172033"/>
                </a:solidFill>
                <a:latin typeface="Inter"/>
                <a:ea typeface="Inter"/>
                <a:cs typeface="Inter"/>
              </a:rPr>
              <a:t>relay</a:t>
            </a:r>
            <a:endParaRPr sz="1040"/>
          </a:p>
        </p:txBody>
      </p:sp>
      <p:sp>
        <p:nvSpPr>
          <p:cNvPr id="8" name="Text 6">
            <a:extLst xmlns:a="http://schemas.openxmlformats.org/drawingml/2006/main">
              <a:ext uri="{FF2B5EF4-FFF2-40B4-BE49-F238E27FC236}">
                <a16:creationId xmlns:a16="http://schemas.microsoft.com/office/drawing/2014/main" id="{543364D4-3A44-4634-A9E0-8D74966970A5}"/>
              </a:ext>
            </a:extLst>
          </p:cNvPr>
          <p:cNvSpPr>
            <a:spLocks xmlns:a="http://schemas.openxmlformats.org/drawingml/2006/main" noGrp="1"/>
          </p:cNvSpPr>
          <p:nvPr/>
        </p:nvSpPr>
        <p:spPr>
          <a:xfrm xmlns:a="http://schemas.openxmlformats.org/drawingml/2006/main">
            <a:off x="1307592" y="6528816"/>
            <a:ext cx="274320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70">
                <a:solidFill>
                  <a:srgbClr val="94A3B8"/>
                </a:solidFill>
                <a:latin typeface="Inter"/>
                <a:ea typeface="Inter"/>
                <a:cs typeface="Inter"/>
              </a:rPr>
              <a:t>/ Tencent Hackathon demo</a:t>
            </a:r>
            <a:endParaRPr sz="970"/>
          </a:p>
        </p:txBody>
      </p:sp>
      <p:sp>
        <p:nvSpPr>
          <p:cNvPr id="9" name="Text 7">
            <a:extLst xmlns:a="http://schemas.openxmlformats.org/drawingml/2006/main">
              <a:ext uri="{FF2B5EF4-FFF2-40B4-BE49-F238E27FC236}">
                <a16:creationId xmlns:a16="http://schemas.microsoft.com/office/drawing/2014/main" id="{144FACED-B7B1-4822-ADF6-94C6A1FD85F8}"/>
              </a:ext>
            </a:extLst>
          </p:cNvPr>
          <p:cNvSpPr>
            <a:spLocks xmlns:a="http://schemas.openxmlformats.org/drawingml/2006/main" noGrp="1"/>
          </p:cNvSpPr>
          <p:nvPr/>
        </p:nvSpPr>
        <p:spPr>
          <a:xfrm xmlns:a="http://schemas.openxmlformats.org/drawingml/2006/main">
            <a:off x="11036808" y="6519672"/>
            <a:ext cx="502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05</a:t>
            </a:r>
            <a:endParaRPr sz="1000"/>
          </a:p>
        </p:txBody>
      </p:sp>
      <p:sp>
        <p:nvSpPr>
          <p:cNvPr id="10" name="Atlassian provider group">
            <a:extLst xmlns:a="http://schemas.openxmlformats.org/drawingml/2006/main">
              <a:ext uri="{FF2B5EF4-FFF2-40B4-BE49-F238E27FC236}">
                <a16:creationId xmlns:a16="http://schemas.microsoft.com/office/drawing/2014/main" id="{6F68D6F5-5001-4CDD-A1C2-01BF1D170D41}"/>
              </a:ext>
            </a:extLst>
          </p:cNvPr>
          <p:cNvSpPr>
            <a:spLocks xmlns:a="http://schemas.openxmlformats.org/drawingml/2006/main" noGrp="1"/>
          </p:cNvSpPr>
          <p:nvPr/>
        </p:nvSpPr>
        <p:spPr>
          <a:xfrm xmlns:a="http://schemas.openxmlformats.org/drawingml/2006/main">
            <a:off x="640080" y="2095500"/>
            <a:ext cx="533781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554CE1"/>
                </a:solidFill>
                <a:latin typeface="Inter"/>
                <a:ea typeface="Inter"/>
                <a:cs typeface="Inter"/>
              </a:defRPr>
            </a:pPr>
            <a:r>
              <a:rPr sz="975" b="1">
                <a:solidFill>
                  <a:srgbClr val="554CE1"/>
                </a:solidFill>
                <a:latin typeface="Inter"/>
                <a:ea typeface="Inter"/>
                <a:cs typeface="Inter"/>
              </a:rPr>
              <a:t>ATLASSIAN CLOUD</a:t>
            </a:r>
          </a:p>
        </p:txBody>
      </p:sp>
      <p:sp>
        <p:nvSpPr>
          <p:cNvPr id="11" name="Slack provider group">
            <a:extLst xmlns:a="http://schemas.openxmlformats.org/drawingml/2006/main">
              <a:ext uri="{FF2B5EF4-FFF2-40B4-BE49-F238E27FC236}">
                <a16:creationId xmlns:a16="http://schemas.microsoft.com/office/drawing/2014/main" id="{0A55F018-A032-4280-80E8-9F2557274D47}"/>
              </a:ext>
            </a:extLst>
          </p:cNvPr>
          <p:cNvSpPr>
            <a:spLocks xmlns:a="http://schemas.openxmlformats.org/drawingml/2006/main" noGrp="1"/>
          </p:cNvSpPr>
          <p:nvPr/>
        </p:nvSpPr>
        <p:spPr>
          <a:xfrm xmlns:a="http://schemas.openxmlformats.org/drawingml/2006/main">
            <a:off x="6206490" y="2095500"/>
            <a:ext cx="255460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008F83"/>
                </a:solidFill>
                <a:latin typeface="Inter"/>
                <a:ea typeface="Inter"/>
                <a:cs typeface="Inter"/>
              </a:defRPr>
            </a:pPr>
            <a:r>
              <a:rPr sz="975" b="1">
                <a:solidFill>
                  <a:srgbClr val="008F83"/>
                </a:solidFill>
                <a:latin typeface="Inter"/>
                <a:ea typeface="Inter"/>
                <a:cs typeface="Inter"/>
              </a:rPr>
              <a:t>SLACK</a:t>
            </a:r>
          </a:p>
        </p:txBody>
      </p:sp>
      <p:sp>
        <p:nvSpPr>
          <p:cNvPr id="12" name="Drive provider group">
            <a:extLst xmlns:a="http://schemas.openxmlformats.org/drawingml/2006/main">
              <a:ext uri="{FF2B5EF4-FFF2-40B4-BE49-F238E27FC236}">
                <a16:creationId xmlns:a16="http://schemas.microsoft.com/office/drawing/2014/main" id="{DE665387-3C1E-44B3-951B-0CD563EF2D5D}"/>
              </a:ext>
            </a:extLst>
          </p:cNvPr>
          <p:cNvSpPr>
            <a:spLocks xmlns:a="http://schemas.openxmlformats.org/drawingml/2006/main" noGrp="1"/>
          </p:cNvSpPr>
          <p:nvPr/>
        </p:nvSpPr>
        <p:spPr>
          <a:xfrm xmlns:a="http://schemas.openxmlformats.org/drawingml/2006/main">
            <a:off x="8989695" y="2095500"/>
            <a:ext cx="255460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975" b="1">
                <a:solidFill>
                  <a:srgbClr val="128044"/>
                </a:solidFill>
                <a:latin typeface="Inter"/>
                <a:ea typeface="Inter"/>
                <a:cs typeface="Inter"/>
              </a:defRPr>
            </a:pPr>
            <a:r>
              <a:rPr sz="975" b="1">
                <a:solidFill>
                  <a:srgbClr val="128044"/>
                </a:solidFill>
                <a:latin typeface="Inter"/>
                <a:ea typeface="Inter"/>
                <a:cs typeface="Inter"/>
              </a:rPr>
              <a:t>GOOGLE DRIVE</a:t>
            </a:r>
          </a:p>
        </p:txBody>
      </p:sp>
      <p:sp>
        <p:nvSpPr>
          <p:cNvPr id="13" name="Jira source">
            <a:extLst xmlns:a="http://schemas.openxmlformats.org/drawingml/2006/main">
              <a:ext uri="{FF2B5EF4-FFF2-40B4-BE49-F238E27FC236}">
                <a16:creationId xmlns:a16="http://schemas.microsoft.com/office/drawing/2014/main" id="{C1814BBA-DF70-4C34-BB6F-17F06A1B2FB9}"/>
              </a:ext>
            </a:extLst>
          </p:cNvPr>
          <p:cNvSpPr>
            <a:spLocks xmlns:a="http://schemas.openxmlformats.org/drawingml/2006/main" noGrp="1"/>
          </p:cNvSpPr>
          <p:nvPr/>
        </p:nvSpPr>
        <p:spPr>
          <a:xfrm xmlns:a="http://schemas.openxmlformats.org/drawingml/2006/main">
            <a:off x="640080" y="2400300"/>
            <a:ext cx="2554605" cy="3390900"/>
          </a:xfrm>
          <a:prstGeom xmlns:a="http://schemas.openxmlformats.org/drawingml/2006/main" prst="roundRect">
            <a:avLst>
              <a:gd name="adj" fmla="val 3729"/>
            </a:avLst>
          </a:prstGeom>
          <a:solidFill xmlns:a="http://schemas.openxmlformats.org/drawingml/2006/main">
            <a:srgbClr val="FFFFFF"/>
          </a:solidFill>
          <a:ln xmlns:a="http://schemas.openxmlformats.org/drawingml/2006/main" w="9525">
            <a:solidFill>
              <a:srgbClr val="D5DDEF"/>
            </a:solidFill>
          </a:ln>
        </p:spPr>
      </p:sp>
      <p:sp>
        <p:nvSpPr>
          <p:cNvPr id="14" name="Jira heading">
            <a:extLst xmlns:a="http://schemas.openxmlformats.org/drawingml/2006/main">
              <a:ext uri="{FF2B5EF4-FFF2-40B4-BE49-F238E27FC236}">
                <a16:creationId xmlns:a16="http://schemas.microsoft.com/office/drawing/2014/main" id="{DB254A6A-D207-40FC-94AD-BCD17013CFCF}"/>
              </a:ext>
            </a:extLst>
          </p:cNvPr>
          <p:cNvSpPr>
            <a:spLocks xmlns:a="http://schemas.openxmlformats.org/drawingml/2006/main" noGrp="1"/>
          </p:cNvSpPr>
          <p:nvPr/>
        </p:nvSpPr>
        <p:spPr>
          <a:xfrm xmlns:a="http://schemas.openxmlformats.org/drawingml/2006/main">
            <a:off x="830580" y="2590800"/>
            <a:ext cx="217360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54CE1"/>
                </a:solidFill>
                <a:latin typeface="Inter"/>
                <a:ea typeface="Inter"/>
                <a:cs typeface="Inter"/>
              </a:defRPr>
            </a:pPr>
            <a:r>
              <a:rPr sz="1725" b="1">
                <a:solidFill>
                  <a:srgbClr val="554CE1"/>
                </a:solidFill>
                <a:latin typeface="Inter"/>
                <a:ea typeface="Inter"/>
                <a:cs typeface="Inter"/>
              </a:rPr>
              <a:t>Jira</a:t>
            </a:r>
          </a:p>
        </p:txBody>
      </p:sp>
      <p:sp>
        <p:nvSpPr>
          <p:cNvPr id="15" name="Jira 0 record">
            <a:extLst xmlns:a="http://schemas.openxmlformats.org/drawingml/2006/main">
              <a:ext uri="{FF2B5EF4-FFF2-40B4-BE49-F238E27FC236}">
                <a16:creationId xmlns:a16="http://schemas.microsoft.com/office/drawing/2014/main" id="{812AF5AA-207D-4E24-8353-737BBFF444A4}"/>
              </a:ext>
            </a:extLst>
          </p:cNvPr>
          <p:cNvSpPr>
            <a:spLocks xmlns:a="http://schemas.openxmlformats.org/drawingml/2006/main" noGrp="1"/>
          </p:cNvSpPr>
          <p:nvPr/>
        </p:nvSpPr>
        <p:spPr>
          <a:xfrm xmlns:a="http://schemas.openxmlformats.org/drawingml/2006/main">
            <a:off x="830580" y="30099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KAN-1</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Cause investigation</a:t>
            </a:r>
          </a:p>
        </p:txBody>
      </p:sp>
      <p:sp>
        <p:nvSpPr>
          <p:cNvPr id="16" name="Jira 0 readers">
            <a:extLst xmlns:a="http://schemas.openxmlformats.org/drawingml/2006/main">
              <a:ext uri="{FF2B5EF4-FFF2-40B4-BE49-F238E27FC236}">
                <a16:creationId xmlns:a16="http://schemas.microsoft.com/office/drawing/2014/main" id="{B04FD0FF-FE05-40A5-96B8-7ECA7EB95172}"/>
              </a:ext>
            </a:extLst>
          </p:cNvPr>
          <p:cNvSpPr>
            <a:spLocks xmlns:a="http://schemas.openxmlformats.org/drawingml/2006/main" noGrp="1"/>
          </p:cNvSpPr>
          <p:nvPr/>
        </p:nvSpPr>
        <p:spPr>
          <a:xfrm xmlns:a="http://schemas.openxmlformats.org/drawingml/2006/main">
            <a:off x="830580" y="34385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4CE1"/>
                </a:solidFill>
                <a:latin typeface="Inter"/>
                <a:ea typeface="Inter"/>
                <a:cs typeface="Inter"/>
              </a:defRPr>
            </a:pPr>
            <a:r>
              <a:rPr sz="1200" b="0">
                <a:solidFill>
                  <a:srgbClr val="554CE1"/>
                </a:solidFill>
                <a:latin typeface="Inter"/>
                <a:ea typeface="Inter"/>
                <a:cs typeface="Inter"/>
              </a:rPr>
              <a:t>Readers: Alice, Bob</a:t>
            </a:r>
          </a:p>
        </p:txBody>
      </p:sp>
      <p:sp>
        <p:nvSpPr>
          <p:cNvPr id="17" name="Jira 1 record">
            <a:extLst xmlns:a="http://schemas.openxmlformats.org/drawingml/2006/main">
              <a:ext uri="{FF2B5EF4-FFF2-40B4-BE49-F238E27FC236}">
                <a16:creationId xmlns:a16="http://schemas.microsoft.com/office/drawing/2014/main" id="{E1C4C54D-A4B0-4019-9E64-3952D710C207}"/>
              </a:ext>
            </a:extLst>
          </p:cNvPr>
          <p:cNvSpPr>
            <a:spLocks xmlns:a="http://schemas.openxmlformats.org/drawingml/2006/main" noGrp="1"/>
          </p:cNvSpPr>
          <p:nvPr/>
        </p:nvSpPr>
        <p:spPr>
          <a:xfrm xmlns:a="http://schemas.openxmlformats.org/drawingml/2006/main">
            <a:off x="830580" y="38862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KAN-2</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Retry and pool follow-up</a:t>
            </a:r>
          </a:p>
        </p:txBody>
      </p:sp>
      <p:sp>
        <p:nvSpPr>
          <p:cNvPr id="18" name="Jira 1 readers">
            <a:extLst xmlns:a="http://schemas.openxmlformats.org/drawingml/2006/main">
              <a:ext uri="{FF2B5EF4-FFF2-40B4-BE49-F238E27FC236}">
                <a16:creationId xmlns:a16="http://schemas.microsoft.com/office/drawing/2014/main" id="{77F247AD-6A20-4536-B8B1-1781838D9A58}"/>
              </a:ext>
            </a:extLst>
          </p:cNvPr>
          <p:cNvSpPr>
            <a:spLocks xmlns:a="http://schemas.openxmlformats.org/drawingml/2006/main" noGrp="1"/>
          </p:cNvSpPr>
          <p:nvPr/>
        </p:nvSpPr>
        <p:spPr>
          <a:xfrm xmlns:a="http://schemas.openxmlformats.org/drawingml/2006/main">
            <a:off x="830580" y="43148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4CE1"/>
                </a:solidFill>
                <a:latin typeface="Inter"/>
                <a:ea typeface="Inter"/>
                <a:cs typeface="Inter"/>
              </a:defRPr>
            </a:pPr>
            <a:r>
              <a:rPr sz="1200" b="0">
                <a:solidFill>
                  <a:srgbClr val="554CE1"/>
                </a:solidFill>
                <a:latin typeface="Inter"/>
                <a:ea typeface="Inter"/>
                <a:cs typeface="Inter"/>
              </a:rPr>
              <a:t>Readers: Alice, Bob</a:t>
            </a:r>
          </a:p>
        </p:txBody>
      </p:sp>
      <p:sp>
        <p:nvSpPr>
          <p:cNvPr id="19" name="Confluence source">
            <a:extLst xmlns:a="http://schemas.openxmlformats.org/drawingml/2006/main">
              <a:ext uri="{FF2B5EF4-FFF2-40B4-BE49-F238E27FC236}">
                <a16:creationId xmlns:a16="http://schemas.microsoft.com/office/drawing/2014/main" id="{8B1E93D9-6E68-4907-AC8B-F9D9FD4031E6}"/>
              </a:ext>
            </a:extLst>
          </p:cNvPr>
          <p:cNvSpPr>
            <a:spLocks xmlns:a="http://schemas.openxmlformats.org/drawingml/2006/main" noGrp="1"/>
          </p:cNvSpPr>
          <p:nvPr/>
        </p:nvSpPr>
        <p:spPr>
          <a:xfrm xmlns:a="http://schemas.openxmlformats.org/drawingml/2006/main">
            <a:off x="3423285" y="2400300"/>
            <a:ext cx="2554605" cy="3390900"/>
          </a:xfrm>
          <a:prstGeom xmlns:a="http://schemas.openxmlformats.org/drawingml/2006/main" prst="roundRect">
            <a:avLst>
              <a:gd name="adj" fmla="val 3729"/>
            </a:avLst>
          </a:prstGeom>
          <a:solidFill xmlns:a="http://schemas.openxmlformats.org/drawingml/2006/main">
            <a:srgbClr val="FFFFFF"/>
          </a:solidFill>
          <a:ln xmlns:a="http://schemas.openxmlformats.org/drawingml/2006/main" w="9525">
            <a:solidFill>
              <a:srgbClr val="D5DDEF"/>
            </a:solidFill>
          </a:ln>
        </p:spPr>
      </p:sp>
      <p:sp>
        <p:nvSpPr>
          <p:cNvPr id="20" name="Confluence heading">
            <a:extLst xmlns:a="http://schemas.openxmlformats.org/drawingml/2006/main">
              <a:ext uri="{FF2B5EF4-FFF2-40B4-BE49-F238E27FC236}">
                <a16:creationId xmlns:a16="http://schemas.microsoft.com/office/drawing/2014/main" id="{9B8982B9-0F06-4F7C-933D-87ACFAE18BE5}"/>
              </a:ext>
            </a:extLst>
          </p:cNvPr>
          <p:cNvSpPr>
            <a:spLocks xmlns:a="http://schemas.openxmlformats.org/drawingml/2006/main" noGrp="1"/>
          </p:cNvSpPr>
          <p:nvPr/>
        </p:nvSpPr>
        <p:spPr>
          <a:xfrm xmlns:a="http://schemas.openxmlformats.org/drawingml/2006/main">
            <a:off x="3613785" y="2590800"/>
            <a:ext cx="217360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554CE1"/>
                </a:solidFill>
                <a:latin typeface="Inter"/>
                <a:ea typeface="Inter"/>
                <a:cs typeface="Inter"/>
              </a:defRPr>
            </a:pPr>
            <a:r>
              <a:rPr sz="1725" b="1">
                <a:solidFill>
                  <a:srgbClr val="554CE1"/>
                </a:solidFill>
                <a:latin typeface="Inter"/>
                <a:ea typeface="Inter"/>
                <a:cs typeface="Inter"/>
              </a:rPr>
              <a:t>Confluence</a:t>
            </a:r>
          </a:p>
        </p:txBody>
      </p:sp>
      <p:sp>
        <p:nvSpPr>
          <p:cNvPr id="21" name="Confluence 0 record">
            <a:extLst xmlns:a="http://schemas.openxmlformats.org/drawingml/2006/main">
              <a:ext uri="{FF2B5EF4-FFF2-40B4-BE49-F238E27FC236}">
                <a16:creationId xmlns:a16="http://schemas.microsoft.com/office/drawing/2014/main" id="{83B1729C-0DD1-468B-B0B1-69DADD30E05F}"/>
              </a:ext>
            </a:extLst>
          </p:cNvPr>
          <p:cNvSpPr>
            <a:spLocks xmlns:a="http://schemas.openxmlformats.org/drawingml/2006/main" noGrp="1"/>
          </p:cNvSpPr>
          <p:nvPr/>
        </p:nvSpPr>
        <p:spPr>
          <a:xfrm xmlns:a="http://schemas.openxmlformats.org/drawingml/2006/main">
            <a:off x="3613785" y="30099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Payment Gateway</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Incident Runbook</a:t>
            </a:r>
          </a:p>
        </p:txBody>
      </p:sp>
      <p:sp>
        <p:nvSpPr>
          <p:cNvPr id="22" name="Confluence 0 readers">
            <a:extLst xmlns:a="http://schemas.openxmlformats.org/drawingml/2006/main">
              <a:ext uri="{FF2B5EF4-FFF2-40B4-BE49-F238E27FC236}">
                <a16:creationId xmlns:a16="http://schemas.microsoft.com/office/drawing/2014/main" id="{8E762020-623A-454C-B677-9C3A79C8A694}"/>
              </a:ext>
            </a:extLst>
          </p:cNvPr>
          <p:cNvSpPr>
            <a:spLocks xmlns:a="http://schemas.openxmlformats.org/drawingml/2006/main" noGrp="1"/>
          </p:cNvSpPr>
          <p:nvPr/>
        </p:nvSpPr>
        <p:spPr>
          <a:xfrm xmlns:a="http://schemas.openxmlformats.org/drawingml/2006/main">
            <a:off x="3613785" y="34385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4CE1"/>
                </a:solidFill>
                <a:latin typeface="Inter"/>
                <a:ea typeface="Inter"/>
                <a:cs typeface="Inter"/>
              </a:defRPr>
            </a:pPr>
            <a:r>
              <a:rPr sz="1200" b="0">
                <a:solidFill>
                  <a:srgbClr val="554CE1"/>
                </a:solidFill>
                <a:latin typeface="Inter"/>
                <a:ea typeface="Inter"/>
                <a:cs typeface="Inter"/>
              </a:rPr>
              <a:t>Readers: Alice, Bob</a:t>
            </a:r>
          </a:p>
        </p:txBody>
      </p:sp>
      <p:sp>
        <p:nvSpPr>
          <p:cNvPr id="23" name="Confluence 1 record">
            <a:extLst xmlns:a="http://schemas.openxmlformats.org/drawingml/2006/main">
              <a:ext uri="{FF2B5EF4-FFF2-40B4-BE49-F238E27FC236}">
                <a16:creationId xmlns:a16="http://schemas.microsoft.com/office/drawing/2014/main" id="{D8099148-52D3-460D-AB87-0E63D54CB496}"/>
              </a:ext>
            </a:extLst>
          </p:cNvPr>
          <p:cNvSpPr>
            <a:spLocks xmlns:a="http://schemas.openxmlformats.org/drawingml/2006/main" noGrp="1"/>
          </p:cNvSpPr>
          <p:nvPr/>
        </p:nvSpPr>
        <p:spPr>
          <a:xfrm xmlns:a="http://schemas.openxmlformats.org/drawingml/2006/main">
            <a:off x="3613785" y="38862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Q3 Payment Gateway</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Post-Incident Review</a:t>
            </a:r>
          </a:p>
        </p:txBody>
      </p:sp>
      <p:sp>
        <p:nvSpPr>
          <p:cNvPr id="24" name="Confluence 1 readers">
            <a:extLst xmlns:a="http://schemas.openxmlformats.org/drawingml/2006/main">
              <a:ext uri="{FF2B5EF4-FFF2-40B4-BE49-F238E27FC236}">
                <a16:creationId xmlns:a16="http://schemas.microsoft.com/office/drawing/2014/main" id="{F71B826C-0D2F-42B0-BD44-2AF6B23B551E}"/>
              </a:ext>
            </a:extLst>
          </p:cNvPr>
          <p:cNvSpPr>
            <a:spLocks xmlns:a="http://schemas.openxmlformats.org/drawingml/2006/main" noGrp="1"/>
          </p:cNvSpPr>
          <p:nvPr/>
        </p:nvSpPr>
        <p:spPr>
          <a:xfrm xmlns:a="http://schemas.openxmlformats.org/drawingml/2006/main">
            <a:off x="3613785" y="43148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4CE1"/>
                </a:solidFill>
                <a:latin typeface="Inter"/>
                <a:ea typeface="Inter"/>
                <a:cs typeface="Inter"/>
              </a:defRPr>
            </a:pPr>
            <a:r>
              <a:rPr sz="1200" b="0">
                <a:solidFill>
                  <a:srgbClr val="554CE1"/>
                </a:solidFill>
                <a:latin typeface="Inter"/>
                <a:ea typeface="Inter"/>
                <a:cs typeface="Inter"/>
              </a:rPr>
              <a:t>Readers: Alice, Bob</a:t>
            </a:r>
          </a:p>
        </p:txBody>
      </p:sp>
      <p:sp>
        <p:nvSpPr>
          <p:cNvPr id="25" name="Confluence 2 record">
            <a:extLst xmlns:a="http://schemas.openxmlformats.org/drawingml/2006/main">
              <a:ext uri="{FF2B5EF4-FFF2-40B4-BE49-F238E27FC236}">
                <a16:creationId xmlns:a16="http://schemas.microsoft.com/office/drawing/2014/main" id="{2D312C05-1CF8-462C-A70F-D0C47756D150}"/>
              </a:ext>
            </a:extLst>
          </p:cNvPr>
          <p:cNvSpPr>
            <a:spLocks xmlns:a="http://schemas.openxmlformats.org/drawingml/2006/main" noGrp="1"/>
          </p:cNvSpPr>
          <p:nvPr/>
        </p:nvSpPr>
        <p:spPr>
          <a:xfrm xmlns:a="http://schemas.openxmlformats.org/drawingml/2006/main">
            <a:off x="3613785" y="47625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Auth Service</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Decision Record</a:t>
            </a:r>
          </a:p>
        </p:txBody>
      </p:sp>
      <p:sp>
        <p:nvSpPr>
          <p:cNvPr id="26" name="Confluence 2 readers">
            <a:extLst xmlns:a="http://schemas.openxmlformats.org/drawingml/2006/main">
              <a:ext uri="{FF2B5EF4-FFF2-40B4-BE49-F238E27FC236}">
                <a16:creationId xmlns:a16="http://schemas.microsoft.com/office/drawing/2014/main" id="{DDAB826F-10F8-4BEF-824F-819674A89D1C}"/>
              </a:ext>
            </a:extLst>
          </p:cNvPr>
          <p:cNvSpPr>
            <a:spLocks xmlns:a="http://schemas.openxmlformats.org/drawingml/2006/main" noGrp="1"/>
          </p:cNvSpPr>
          <p:nvPr/>
        </p:nvSpPr>
        <p:spPr>
          <a:xfrm xmlns:a="http://schemas.openxmlformats.org/drawingml/2006/main">
            <a:off x="3613785" y="51911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4CE1"/>
                </a:solidFill>
                <a:latin typeface="Inter"/>
                <a:ea typeface="Inter"/>
                <a:cs typeface="Inter"/>
              </a:defRPr>
            </a:pPr>
            <a:r>
              <a:rPr sz="1200" b="0">
                <a:solidFill>
                  <a:srgbClr val="554CE1"/>
                </a:solidFill>
                <a:latin typeface="Inter"/>
                <a:ea typeface="Inter"/>
                <a:cs typeface="Inter"/>
              </a:rPr>
              <a:t>Readers: Alice, Bob</a:t>
            </a:r>
          </a:p>
        </p:txBody>
      </p:sp>
      <p:sp>
        <p:nvSpPr>
          <p:cNvPr id="27" name="Slack source">
            <a:extLst xmlns:a="http://schemas.openxmlformats.org/drawingml/2006/main">
              <a:ext uri="{FF2B5EF4-FFF2-40B4-BE49-F238E27FC236}">
                <a16:creationId xmlns:a16="http://schemas.microsoft.com/office/drawing/2014/main" id="{08DB3100-29B1-44DD-9D7D-A602DE88594E}"/>
              </a:ext>
            </a:extLst>
          </p:cNvPr>
          <p:cNvSpPr>
            <a:spLocks xmlns:a="http://schemas.openxmlformats.org/drawingml/2006/main" noGrp="1"/>
          </p:cNvSpPr>
          <p:nvPr/>
        </p:nvSpPr>
        <p:spPr>
          <a:xfrm xmlns:a="http://schemas.openxmlformats.org/drawingml/2006/main">
            <a:off x="6206490" y="2400300"/>
            <a:ext cx="2554605" cy="3390900"/>
          </a:xfrm>
          <a:prstGeom xmlns:a="http://schemas.openxmlformats.org/drawingml/2006/main" prst="roundRect">
            <a:avLst>
              <a:gd name="adj" fmla="val 3729"/>
            </a:avLst>
          </a:prstGeom>
          <a:solidFill xmlns:a="http://schemas.openxmlformats.org/drawingml/2006/main">
            <a:srgbClr val="FFFFFF"/>
          </a:solidFill>
          <a:ln xmlns:a="http://schemas.openxmlformats.org/drawingml/2006/main" w="9525">
            <a:solidFill>
              <a:srgbClr val="D5DDEF"/>
            </a:solidFill>
          </a:ln>
        </p:spPr>
      </p:sp>
      <p:sp>
        <p:nvSpPr>
          <p:cNvPr id="28" name="Slack heading">
            <a:extLst xmlns:a="http://schemas.openxmlformats.org/drawingml/2006/main">
              <a:ext uri="{FF2B5EF4-FFF2-40B4-BE49-F238E27FC236}">
                <a16:creationId xmlns:a16="http://schemas.microsoft.com/office/drawing/2014/main" id="{740E943B-4496-4F6E-B8D7-2D36C2CC6965}"/>
              </a:ext>
            </a:extLst>
          </p:cNvPr>
          <p:cNvSpPr>
            <a:spLocks xmlns:a="http://schemas.openxmlformats.org/drawingml/2006/main" noGrp="1"/>
          </p:cNvSpPr>
          <p:nvPr/>
        </p:nvSpPr>
        <p:spPr>
          <a:xfrm xmlns:a="http://schemas.openxmlformats.org/drawingml/2006/main">
            <a:off x="6396990" y="2590800"/>
            <a:ext cx="217360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008F83"/>
                </a:solidFill>
                <a:latin typeface="Inter"/>
                <a:ea typeface="Inter"/>
                <a:cs typeface="Inter"/>
              </a:defRPr>
            </a:pPr>
            <a:r>
              <a:rPr sz="1725" b="1">
                <a:solidFill>
                  <a:srgbClr val="008F83"/>
                </a:solidFill>
                <a:latin typeface="Inter"/>
                <a:ea typeface="Inter"/>
                <a:cs typeface="Inter"/>
              </a:rPr>
              <a:t>Slack</a:t>
            </a:r>
          </a:p>
        </p:txBody>
      </p:sp>
      <p:sp>
        <p:nvSpPr>
          <p:cNvPr id="29" name="Slack 0 record">
            <a:extLst xmlns:a="http://schemas.openxmlformats.org/drawingml/2006/main">
              <a:ext uri="{FF2B5EF4-FFF2-40B4-BE49-F238E27FC236}">
                <a16:creationId xmlns:a16="http://schemas.microsoft.com/office/drawing/2014/main" id="{A521A807-EDC1-448D-8D4B-EA38EA2F0ADF}"/>
              </a:ext>
            </a:extLst>
          </p:cNvPr>
          <p:cNvSpPr>
            <a:spLocks xmlns:a="http://schemas.openxmlformats.org/drawingml/2006/main" noGrp="1"/>
          </p:cNvSpPr>
          <p:nvPr/>
        </p:nvSpPr>
        <p:spPr>
          <a:xfrm xmlns:a="http://schemas.openxmlformats.org/drawingml/2006/main">
            <a:off x="6396990" y="30099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#payment-incident</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Incident thread and replies</a:t>
            </a:r>
          </a:p>
        </p:txBody>
      </p:sp>
      <p:sp>
        <p:nvSpPr>
          <p:cNvPr id="30" name="Slack 0 readers">
            <a:extLst xmlns:a="http://schemas.openxmlformats.org/drawingml/2006/main">
              <a:ext uri="{FF2B5EF4-FFF2-40B4-BE49-F238E27FC236}">
                <a16:creationId xmlns:a16="http://schemas.microsoft.com/office/drawing/2014/main" id="{38EFBC5F-2989-4DD9-8FA8-5DB1E90BB086}"/>
              </a:ext>
            </a:extLst>
          </p:cNvPr>
          <p:cNvSpPr>
            <a:spLocks xmlns:a="http://schemas.openxmlformats.org/drawingml/2006/main" noGrp="1"/>
          </p:cNvSpPr>
          <p:nvPr/>
        </p:nvSpPr>
        <p:spPr>
          <a:xfrm xmlns:a="http://schemas.openxmlformats.org/drawingml/2006/main">
            <a:off x="6396990" y="34385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008F83"/>
                </a:solidFill>
                <a:latin typeface="Inter"/>
                <a:ea typeface="Inter"/>
                <a:cs typeface="Inter"/>
              </a:defRPr>
            </a:pPr>
            <a:r>
              <a:rPr sz="1200" b="0">
                <a:solidFill>
                  <a:srgbClr val="008F83"/>
                </a:solidFill>
                <a:latin typeface="Inter"/>
                <a:ea typeface="Inter"/>
                <a:cs typeface="Inter"/>
              </a:rPr>
              <a:t>Readers: Alice, Bob</a:t>
            </a:r>
          </a:p>
        </p:txBody>
      </p:sp>
      <p:sp>
        <p:nvSpPr>
          <p:cNvPr id="31" name="Slack 1 record">
            <a:extLst xmlns:a="http://schemas.openxmlformats.org/drawingml/2006/main">
              <a:ext uri="{FF2B5EF4-FFF2-40B4-BE49-F238E27FC236}">
                <a16:creationId xmlns:a16="http://schemas.microsoft.com/office/drawing/2014/main" id="{364040B1-FB80-4F39-9333-9057C2D22D6F}"/>
              </a:ext>
            </a:extLst>
          </p:cNvPr>
          <p:cNvSpPr>
            <a:spLocks xmlns:a="http://schemas.openxmlformats.org/drawingml/2006/main" noGrp="1"/>
          </p:cNvSpPr>
          <p:nvPr/>
        </p:nvSpPr>
        <p:spPr>
          <a:xfrm xmlns:a="http://schemas.openxmlformats.org/drawingml/2006/main">
            <a:off x="6396990" y="38862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#auth-design</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Decision thread and replies</a:t>
            </a:r>
          </a:p>
        </p:txBody>
      </p:sp>
      <p:sp>
        <p:nvSpPr>
          <p:cNvPr id="32" name="Slack 1 readers">
            <a:extLst xmlns:a="http://schemas.openxmlformats.org/drawingml/2006/main">
              <a:ext uri="{FF2B5EF4-FFF2-40B4-BE49-F238E27FC236}">
                <a16:creationId xmlns:a16="http://schemas.microsoft.com/office/drawing/2014/main" id="{75D77C99-DFF1-410A-A0CE-AC66553A306E}"/>
              </a:ext>
            </a:extLst>
          </p:cNvPr>
          <p:cNvSpPr>
            <a:spLocks xmlns:a="http://schemas.openxmlformats.org/drawingml/2006/main" noGrp="1"/>
          </p:cNvSpPr>
          <p:nvPr/>
        </p:nvSpPr>
        <p:spPr>
          <a:xfrm xmlns:a="http://schemas.openxmlformats.org/drawingml/2006/main">
            <a:off x="6396990" y="43148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008F83"/>
                </a:solidFill>
                <a:latin typeface="Inter"/>
                <a:ea typeface="Inter"/>
                <a:cs typeface="Inter"/>
              </a:defRPr>
            </a:pPr>
            <a:r>
              <a:rPr sz="1200" b="0">
                <a:solidFill>
                  <a:srgbClr val="008F83"/>
                </a:solidFill>
                <a:latin typeface="Inter"/>
                <a:ea typeface="Inter"/>
                <a:cs typeface="Inter"/>
              </a:rPr>
              <a:t>Readers: Alice, Bob</a:t>
            </a:r>
          </a:p>
        </p:txBody>
      </p:sp>
      <p:sp>
        <p:nvSpPr>
          <p:cNvPr id="33" name="Slack 2 record">
            <a:extLst xmlns:a="http://schemas.openxmlformats.org/drawingml/2006/main">
              <a:ext uri="{FF2B5EF4-FFF2-40B4-BE49-F238E27FC236}">
                <a16:creationId xmlns:a16="http://schemas.microsoft.com/office/drawing/2014/main" id="{2370EA09-23B0-4CAB-99DD-4977A89C8383}"/>
              </a:ext>
            </a:extLst>
          </p:cNvPr>
          <p:cNvSpPr>
            <a:spLocks xmlns:a="http://schemas.openxmlformats.org/drawingml/2006/main" noGrp="1"/>
          </p:cNvSpPr>
          <p:nvPr/>
        </p:nvSpPr>
        <p:spPr>
          <a:xfrm xmlns:a="http://schemas.openxmlformats.org/drawingml/2006/main">
            <a:off x="6396990" y="47625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#revocation-test</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Private rehearsal channel</a:t>
            </a:r>
          </a:p>
        </p:txBody>
      </p:sp>
      <p:sp>
        <p:nvSpPr>
          <p:cNvPr id="34" name="Slack 2 readers">
            <a:extLst xmlns:a="http://schemas.openxmlformats.org/drawingml/2006/main">
              <a:ext uri="{FF2B5EF4-FFF2-40B4-BE49-F238E27FC236}">
                <a16:creationId xmlns:a16="http://schemas.microsoft.com/office/drawing/2014/main" id="{8679DA42-BFDB-429B-BE0D-D60671BB280A}"/>
              </a:ext>
            </a:extLst>
          </p:cNvPr>
          <p:cNvSpPr>
            <a:spLocks xmlns:a="http://schemas.openxmlformats.org/drawingml/2006/main" noGrp="1"/>
          </p:cNvSpPr>
          <p:nvPr/>
        </p:nvSpPr>
        <p:spPr>
          <a:xfrm xmlns:a="http://schemas.openxmlformats.org/drawingml/2006/main">
            <a:off x="6396990" y="51911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008F83"/>
                </a:solidFill>
                <a:latin typeface="Inter"/>
                <a:ea typeface="Inter"/>
                <a:cs typeface="Inter"/>
              </a:defRPr>
            </a:pPr>
            <a:r>
              <a:rPr sz="1200" b="0">
                <a:solidFill>
                  <a:srgbClr val="008F83"/>
                </a:solidFill>
                <a:latin typeface="Inter"/>
                <a:ea typeface="Inter"/>
                <a:cs typeface="Inter"/>
              </a:rPr>
              <a:t>Reader: Alice</a:t>
            </a:r>
          </a:p>
        </p:txBody>
      </p:sp>
      <p:sp>
        <p:nvSpPr>
          <p:cNvPr id="35" name="Slack 2 denial">
            <a:extLst xmlns:a="http://schemas.openxmlformats.org/drawingml/2006/main">
              <a:ext uri="{FF2B5EF4-FFF2-40B4-BE49-F238E27FC236}">
                <a16:creationId xmlns:a16="http://schemas.microsoft.com/office/drawing/2014/main" id="{5C183390-41E6-46ED-AC28-E7A191C60A08}"/>
              </a:ext>
            </a:extLst>
          </p:cNvPr>
          <p:cNvSpPr>
            <a:spLocks xmlns:a="http://schemas.openxmlformats.org/drawingml/2006/main" noGrp="1"/>
          </p:cNvSpPr>
          <p:nvPr/>
        </p:nvSpPr>
        <p:spPr>
          <a:xfrm xmlns:a="http://schemas.openxmlformats.org/drawingml/2006/main">
            <a:off x="6396990" y="5419725"/>
            <a:ext cx="217360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9A3B43"/>
                </a:solidFill>
                <a:latin typeface="Inter"/>
                <a:ea typeface="Inter"/>
                <a:cs typeface="Inter"/>
              </a:defRPr>
            </a:pPr>
            <a:r>
              <a:rPr sz="1125" b="1">
                <a:solidFill>
                  <a:srgbClr val="9A3B43"/>
                </a:solidFill>
                <a:latin typeface="Inter"/>
                <a:ea typeface="Inter"/>
                <a:cs typeface="Inter"/>
              </a:rPr>
              <a:t>Bob: not a member</a:t>
            </a:r>
          </a:p>
        </p:txBody>
      </p:sp>
      <p:sp>
        <p:nvSpPr>
          <p:cNvPr id="36" name="Google Drive source">
            <a:extLst xmlns:a="http://schemas.openxmlformats.org/drawingml/2006/main">
              <a:ext uri="{FF2B5EF4-FFF2-40B4-BE49-F238E27FC236}">
                <a16:creationId xmlns:a16="http://schemas.microsoft.com/office/drawing/2014/main" id="{ECCE0D75-F3B4-4E29-9F69-7039BD53ED74}"/>
              </a:ext>
            </a:extLst>
          </p:cNvPr>
          <p:cNvSpPr>
            <a:spLocks xmlns:a="http://schemas.openxmlformats.org/drawingml/2006/main" noGrp="1"/>
          </p:cNvSpPr>
          <p:nvPr/>
        </p:nvSpPr>
        <p:spPr>
          <a:xfrm xmlns:a="http://schemas.openxmlformats.org/drawingml/2006/main">
            <a:off x="8989695" y="2400300"/>
            <a:ext cx="2554605" cy="3390900"/>
          </a:xfrm>
          <a:prstGeom xmlns:a="http://schemas.openxmlformats.org/drawingml/2006/main" prst="roundRect">
            <a:avLst>
              <a:gd name="adj" fmla="val 3729"/>
            </a:avLst>
          </a:prstGeom>
          <a:solidFill xmlns:a="http://schemas.openxmlformats.org/drawingml/2006/main">
            <a:srgbClr val="FFFFFF"/>
          </a:solidFill>
          <a:ln xmlns:a="http://schemas.openxmlformats.org/drawingml/2006/main" w="9525">
            <a:solidFill>
              <a:srgbClr val="D5DDEF"/>
            </a:solidFill>
          </a:ln>
        </p:spPr>
      </p:sp>
      <p:sp>
        <p:nvSpPr>
          <p:cNvPr id="37" name="Google Drive heading">
            <a:extLst xmlns:a="http://schemas.openxmlformats.org/drawingml/2006/main">
              <a:ext uri="{FF2B5EF4-FFF2-40B4-BE49-F238E27FC236}">
                <a16:creationId xmlns:a16="http://schemas.microsoft.com/office/drawing/2014/main" id="{515DE40B-DFEB-4C8D-AB52-1B2EE500A858}"/>
              </a:ext>
            </a:extLst>
          </p:cNvPr>
          <p:cNvSpPr>
            <a:spLocks xmlns:a="http://schemas.openxmlformats.org/drawingml/2006/main" noGrp="1"/>
          </p:cNvSpPr>
          <p:nvPr/>
        </p:nvSpPr>
        <p:spPr>
          <a:xfrm xmlns:a="http://schemas.openxmlformats.org/drawingml/2006/main">
            <a:off x="9180195" y="2590800"/>
            <a:ext cx="217360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28044"/>
                </a:solidFill>
                <a:latin typeface="Inter"/>
                <a:ea typeface="Inter"/>
                <a:cs typeface="Inter"/>
              </a:defRPr>
            </a:pPr>
            <a:r>
              <a:rPr sz="1725" b="1">
                <a:solidFill>
                  <a:srgbClr val="128044"/>
                </a:solidFill>
                <a:latin typeface="Inter"/>
                <a:ea typeface="Inter"/>
                <a:cs typeface="Inter"/>
              </a:rPr>
              <a:t>Google Drive</a:t>
            </a:r>
          </a:p>
        </p:txBody>
      </p:sp>
      <p:sp>
        <p:nvSpPr>
          <p:cNvPr id="38" name="Google Drive 0 record">
            <a:extLst xmlns:a="http://schemas.openxmlformats.org/drawingml/2006/main">
              <a:ext uri="{FF2B5EF4-FFF2-40B4-BE49-F238E27FC236}">
                <a16:creationId xmlns:a16="http://schemas.microsoft.com/office/drawing/2014/main" id="{DD1AC8F0-66CA-46A7-A64B-AAAF325A6208}"/>
              </a:ext>
            </a:extLst>
          </p:cNvPr>
          <p:cNvSpPr>
            <a:spLocks xmlns:a="http://schemas.openxmlformats.org/drawingml/2006/main" noGrp="1"/>
          </p:cNvSpPr>
          <p:nvPr/>
        </p:nvSpPr>
        <p:spPr>
          <a:xfrm xmlns:a="http://schemas.openxmlformats.org/drawingml/2006/main">
            <a:off x="9180195" y="30099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Payment Gateway</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Postmortem (Shared)</a:t>
            </a:r>
          </a:p>
        </p:txBody>
      </p:sp>
      <p:sp>
        <p:nvSpPr>
          <p:cNvPr id="39" name="Google Drive 0 readers">
            <a:extLst xmlns:a="http://schemas.openxmlformats.org/drawingml/2006/main">
              <a:ext uri="{FF2B5EF4-FFF2-40B4-BE49-F238E27FC236}">
                <a16:creationId xmlns:a16="http://schemas.microsoft.com/office/drawing/2014/main" id="{5DD30D3F-ED45-497F-8911-849A58D9E95D}"/>
              </a:ext>
            </a:extLst>
          </p:cNvPr>
          <p:cNvSpPr>
            <a:spLocks xmlns:a="http://schemas.openxmlformats.org/drawingml/2006/main" noGrp="1"/>
          </p:cNvSpPr>
          <p:nvPr/>
        </p:nvSpPr>
        <p:spPr>
          <a:xfrm xmlns:a="http://schemas.openxmlformats.org/drawingml/2006/main">
            <a:off x="9180195" y="34385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28044"/>
                </a:solidFill>
                <a:latin typeface="Inter"/>
                <a:ea typeface="Inter"/>
                <a:cs typeface="Inter"/>
              </a:defRPr>
            </a:pPr>
            <a:r>
              <a:rPr sz="1200" b="0">
                <a:solidFill>
                  <a:srgbClr val="128044"/>
                </a:solidFill>
                <a:latin typeface="Inter"/>
                <a:ea typeface="Inter"/>
                <a:cs typeface="Inter"/>
              </a:rPr>
              <a:t>Readers: Alice, Bob</a:t>
            </a:r>
          </a:p>
        </p:txBody>
      </p:sp>
      <p:sp>
        <p:nvSpPr>
          <p:cNvPr id="40" name="Google Drive 1 record">
            <a:extLst xmlns:a="http://schemas.openxmlformats.org/drawingml/2006/main">
              <a:ext uri="{FF2B5EF4-FFF2-40B4-BE49-F238E27FC236}">
                <a16:creationId xmlns:a16="http://schemas.microsoft.com/office/drawing/2014/main" id="{45976159-229B-4EAA-8FA9-70AF3FEEC3B4}"/>
              </a:ext>
            </a:extLst>
          </p:cNvPr>
          <p:cNvSpPr>
            <a:spLocks xmlns:a="http://schemas.openxmlformats.org/drawingml/2006/main" noGrp="1"/>
          </p:cNvSpPr>
          <p:nvPr/>
        </p:nvSpPr>
        <p:spPr>
          <a:xfrm xmlns:a="http://schemas.openxmlformats.org/drawingml/2006/main">
            <a:off x="9180195" y="3886200"/>
            <a:ext cx="217360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Security</a:t>
            </a:r>
          </a:p>
          <a:p xmlns:a="http://schemas.openxmlformats.org/drawingml/2006/main">
            <a:pPr algn="l">
              <a:defRPr sz="1275" b="1">
                <a:solidFill>
                  <a:srgbClr val="182234"/>
                </a:solidFill>
                <a:latin typeface="Inter"/>
                <a:ea typeface="Inter"/>
                <a:cs typeface="Inter"/>
              </a:defRPr>
            </a:pPr>
            <a:r>
              <a:rPr sz="1275" b="1">
                <a:solidFill>
                  <a:srgbClr val="182234"/>
                </a:solidFill>
                <a:latin typeface="Inter"/>
                <a:ea typeface="Inter"/>
                <a:cs typeface="Inter"/>
              </a:rPr>
              <a:t>Q3 Incident Review</a:t>
            </a:r>
          </a:p>
        </p:txBody>
      </p:sp>
      <p:sp>
        <p:nvSpPr>
          <p:cNvPr id="41" name="Google Drive 1 readers">
            <a:extLst xmlns:a="http://schemas.openxmlformats.org/drawingml/2006/main">
              <a:ext uri="{FF2B5EF4-FFF2-40B4-BE49-F238E27FC236}">
                <a16:creationId xmlns:a16="http://schemas.microsoft.com/office/drawing/2014/main" id="{B0BD909E-864B-4F4D-85F8-7A040CE0921A}"/>
              </a:ext>
            </a:extLst>
          </p:cNvPr>
          <p:cNvSpPr>
            <a:spLocks xmlns:a="http://schemas.openxmlformats.org/drawingml/2006/main" noGrp="1"/>
          </p:cNvSpPr>
          <p:nvPr/>
        </p:nvSpPr>
        <p:spPr>
          <a:xfrm xmlns:a="http://schemas.openxmlformats.org/drawingml/2006/main">
            <a:off x="9180195" y="4314825"/>
            <a:ext cx="217360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128044"/>
                </a:solidFill>
                <a:latin typeface="Inter"/>
                <a:ea typeface="Inter"/>
                <a:cs typeface="Inter"/>
              </a:defRPr>
            </a:pPr>
            <a:r>
              <a:rPr sz="1200" b="0">
                <a:solidFill>
                  <a:srgbClr val="128044"/>
                </a:solidFill>
                <a:latin typeface="Inter"/>
                <a:ea typeface="Inter"/>
                <a:cs typeface="Inter"/>
              </a:rPr>
              <a:t>Readers: Alice, Carol</a:t>
            </a:r>
          </a:p>
        </p:txBody>
      </p:sp>
      <p:sp>
        <p:nvSpPr>
          <p:cNvPr id="42" name="Google Drive 1 denial">
            <a:extLst xmlns:a="http://schemas.openxmlformats.org/drawingml/2006/main">
              <a:ext uri="{FF2B5EF4-FFF2-40B4-BE49-F238E27FC236}">
                <a16:creationId xmlns:a16="http://schemas.microsoft.com/office/drawing/2014/main" id="{E8E9A521-9BC3-493B-95F4-0A1EC2749764}"/>
              </a:ext>
            </a:extLst>
          </p:cNvPr>
          <p:cNvSpPr>
            <a:spLocks xmlns:a="http://schemas.openxmlformats.org/drawingml/2006/main" noGrp="1"/>
          </p:cNvSpPr>
          <p:nvPr/>
        </p:nvSpPr>
        <p:spPr>
          <a:xfrm xmlns:a="http://schemas.openxmlformats.org/drawingml/2006/main">
            <a:off x="9180195" y="4543425"/>
            <a:ext cx="217360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a:solidFill>
                  <a:srgbClr val="9A3B43"/>
                </a:solidFill>
                <a:latin typeface="Inter"/>
                <a:ea typeface="Inter"/>
                <a:cs typeface="Inter"/>
              </a:defRPr>
            </a:pPr>
            <a:r>
              <a:rPr sz="1125" b="1">
                <a:solidFill>
                  <a:srgbClr val="9A3B43"/>
                </a:solidFill>
                <a:latin typeface="Inter"/>
                <a:ea typeface="Inter"/>
                <a:cs typeface="Inter"/>
              </a:rPr>
              <a:t>Bob: no access</a:t>
            </a:r>
          </a:p>
        </p:txBody>
      </p:sp>
      <p:sp>
        <p:nvSpPr>
          <p:cNvPr id="43" name="Application roles">
            <a:extLst xmlns:a="http://schemas.openxmlformats.org/drawingml/2006/main">
              <a:ext uri="{FF2B5EF4-FFF2-40B4-BE49-F238E27FC236}">
                <a16:creationId xmlns:a16="http://schemas.microsoft.com/office/drawing/2014/main" id="{77B1AFB1-1490-474B-8006-0476A43D9AF8}"/>
              </a:ext>
            </a:extLst>
          </p:cNvPr>
          <p:cNvSpPr>
            <a:spLocks xmlns:a="http://schemas.openxmlformats.org/drawingml/2006/main" noGrp="1"/>
          </p:cNvSpPr>
          <p:nvPr/>
        </p:nvSpPr>
        <p:spPr>
          <a:xfrm xmlns:a="http://schemas.openxmlformats.org/drawingml/2006/main">
            <a:off x="640080" y="5953125"/>
            <a:ext cx="10906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65738D"/>
                </a:solidFill>
                <a:latin typeface="Inter"/>
                <a:ea typeface="Inter"/>
                <a:cs typeface="Inter"/>
              </a:defRPr>
            </a:pPr>
            <a:r>
              <a:rPr sz="1200" b="0">
                <a:solidFill>
                  <a:srgbClr val="65738D"/>
                </a:solidFill>
                <a:latin typeface="Inter"/>
                <a:ea typeface="Inter"/>
                <a:cs typeface="Inter"/>
              </a:rPr>
              <a:t>Alice indexes the corpus. Carol alone has compliance access, which does not grant source reading rights.</a:t>
            </a:r>
          </a:p>
        </p:txBody>
      </p:sp>
      <p:sp>
        <p:nvSpPr>
          <p:cNvPr id="44" name="Static denial boundary">
            <a:extLst xmlns:a="http://schemas.openxmlformats.org/drawingml/2006/main">
              <a:ext uri="{FF2B5EF4-FFF2-40B4-BE49-F238E27FC236}">
                <a16:creationId xmlns:a16="http://schemas.microsoft.com/office/drawing/2014/main" id="{4EDCA29C-98A4-44C1-B7CC-6C29B909BD55}"/>
              </a:ext>
            </a:extLst>
          </p:cNvPr>
          <p:cNvSpPr>
            <a:spLocks xmlns:a="http://schemas.openxmlformats.org/drawingml/2006/main" noGrp="1"/>
          </p:cNvSpPr>
          <p:nvPr/>
        </p:nvSpPr>
        <p:spPr>
          <a:xfrm xmlns:a="http://schemas.openxmlformats.org/drawingml/2006/main">
            <a:off x="640080" y="6200775"/>
            <a:ext cx="10906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65738D"/>
                </a:solidFill>
                <a:latin typeface="Inter"/>
                <a:ea typeface="Inter"/>
                <a:cs typeface="Inter"/>
              </a:defRPr>
            </a:pPr>
            <a:r>
              <a:rPr sz="1125" b="0">
                <a:solidFill>
                  <a:srgbClr val="65738D"/>
                </a:solidFill>
                <a:latin typeface="Inter"/>
                <a:ea typeface="Inter"/>
                <a:cs typeface="Inter"/>
              </a:rPr>
              <a:t>Bob is already outside the private Slack channel. Current denial does not demonstrate a live revocation.</a:t>
            </a:r>
          </a:p>
        </p:txBody>
      </p:sp>
    </p:spTree>
    <p:extLst>
      <p:ext uri="{BB962C8B-B14F-4D97-AF65-F5344CB8AC3E}">
        <p14:creationId xmlns:p14="http://schemas.microsoft.com/office/powerpoint/2010/main" val="831483687"/>
      </p:ext>
    </p:extLst>
  </p:cSld>
</p:sld>
</file>

<file path=ppt/slides/slide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A277496-3831-4A17-B175-6769F6F69342}"/>
              </a:ext>
            </a:extLst>
          </p:cNvPr>
          <p:cNvSpPr>
            <a:spLocks xmlns:a="http://schemas.openxmlformats.org/drawingml/2006/main" noGrp="1"/>
          </p:cNvSpPr>
          <p:nvPr/>
        </p:nvSpPr>
        <p:spPr>
          <a:xfrm xmlns:a="http://schemas.openxmlformats.org/drawingml/2006/main">
            <a:off x="0" y="0"/>
            <a:ext cx="12192000" cy="50292"/>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36406547-D7A0-4C5C-AB7E-836A25EAF2BF}"/>
              </a:ext>
            </a:extLst>
          </p:cNvPr>
          <p:cNvSpPr>
            <a:spLocks xmlns:a="http://schemas.openxmlformats.org/drawingml/2006/main" noGrp="1"/>
          </p:cNvSpPr>
          <p:nvPr/>
        </p:nvSpPr>
        <p:spPr>
          <a:xfrm xmlns:a="http://schemas.openxmlformats.org/drawingml/2006/main">
            <a:off x="640080" y="3931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AGENT WORKFLOW</a:t>
            </a:r>
            <a:endParaRPr sz="1010"/>
          </a:p>
        </p:txBody>
      </p:sp>
      <p:sp>
        <p:nvSpPr>
          <p:cNvPr id="4" name="Text 2">
            <a:extLst xmlns:a="http://schemas.openxmlformats.org/drawingml/2006/main">
              <a:ext uri="{FF2B5EF4-FFF2-40B4-BE49-F238E27FC236}">
                <a16:creationId xmlns:a16="http://schemas.microsoft.com/office/drawing/2014/main" id="{53B5441E-1A02-4F68-B54D-5307F2FACDA0}"/>
              </a:ext>
            </a:extLst>
          </p:cNvPr>
          <p:cNvSpPr>
            <a:spLocks xmlns:a="http://schemas.openxmlformats.org/drawingml/2006/main" noGrp="1"/>
          </p:cNvSpPr>
          <p:nvPr/>
        </p:nvSpPr>
        <p:spPr>
          <a:xfrm xmlns:a="http://schemas.openxmlformats.org/drawingml/2006/main">
            <a:off x="640080" y="740664"/>
            <a:ext cx="109545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950" b="1">
                <a:solidFill>
                  <a:srgbClr val="172033"/>
                </a:solidFill>
                <a:latin typeface="Inter"/>
                <a:ea typeface="Inter"/>
                <a:cs typeface="Inter"/>
              </a:rPr>
              <a:t>WorkBuddy shaped the plan</a:t>
            </a:r>
            <a:endParaRPr sz="2950"/>
          </a:p>
        </p:txBody>
      </p:sp>
      <p:sp>
        <p:nvSpPr>
          <p:cNvPr id="5" name="Text 3">
            <a:extLst xmlns:a="http://schemas.openxmlformats.org/drawingml/2006/main">
              <a:ext uri="{FF2B5EF4-FFF2-40B4-BE49-F238E27FC236}">
                <a16:creationId xmlns:a16="http://schemas.microsoft.com/office/drawing/2014/main" id="{E3090B35-6726-4C2A-A499-C94C2C759FBE}"/>
              </a:ext>
            </a:extLst>
          </p:cNvPr>
          <p:cNvSpPr>
            <a:spLocks xmlns:a="http://schemas.openxmlformats.org/drawingml/2006/main" noGrp="1"/>
          </p:cNvSpPr>
          <p:nvPr/>
        </p:nvSpPr>
        <p:spPr>
          <a:xfrm xmlns:a="http://schemas.openxmlformats.org/drawingml/2006/main">
            <a:off x="640080" y="1399032"/>
            <a:ext cx="10844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10">
                <a:solidFill>
                  <a:srgbClr val="667085"/>
                </a:solidFill>
                <a:latin typeface="Inter"/>
                <a:ea typeface="Inter"/>
                <a:cs typeface="Inter"/>
              </a:rPr>
              <a:t>The planning agent turned a broad challenge into a demonstrable, testable proposal.</a:t>
            </a:r>
            <a:endParaRPr sz="1410"/>
          </a:p>
        </p:txBody>
      </p:sp>
      <p:sp>
        <p:nvSpPr>
          <p:cNvPr id="6" name="Shape 4">
            <a:extLst xmlns:a="http://schemas.openxmlformats.org/drawingml/2006/main">
              <a:ext uri="{FF2B5EF4-FFF2-40B4-BE49-F238E27FC236}">
                <a16:creationId xmlns:a16="http://schemas.microsoft.com/office/drawing/2014/main" id="{2534A4FA-29E7-44A7-A160-D01E7CDAF58C}"/>
              </a:ext>
            </a:extLst>
          </p:cNvPr>
          <p:cNvSpPr>
            <a:spLocks xmlns:a="http://schemas.openxmlformats.org/drawingml/2006/main" noGrp="1"/>
          </p:cNvSpPr>
          <p:nvPr/>
        </p:nvSpPr>
        <p:spPr>
          <a:xfrm xmlns:a="http://schemas.openxmlformats.org/drawingml/2006/main">
            <a:off x="640080" y="6437376"/>
            <a:ext cx="10908792" cy="0"/>
          </a:xfrm>
          <a:prstGeom xmlns:a="http://schemas.openxmlformats.org/drawingml/2006/main" prst="line">
            <a:avLst/>
          </a:prstGeom>
          <a:noFill xmlns:a="http://schemas.openxmlformats.org/drawingml/2006/main"/>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8862869C-1919-4CC0-8B0E-4D9247B9E2EF}"/>
              </a:ext>
            </a:extLst>
          </p:cNvPr>
          <p:cNvSpPr>
            <a:spLocks xmlns:a="http://schemas.openxmlformats.org/drawingml/2006/main" noGrp="1"/>
          </p:cNvSpPr>
          <p:nvPr/>
        </p:nvSpPr>
        <p:spPr>
          <a:xfrm xmlns:a="http://schemas.openxmlformats.org/drawingml/2006/main">
            <a:off x="640080" y="6528816"/>
            <a:ext cx="585216"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40" b="1">
                <a:solidFill>
                  <a:srgbClr val="172033"/>
                </a:solidFill>
                <a:latin typeface="Inter"/>
                <a:ea typeface="Inter"/>
                <a:cs typeface="Inter"/>
              </a:rPr>
              <a:t>relay</a:t>
            </a:r>
            <a:endParaRPr sz="1040"/>
          </a:p>
        </p:txBody>
      </p:sp>
      <p:sp>
        <p:nvSpPr>
          <p:cNvPr id="8" name="Text 6">
            <a:extLst xmlns:a="http://schemas.openxmlformats.org/drawingml/2006/main">
              <a:ext uri="{FF2B5EF4-FFF2-40B4-BE49-F238E27FC236}">
                <a16:creationId xmlns:a16="http://schemas.microsoft.com/office/drawing/2014/main" id="{2E48A593-AC20-4583-A4C6-D2473A0D350F}"/>
              </a:ext>
            </a:extLst>
          </p:cNvPr>
          <p:cNvSpPr>
            <a:spLocks xmlns:a="http://schemas.openxmlformats.org/drawingml/2006/main" noGrp="1"/>
          </p:cNvSpPr>
          <p:nvPr/>
        </p:nvSpPr>
        <p:spPr>
          <a:xfrm xmlns:a="http://schemas.openxmlformats.org/drawingml/2006/main">
            <a:off x="1307592" y="6528816"/>
            <a:ext cx="274320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70">
                <a:solidFill>
                  <a:srgbClr val="94A3B8"/>
                </a:solidFill>
                <a:latin typeface="Inter"/>
                <a:ea typeface="Inter"/>
                <a:cs typeface="Inter"/>
              </a:rPr>
              <a:t>/ Tencent Hackathon demo</a:t>
            </a:r>
            <a:endParaRPr sz="970"/>
          </a:p>
        </p:txBody>
      </p:sp>
      <p:sp>
        <p:nvSpPr>
          <p:cNvPr id="9" name="Text 7">
            <a:extLst xmlns:a="http://schemas.openxmlformats.org/drawingml/2006/main">
              <a:ext uri="{FF2B5EF4-FFF2-40B4-BE49-F238E27FC236}">
                <a16:creationId xmlns:a16="http://schemas.microsoft.com/office/drawing/2014/main" id="{15FFEF0D-6017-4B1F-9D3D-19D30D046806}"/>
              </a:ext>
            </a:extLst>
          </p:cNvPr>
          <p:cNvSpPr>
            <a:spLocks xmlns:a="http://schemas.openxmlformats.org/drawingml/2006/main" noGrp="1"/>
          </p:cNvSpPr>
          <p:nvPr/>
        </p:nvSpPr>
        <p:spPr>
          <a:xfrm xmlns:a="http://schemas.openxmlformats.org/drawingml/2006/main">
            <a:off x="11036808" y="6519672"/>
            <a:ext cx="502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06</a:t>
            </a:r>
            <a:endParaRPr sz="1000"/>
          </a:p>
        </p:txBody>
      </p:sp>
      <p:sp>
        <p:nvSpPr>
          <p:cNvPr id="10" name="Shape 8">
            <a:extLst xmlns:a="http://schemas.openxmlformats.org/drawingml/2006/main">
              <a:ext uri="{FF2B5EF4-FFF2-40B4-BE49-F238E27FC236}">
                <a16:creationId xmlns:a16="http://schemas.microsoft.com/office/drawing/2014/main" id="{5463EE31-A4C2-4969-A3AF-A0DF6229DCF9}"/>
              </a:ext>
            </a:extLst>
          </p:cNvPr>
          <p:cNvSpPr>
            <a:spLocks xmlns:a="http://schemas.openxmlformats.org/drawingml/2006/main" noGrp="1"/>
          </p:cNvSpPr>
          <p:nvPr/>
        </p:nvSpPr>
        <p:spPr>
          <a:xfrm xmlns:a="http://schemas.openxmlformats.org/drawingml/2006/main">
            <a:off x="640080" y="2231136"/>
            <a:ext cx="2596896" cy="2697480"/>
          </a:xfrm>
          <a:prstGeom xmlns:a="http://schemas.openxmlformats.org/drawingml/2006/main" prst="roundRect">
            <a:avLst>
              <a:gd name="adj" fmla="val 6338"/>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F372E473-69A8-44AD-99C4-56F18FE89E7A}"/>
              </a:ext>
            </a:extLst>
          </p:cNvPr>
          <p:cNvSpPr>
            <a:spLocks xmlns:a="http://schemas.openxmlformats.org/drawingml/2006/main" noGrp="1"/>
          </p:cNvSpPr>
          <p:nvPr/>
        </p:nvSpPr>
        <p:spPr>
          <a:xfrm xmlns:a="http://schemas.openxmlformats.org/drawingml/2006/main">
            <a:off x="841248" y="2468880"/>
            <a:ext cx="411480" cy="411480"/>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F0F0ACA3-D733-4FD8-B23F-E7C4774CA2A0}"/>
              </a:ext>
            </a:extLst>
          </p:cNvPr>
          <p:cNvSpPr>
            <a:spLocks xmlns:a="http://schemas.openxmlformats.org/drawingml/2006/main" noGrp="1"/>
          </p:cNvSpPr>
          <p:nvPr/>
        </p:nvSpPr>
        <p:spPr>
          <a:xfrm xmlns:a="http://schemas.openxmlformats.org/drawingml/2006/main">
            <a:off x="841248" y="256032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5253D7"/>
                </a:solidFill>
                <a:latin typeface="Inter"/>
                <a:ea typeface="Inter"/>
                <a:cs typeface="Inter"/>
              </a:rPr>
              <a:t>01</a:t>
            </a:r>
            <a:endParaRPr sz="1200"/>
          </a:p>
        </p:txBody>
      </p:sp>
      <p:sp>
        <p:nvSpPr>
          <p:cNvPr id="13" name="Text 11">
            <a:extLst xmlns:a="http://schemas.openxmlformats.org/drawingml/2006/main">
              <a:ext uri="{FF2B5EF4-FFF2-40B4-BE49-F238E27FC236}">
                <a16:creationId xmlns:a16="http://schemas.microsoft.com/office/drawing/2014/main" id="{D618B81C-BE32-4B67-B6FA-9ECF30F1E408}"/>
              </a:ext>
            </a:extLst>
          </p:cNvPr>
          <p:cNvSpPr>
            <a:spLocks xmlns:a="http://schemas.openxmlformats.org/drawingml/2006/main" noGrp="1"/>
          </p:cNvSpPr>
          <p:nvPr/>
        </p:nvSpPr>
        <p:spPr>
          <a:xfrm xmlns:a="http://schemas.openxmlformats.org/drawingml/2006/main">
            <a:off x="841248" y="3063240"/>
            <a:ext cx="21945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740" b="1">
                <a:solidFill>
                  <a:srgbClr val="172033"/>
                </a:solidFill>
                <a:latin typeface="Inter"/>
                <a:ea typeface="Inter"/>
                <a:cs typeface="Inter"/>
              </a:rPr>
              <a:t>Initial idea</a:t>
            </a:r>
            <a:endParaRPr sz="1740"/>
          </a:p>
        </p:txBody>
      </p:sp>
      <p:sp>
        <p:nvSpPr>
          <p:cNvPr id="14" name="Text 12">
            <a:extLst xmlns:a="http://schemas.openxmlformats.org/drawingml/2006/main">
              <a:ext uri="{FF2B5EF4-FFF2-40B4-BE49-F238E27FC236}">
                <a16:creationId xmlns:a16="http://schemas.microsoft.com/office/drawing/2014/main" id="{F61F4B3D-AE1A-4532-86AC-BC037A253BC1}"/>
              </a:ext>
            </a:extLst>
          </p:cNvPr>
          <p:cNvSpPr>
            <a:spLocks xmlns:a="http://schemas.openxmlformats.org/drawingml/2006/main" noGrp="1"/>
          </p:cNvSpPr>
          <p:nvPr/>
        </p:nvSpPr>
        <p:spPr>
          <a:xfrm xmlns:a="http://schemas.openxmlformats.org/drawingml/2006/main">
            <a:off x="841248" y="3621024"/>
            <a:ext cx="2194560" cy="10332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a:solidFill>
                  <a:srgbClr val="667085"/>
                </a:solidFill>
                <a:latin typeface="Inter"/>
                <a:ea typeface="Inter"/>
                <a:cs typeface="Inter"/>
              </a:rPr>
              <a:t>A unified enterprise assistant that could answer across the tools teams already use.</a:t>
            </a:r>
            <a:endParaRPr sz="1400"/>
          </a:p>
        </p:txBody>
      </p:sp>
      <p:sp>
        <p:nvSpPr>
          <p:cNvPr id="15" name="Shape 13">
            <a:extLst xmlns:a="http://schemas.openxmlformats.org/drawingml/2006/main">
              <a:ext uri="{FF2B5EF4-FFF2-40B4-BE49-F238E27FC236}">
                <a16:creationId xmlns:a16="http://schemas.microsoft.com/office/drawing/2014/main" id="{DCA63DE5-3365-444D-89AC-FDDCBCEECA65}"/>
              </a:ext>
            </a:extLst>
          </p:cNvPr>
          <p:cNvSpPr>
            <a:spLocks xmlns:a="http://schemas.openxmlformats.org/drawingml/2006/main" noGrp="1"/>
          </p:cNvSpPr>
          <p:nvPr/>
        </p:nvSpPr>
        <p:spPr>
          <a:xfrm xmlns:a="http://schemas.openxmlformats.org/drawingml/2006/main">
            <a:off x="3410712" y="2231136"/>
            <a:ext cx="2596896" cy="2697480"/>
          </a:xfrm>
          <a:prstGeom xmlns:a="http://schemas.openxmlformats.org/drawingml/2006/main" prst="roundRect">
            <a:avLst>
              <a:gd name="adj" fmla="val 6338"/>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5CDB95B5-C1C7-447E-B605-07443A8179F1}"/>
              </a:ext>
            </a:extLst>
          </p:cNvPr>
          <p:cNvSpPr>
            <a:spLocks xmlns:a="http://schemas.openxmlformats.org/drawingml/2006/main" noGrp="1"/>
          </p:cNvSpPr>
          <p:nvPr/>
        </p:nvSpPr>
        <p:spPr>
          <a:xfrm xmlns:a="http://schemas.openxmlformats.org/drawingml/2006/main">
            <a:off x="3611880" y="2468880"/>
            <a:ext cx="411480" cy="411480"/>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3F4CC526-830B-4398-A3B7-6166ECF3F1A1}"/>
              </a:ext>
            </a:extLst>
          </p:cNvPr>
          <p:cNvSpPr>
            <a:spLocks xmlns:a="http://schemas.openxmlformats.org/drawingml/2006/main" noGrp="1"/>
          </p:cNvSpPr>
          <p:nvPr/>
        </p:nvSpPr>
        <p:spPr>
          <a:xfrm xmlns:a="http://schemas.openxmlformats.org/drawingml/2006/main">
            <a:off x="3611880" y="256032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5253D7"/>
                </a:solidFill>
                <a:latin typeface="Inter"/>
                <a:ea typeface="Inter"/>
                <a:cs typeface="Inter"/>
              </a:rPr>
              <a:t>02</a:t>
            </a:r>
            <a:endParaRPr sz="1200"/>
          </a:p>
        </p:txBody>
      </p:sp>
      <p:sp>
        <p:nvSpPr>
          <p:cNvPr id="18" name="Text 16">
            <a:extLst xmlns:a="http://schemas.openxmlformats.org/drawingml/2006/main">
              <a:ext uri="{FF2B5EF4-FFF2-40B4-BE49-F238E27FC236}">
                <a16:creationId xmlns:a16="http://schemas.microsoft.com/office/drawing/2014/main" id="{43A33EB2-422C-474C-B911-5A51814A3834}"/>
              </a:ext>
            </a:extLst>
          </p:cNvPr>
          <p:cNvSpPr>
            <a:spLocks xmlns:a="http://schemas.openxmlformats.org/drawingml/2006/main" noGrp="1"/>
          </p:cNvSpPr>
          <p:nvPr/>
        </p:nvSpPr>
        <p:spPr>
          <a:xfrm xmlns:a="http://schemas.openxmlformats.org/drawingml/2006/main">
            <a:off x="3611880" y="3063240"/>
            <a:ext cx="21945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740" b="1">
                <a:solidFill>
                  <a:srgbClr val="172033"/>
                </a:solidFill>
                <a:latin typeface="Inter"/>
                <a:ea typeface="Inter"/>
                <a:cs typeface="Inter"/>
              </a:rPr>
              <a:t>First proposal</a:t>
            </a:r>
            <a:endParaRPr sz="1740"/>
          </a:p>
        </p:txBody>
      </p:sp>
      <p:sp>
        <p:nvSpPr>
          <p:cNvPr id="19" name="Text 17">
            <a:extLst xmlns:a="http://schemas.openxmlformats.org/drawingml/2006/main">
              <a:ext uri="{FF2B5EF4-FFF2-40B4-BE49-F238E27FC236}">
                <a16:creationId xmlns:a16="http://schemas.microsoft.com/office/drawing/2014/main" id="{0971EFFA-35B5-42C7-9F54-94C4F3EB60E6}"/>
              </a:ext>
            </a:extLst>
          </p:cNvPr>
          <p:cNvSpPr>
            <a:spLocks xmlns:a="http://schemas.openxmlformats.org/drawingml/2006/main" noGrp="1"/>
          </p:cNvSpPr>
          <p:nvPr/>
        </p:nvSpPr>
        <p:spPr>
          <a:xfrm xmlns:a="http://schemas.openxmlformats.org/drawingml/2006/main">
            <a:off x="3611880" y="3621024"/>
            <a:ext cx="2194560" cy="10332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a:solidFill>
                  <a:srgbClr val="667085"/>
                </a:solidFill>
                <a:latin typeface="Inter"/>
                <a:ea typeface="Inter"/>
                <a:cs typeface="Inter"/>
              </a:rPr>
              <a:t>We drafted the use case, target users, security promise and demo scope with WorkBuddy.</a:t>
            </a:r>
            <a:endParaRPr sz="1400"/>
          </a:p>
        </p:txBody>
      </p:sp>
      <p:sp>
        <p:nvSpPr>
          <p:cNvPr id="20" name="Shape 18">
            <a:extLst xmlns:a="http://schemas.openxmlformats.org/drawingml/2006/main">
              <a:ext uri="{FF2B5EF4-FFF2-40B4-BE49-F238E27FC236}">
                <a16:creationId xmlns:a16="http://schemas.microsoft.com/office/drawing/2014/main" id="{1E48A12C-EACA-447B-B251-9236D099BA23}"/>
              </a:ext>
            </a:extLst>
          </p:cNvPr>
          <p:cNvSpPr>
            <a:spLocks xmlns:a="http://schemas.openxmlformats.org/drawingml/2006/main" noGrp="1"/>
          </p:cNvSpPr>
          <p:nvPr/>
        </p:nvSpPr>
        <p:spPr>
          <a:xfrm xmlns:a="http://schemas.openxmlformats.org/drawingml/2006/main">
            <a:off x="6181344" y="2231136"/>
            <a:ext cx="2596896" cy="2697480"/>
          </a:xfrm>
          <a:prstGeom xmlns:a="http://schemas.openxmlformats.org/drawingml/2006/main" prst="roundRect">
            <a:avLst>
              <a:gd name="adj" fmla="val 6338"/>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1" name="Shape 19">
            <a:extLst xmlns:a="http://schemas.openxmlformats.org/drawingml/2006/main">
              <a:ext uri="{FF2B5EF4-FFF2-40B4-BE49-F238E27FC236}">
                <a16:creationId xmlns:a16="http://schemas.microsoft.com/office/drawing/2014/main" id="{E3A55DED-A757-4FFC-884E-A7D3F806CCFF}"/>
              </a:ext>
            </a:extLst>
          </p:cNvPr>
          <p:cNvSpPr>
            <a:spLocks xmlns:a="http://schemas.openxmlformats.org/drawingml/2006/main" noGrp="1"/>
          </p:cNvSpPr>
          <p:nvPr/>
        </p:nvSpPr>
        <p:spPr>
          <a:xfrm xmlns:a="http://schemas.openxmlformats.org/drawingml/2006/main">
            <a:off x="6382512" y="2468880"/>
            <a:ext cx="411480" cy="411480"/>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0892DC53-5AD4-42D9-803B-4776FC3FE0CD}"/>
              </a:ext>
            </a:extLst>
          </p:cNvPr>
          <p:cNvSpPr>
            <a:spLocks xmlns:a="http://schemas.openxmlformats.org/drawingml/2006/main" noGrp="1"/>
          </p:cNvSpPr>
          <p:nvPr/>
        </p:nvSpPr>
        <p:spPr>
          <a:xfrm xmlns:a="http://schemas.openxmlformats.org/drawingml/2006/main">
            <a:off x="6382512" y="256032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5253D7"/>
                </a:solidFill>
                <a:latin typeface="Inter"/>
                <a:ea typeface="Inter"/>
                <a:cs typeface="Inter"/>
              </a:rPr>
              <a:t>03</a:t>
            </a:r>
            <a:endParaRPr sz="1200"/>
          </a:p>
        </p:txBody>
      </p:sp>
      <p:sp>
        <p:nvSpPr>
          <p:cNvPr id="23" name="Text 21">
            <a:extLst xmlns:a="http://schemas.openxmlformats.org/drawingml/2006/main">
              <a:ext uri="{FF2B5EF4-FFF2-40B4-BE49-F238E27FC236}">
                <a16:creationId xmlns:a16="http://schemas.microsoft.com/office/drawing/2014/main" id="{566D24B3-B768-4188-9DB6-868FC4CABCDC}"/>
              </a:ext>
            </a:extLst>
          </p:cNvPr>
          <p:cNvSpPr>
            <a:spLocks xmlns:a="http://schemas.openxmlformats.org/drawingml/2006/main" noGrp="1"/>
          </p:cNvSpPr>
          <p:nvPr/>
        </p:nvSpPr>
        <p:spPr>
          <a:xfrm xmlns:a="http://schemas.openxmlformats.org/drawingml/2006/main">
            <a:off x="6382512" y="3063240"/>
            <a:ext cx="21945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740" b="1">
                <a:solidFill>
                  <a:srgbClr val="172033"/>
                </a:solidFill>
                <a:latin typeface="Inter"/>
                <a:ea typeface="Inter"/>
                <a:cs typeface="Inter"/>
              </a:rPr>
              <a:t>Iterative critique</a:t>
            </a:r>
            <a:endParaRPr sz="1740"/>
          </a:p>
        </p:txBody>
      </p:sp>
      <p:sp>
        <p:nvSpPr>
          <p:cNvPr id="24" name="Text 22">
            <a:extLst xmlns:a="http://schemas.openxmlformats.org/drawingml/2006/main">
              <a:ext uri="{FF2B5EF4-FFF2-40B4-BE49-F238E27FC236}">
                <a16:creationId xmlns:a16="http://schemas.microsoft.com/office/drawing/2014/main" id="{445C8F54-9B97-4C04-8317-63C52DC61BAE}"/>
              </a:ext>
            </a:extLst>
          </p:cNvPr>
          <p:cNvSpPr>
            <a:spLocks xmlns:a="http://schemas.openxmlformats.org/drawingml/2006/main" noGrp="1"/>
          </p:cNvSpPr>
          <p:nvPr/>
        </p:nvSpPr>
        <p:spPr>
          <a:xfrm xmlns:a="http://schemas.openxmlformats.org/drawingml/2006/main">
            <a:off x="6382512" y="3621024"/>
            <a:ext cx="2194560" cy="10332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a:solidFill>
                  <a:srgbClr val="667085"/>
                </a:solidFill>
                <a:latin typeface="Inter"/>
                <a:ea typeface="Inter"/>
                <a:cs typeface="Inter"/>
              </a:rPr>
              <a:t>We asked WorkBuddy to challenge assumptions, clarify the access boundary and expose failure modes.</a:t>
            </a:r>
            <a:endParaRPr sz="1400"/>
          </a:p>
        </p:txBody>
      </p:sp>
      <p:sp>
        <p:nvSpPr>
          <p:cNvPr id="25" name="Shape 23">
            <a:extLst xmlns:a="http://schemas.openxmlformats.org/drawingml/2006/main">
              <a:ext uri="{FF2B5EF4-FFF2-40B4-BE49-F238E27FC236}">
                <a16:creationId xmlns:a16="http://schemas.microsoft.com/office/drawing/2014/main" id="{217F0297-898C-4D2C-B273-2135109545FF}"/>
              </a:ext>
            </a:extLst>
          </p:cNvPr>
          <p:cNvSpPr>
            <a:spLocks xmlns:a="http://schemas.openxmlformats.org/drawingml/2006/main" noGrp="1"/>
          </p:cNvSpPr>
          <p:nvPr/>
        </p:nvSpPr>
        <p:spPr>
          <a:xfrm xmlns:a="http://schemas.openxmlformats.org/drawingml/2006/main">
            <a:off x="8951976" y="2231136"/>
            <a:ext cx="2596896" cy="2697480"/>
          </a:xfrm>
          <a:prstGeom xmlns:a="http://schemas.openxmlformats.org/drawingml/2006/main" prst="roundRect">
            <a:avLst>
              <a:gd name="adj" fmla="val 6338"/>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Shape 24">
            <a:extLst xmlns:a="http://schemas.openxmlformats.org/drawingml/2006/main">
              <a:ext uri="{FF2B5EF4-FFF2-40B4-BE49-F238E27FC236}">
                <a16:creationId xmlns:a16="http://schemas.microsoft.com/office/drawing/2014/main" id="{424F1EAF-D5B9-4287-B960-D6AAAD86C16C}"/>
              </a:ext>
            </a:extLst>
          </p:cNvPr>
          <p:cNvSpPr>
            <a:spLocks xmlns:a="http://schemas.openxmlformats.org/drawingml/2006/main" noGrp="1"/>
          </p:cNvSpPr>
          <p:nvPr/>
        </p:nvSpPr>
        <p:spPr>
          <a:xfrm xmlns:a="http://schemas.openxmlformats.org/drawingml/2006/main">
            <a:off x="9153144" y="2468880"/>
            <a:ext cx="411480" cy="411480"/>
          </a:xfrm>
          <a:prstGeom xmlns:a="http://schemas.openxmlformats.org/drawingml/2006/main" prst="ellipse">
            <a:avLst/>
          </a:prstGeom>
          <a:solidFill xmlns:a="http://schemas.openxmlformats.org/drawingml/2006/main">
            <a:srgbClr val="ECF9F5"/>
          </a:solidFill>
          <a:ln xmlns:a="http://schemas.openxmlformats.org/drawingml/2006/main" w="12700">
            <a:solidFill>
              <a:srgbClr val="ECF9F5"/>
            </a:solidFill>
            <a:prstDash val="solid"/>
          </a:ln>
        </p:spPr>
        <p:txBody>
          <a:bodyPr xmlns:a="http://schemas.openxmlformats.org/drawingml/2006/main"/>
          <a:lstStyle xmlns:a="http://schemas.openxmlformats.org/drawingml/2006/main"/>
          <a:p xmlns:a="http://schemas.openxmlformats.org/drawingml/2006/main">
            <a:endParaRPr/>
          </a:p>
        </p:txBody>
      </p:sp>
      <p:sp>
        <p:nvSpPr>
          <p:cNvPr id="27" name="Text 25">
            <a:extLst xmlns:a="http://schemas.openxmlformats.org/drawingml/2006/main">
              <a:ext uri="{FF2B5EF4-FFF2-40B4-BE49-F238E27FC236}">
                <a16:creationId xmlns:a16="http://schemas.microsoft.com/office/drawing/2014/main" id="{3D265603-5D82-42AB-AF76-B02FCE770BD4}"/>
              </a:ext>
            </a:extLst>
          </p:cNvPr>
          <p:cNvSpPr>
            <a:spLocks xmlns:a="http://schemas.openxmlformats.org/drawingml/2006/main" noGrp="1"/>
          </p:cNvSpPr>
          <p:nvPr/>
        </p:nvSpPr>
        <p:spPr>
          <a:xfrm xmlns:a="http://schemas.openxmlformats.org/drawingml/2006/main">
            <a:off x="9153144" y="2560320"/>
            <a:ext cx="411480" cy="1463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0B927D"/>
                </a:solidFill>
                <a:latin typeface="Inter"/>
                <a:ea typeface="Inter"/>
                <a:cs typeface="Inter"/>
              </a:rPr>
              <a:t>04</a:t>
            </a:r>
            <a:endParaRPr sz="1200"/>
          </a:p>
        </p:txBody>
      </p:sp>
      <p:sp>
        <p:nvSpPr>
          <p:cNvPr id="28" name="Text 26">
            <a:extLst xmlns:a="http://schemas.openxmlformats.org/drawingml/2006/main">
              <a:ext uri="{FF2B5EF4-FFF2-40B4-BE49-F238E27FC236}">
                <a16:creationId xmlns:a16="http://schemas.microsoft.com/office/drawing/2014/main" id="{7C148B84-10CC-43B1-A695-C96083EF1C39}"/>
              </a:ext>
            </a:extLst>
          </p:cNvPr>
          <p:cNvSpPr>
            <a:spLocks xmlns:a="http://schemas.openxmlformats.org/drawingml/2006/main" noGrp="1"/>
          </p:cNvSpPr>
          <p:nvPr/>
        </p:nvSpPr>
        <p:spPr>
          <a:xfrm xmlns:a="http://schemas.openxmlformats.org/drawingml/2006/main">
            <a:off x="9153144" y="3063240"/>
            <a:ext cx="2194560" cy="393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740" b="1">
                <a:solidFill>
                  <a:srgbClr val="172033"/>
                </a:solidFill>
                <a:latin typeface="Inter"/>
                <a:ea typeface="Inter"/>
                <a:cs typeface="Inter"/>
              </a:rPr>
              <a:t>Testable plan</a:t>
            </a:r>
            <a:endParaRPr sz="1740"/>
          </a:p>
        </p:txBody>
      </p:sp>
      <p:sp>
        <p:nvSpPr>
          <p:cNvPr id="29" name="Text 27">
            <a:extLst xmlns:a="http://schemas.openxmlformats.org/drawingml/2006/main">
              <a:ext uri="{FF2B5EF4-FFF2-40B4-BE49-F238E27FC236}">
                <a16:creationId xmlns:a16="http://schemas.microsoft.com/office/drawing/2014/main" id="{F27894FE-DC95-4C81-A52F-FD569D324A2F}"/>
              </a:ext>
            </a:extLst>
          </p:cNvPr>
          <p:cNvSpPr>
            <a:spLocks xmlns:a="http://schemas.openxmlformats.org/drawingml/2006/main" noGrp="1"/>
          </p:cNvSpPr>
          <p:nvPr/>
        </p:nvSpPr>
        <p:spPr>
          <a:xfrm xmlns:a="http://schemas.openxmlformats.org/drawingml/2006/main">
            <a:off x="9153144" y="3621024"/>
            <a:ext cx="2194560" cy="103327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400">
                <a:solidFill>
                  <a:srgbClr val="667085"/>
                </a:solidFill>
                <a:latin typeface="Inter"/>
                <a:ea typeface="Inter"/>
                <a:cs typeface="Inter"/>
              </a:rPr>
              <a:t>We refined the work into cross-source retrieval, denial, revocation, freshness and audit scenarios.</a:t>
            </a:r>
            <a:endParaRPr sz="1400"/>
          </a:p>
        </p:txBody>
      </p:sp>
      <p:sp>
        <p:nvSpPr>
          <p:cNvPr id="30" name="Shape 28">
            <a:extLst xmlns:a="http://schemas.openxmlformats.org/drawingml/2006/main">
              <a:ext uri="{FF2B5EF4-FFF2-40B4-BE49-F238E27FC236}">
                <a16:creationId xmlns:a16="http://schemas.microsoft.com/office/drawing/2014/main" id="{8FAB31E5-4E58-4B7C-BC92-2F3CEB08C23B}"/>
              </a:ext>
            </a:extLst>
          </p:cNvPr>
          <p:cNvSpPr>
            <a:spLocks xmlns:a="http://schemas.openxmlformats.org/drawingml/2006/main" noGrp="1"/>
          </p:cNvSpPr>
          <p:nvPr/>
        </p:nvSpPr>
        <p:spPr>
          <a:xfrm xmlns:a="http://schemas.openxmlformats.org/drawingml/2006/main">
            <a:off x="640080" y="5285232"/>
            <a:ext cx="10908792" cy="832104"/>
          </a:xfrm>
          <a:prstGeom xmlns:a="http://schemas.openxmlformats.org/drawingml/2006/main" prst="roundRect">
            <a:avLst>
              <a:gd name="adj" fmla="val 19780"/>
            </a:avLst>
          </a:prstGeom>
          <a:solidFill xmlns:a="http://schemas.openxmlformats.org/drawingml/2006/main">
            <a:srgbClr val="EFF0FF"/>
          </a:solidFill>
          <a:ln xmlns:a="http://schemas.openxmlformats.org/drawingml/2006/main" w="10160">
            <a:solidFill>
              <a:srgbClr val="E1E5FA"/>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7B8B933D-5710-419B-A15C-04EE36E8782B}"/>
              </a:ext>
            </a:extLst>
          </p:cNvPr>
          <p:cNvSpPr>
            <a:spLocks xmlns:a="http://schemas.openxmlformats.org/drawingml/2006/main" noGrp="1"/>
          </p:cNvSpPr>
          <p:nvPr/>
        </p:nvSpPr>
        <p:spPr>
          <a:xfrm xmlns:a="http://schemas.openxmlformats.org/drawingml/2006/main">
            <a:off x="868680" y="5458968"/>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THE OUTCOME · FROM AI SEARCH TO TRUSTWORTHY RETRIEVAL</a:t>
            </a:r>
            <a:endParaRPr sz="1010"/>
          </a:p>
        </p:txBody>
      </p:sp>
      <p:sp>
        <p:nvSpPr>
          <p:cNvPr id="32" name="Text 30">
            <a:extLst xmlns:a="http://schemas.openxmlformats.org/drawingml/2006/main">
              <a:ext uri="{FF2B5EF4-FFF2-40B4-BE49-F238E27FC236}">
                <a16:creationId xmlns:a16="http://schemas.microsoft.com/office/drawing/2014/main" id="{F6ACB8EF-F213-44F7-8699-33AF1FDF147B}"/>
              </a:ext>
            </a:extLst>
          </p:cNvPr>
          <p:cNvSpPr>
            <a:spLocks xmlns:a="http://schemas.openxmlformats.org/drawingml/2006/main" noGrp="1"/>
          </p:cNvSpPr>
          <p:nvPr/>
        </p:nvSpPr>
        <p:spPr>
          <a:xfrm xmlns:a="http://schemas.openxmlformats.org/drawingml/2006/main">
            <a:off x="868680" y="5760720"/>
            <a:ext cx="1024128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600" b="1">
                <a:solidFill>
                  <a:srgbClr val="172033"/>
                </a:solidFill>
                <a:latin typeface="Inter"/>
                <a:ea typeface="Inter"/>
                <a:cs typeface="Inter"/>
              </a:rPr>
              <a:t>Every answer must remain inside the asking user’s permission boundary.</a:t>
            </a:r>
            <a:endParaRPr sz="1600"/>
          </a:p>
        </p:txBody>
      </p:sp>
    </p:spTree>
    <p:extLst>
      <p:ext uri="{BB962C8B-B14F-4D97-AF65-F5344CB8AC3E}">
        <p14:creationId xmlns:p14="http://schemas.microsoft.com/office/powerpoint/2010/main" val="1319266815"/>
      </p:ext>
    </p:extLst>
  </p:cSld>
</p:sld>
</file>

<file path=ppt/slides/slide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26BD378-D1A6-4C56-9DDE-329F0E8D8451}"/>
              </a:ext>
            </a:extLst>
          </p:cNvPr>
          <p:cNvSpPr>
            <a:spLocks xmlns:a="http://schemas.openxmlformats.org/drawingml/2006/main" noGrp="1"/>
          </p:cNvSpPr>
          <p:nvPr/>
        </p:nvSpPr>
        <p:spPr>
          <a:xfrm xmlns:a="http://schemas.openxmlformats.org/drawingml/2006/main">
            <a:off x="0" y="0"/>
            <a:ext cx="12192000" cy="50292"/>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560EC4CF-67D0-4432-9F91-31EA48866309}"/>
              </a:ext>
            </a:extLst>
          </p:cNvPr>
          <p:cNvSpPr>
            <a:spLocks xmlns:a="http://schemas.openxmlformats.org/drawingml/2006/main" noGrp="1"/>
          </p:cNvSpPr>
          <p:nvPr/>
        </p:nvSpPr>
        <p:spPr>
          <a:xfrm xmlns:a="http://schemas.openxmlformats.org/drawingml/2006/main">
            <a:off x="640080" y="3931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AGENT WORKFLOW</a:t>
            </a:r>
            <a:endParaRPr sz="1010"/>
          </a:p>
        </p:txBody>
      </p:sp>
      <p:sp>
        <p:nvSpPr>
          <p:cNvPr id="4" name="Text 2">
            <a:extLst xmlns:a="http://schemas.openxmlformats.org/drawingml/2006/main">
              <a:ext uri="{FF2B5EF4-FFF2-40B4-BE49-F238E27FC236}">
                <a16:creationId xmlns:a16="http://schemas.microsoft.com/office/drawing/2014/main" id="{32A1BCC8-5642-46ED-B172-5ACCA29B4DCF}"/>
              </a:ext>
            </a:extLst>
          </p:cNvPr>
          <p:cNvSpPr>
            <a:spLocks xmlns:a="http://schemas.openxmlformats.org/drawingml/2006/main" noGrp="1"/>
          </p:cNvSpPr>
          <p:nvPr/>
        </p:nvSpPr>
        <p:spPr>
          <a:xfrm xmlns:a="http://schemas.openxmlformats.org/drawingml/2006/main">
            <a:off x="640080" y="740664"/>
            <a:ext cx="109545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950" b="1">
                <a:solidFill>
                  <a:srgbClr val="172033"/>
                </a:solidFill>
                <a:latin typeface="Inter"/>
                <a:ea typeface="Inter"/>
                <a:cs typeface="Inter"/>
              </a:rPr>
              <a:t>CodeBuddy in the build loop</a:t>
            </a:r>
            <a:endParaRPr sz="2950"/>
          </a:p>
        </p:txBody>
      </p:sp>
      <p:sp>
        <p:nvSpPr>
          <p:cNvPr id="5" name="Text 3">
            <a:extLst xmlns:a="http://schemas.openxmlformats.org/drawingml/2006/main">
              <a:ext uri="{FF2B5EF4-FFF2-40B4-BE49-F238E27FC236}">
                <a16:creationId xmlns:a16="http://schemas.microsoft.com/office/drawing/2014/main" id="{A177D78B-32F0-4EEA-BD7C-1848E2B75FD4}"/>
              </a:ext>
            </a:extLst>
          </p:cNvPr>
          <p:cNvSpPr>
            <a:spLocks xmlns:a="http://schemas.openxmlformats.org/drawingml/2006/main" noGrp="1"/>
          </p:cNvSpPr>
          <p:nvPr/>
        </p:nvSpPr>
        <p:spPr>
          <a:xfrm xmlns:a="http://schemas.openxmlformats.org/drawingml/2006/main">
            <a:off x="640080" y="1399032"/>
            <a:ext cx="10844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10">
                <a:solidFill>
                  <a:srgbClr val="667085"/>
                </a:solidFill>
                <a:latin typeface="Inter"/>
                <a:ea typeface="Inter"/>
                <a:cs typeface="Inter"/>
              </a:rPr>
              <a:t>CodeBuddy supported a disciplined engineering rhythm from specification to demo.</a:t>
            </a:r>
            <a:endParaRPr sz="1410"/>
          </a:p>
        </p:txBody>
      </p:sp>
      <p:sp>
        <p:nvSpPr>
          <p:cNvPr id="6" name="Shape 4">
            <a:extLst xmlns:a="http://schemas.openxmlformats.org/drawingml/2006/main">
              <a:ext uri="{FF2B5EF4-FFF2-40B4-BE49-F238E27FC236}">
                <a16:creationId xmlns:a16="http://schemas.microsoft.com/office/drawing/2014/main" id="{501424BC-FCD3-40DC-9F6E-D283E3D226FD}"/>
              </a:ext>
            </a:extLst>
          </p:cNvPr>
          <p:cNvSpPr>
            <a:spLocks xmlns:a="http://schemas.openxmlformats.org/drawingml/2006/main" noGrp="1"/>
          </p:cNvSpPr>
          <p:nvPr/>
        </p:nvSpPr>
        <p:spPr>
          <a:xfrm xmlns:a="http://schemas.openxmlformats.org/drawingml/2006/main">
            <a:off x="640080" y="6437376"/>
            <a:ext cx="10908792" cy="0"/>
          </a:xfrm>
          <a:prstGeom xmlns:a="http://schemas.openxmlformats.org/drawingml/2006/main" prst="line">
            <a:avLst/>
          </a:prstGeom>
          <a:noFill xmlns:a="http://schemas.openxmlformats.org/drawingml/2006/main"/>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6072C4A3-B434-4813-8DB3-CB4749815CFF}"/>
              </a:ext>
            </a:extLst>
          </p:cNvPr>
          <p:cNvSpPr>
            <a:spLocks xmlns:a="http://schemas.openxmlformats.org/drawingml/2006/main" noGrp="1"/>
          </p:cNvSpPr>
          <p:nvPr/>
        </p:nvSpPr>
        <p:spPr>
          <a:xfrm xmlns:a="http://schemas.openxmlformats.org/drawingml/2006/main">
            <a:off x="640080" y="6528816"/>
            <a:ext cx="585216"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40" b="1">
                <a:solidFill>
                  <a:srgbClr val="172033"/>
                </a:solidFill>
                <a:latin typeface="Inter"/>
                <a:ea typeface="Inter"/>
                <a:cs typeface="Inter"/>
              </a:rPr>
              <a:t>relay</a:t>
            </a:r>
            <a:endParaRPr sz="1040"/>
          </a:p>
        </p:txBody>
      </p:sp>
      <p:sp>
        <p:nvSpPr>
          <p:cNvPr id="8" name="Text 6">
            <a:extLst xmlns:a="http://schemas.openxmlformats.org/drawingml/2006/main">
              <a:ext uri="{FF2B5EF4-FFF2-40B4-BE49-F238E27FC236}">
                <a16:creationId xmlns:a16="http://schemas.microsoft.com/office/drawing/2014/main" id="{04669BE8-A8C3-4560-BB3C-9FB9D9AF07B5}"/>
              </a:ext>
            </a:extLst>
          </p:cNvPr>
          <p:cNvSpPr>
            <a:spLocks xmlns:a="http://schemas.openxmlformats.org/drawingml/2006/main" noGrp="1"/>
          </p:cNvSpPr>
          <p:nvPr/>
        </p:nvSpPr>
        <p:spPr>
          <a:xfrm xmlns:a="http://schemas.openxmlformats.org/drawingml/2006/main">
            <a:off x="1307592" y="6528816"/>
            <a:ext cx="274320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70">
                <a:solidFill>
                  <a:srgbClr val="94A3B8"/>
                </a:solidFill>
                <a:latin typeface="Inter"/>
                <a:ea typeface="Inter"/>
                <a:cs typeface="Inter"/>
              </a:rPr>
              <a:t>/ Tencent Hackathon demo</a:t>
            </a:r>
            <a:endParaRPr sz="970"/>
          </a:p>
        </p:txBody>
      </p:sp>
      <p:sp>
        <p:nvSpPr>
          <p:cNvPr id="9" name="Text 7">
            <a:extLst xmlns:a="http://schemas.openxmlformats.org/drawingml/2006/main">
              <a:ext uri="{FF2B5EF4-FFF2-40B4-BE49-F238E27FC236}">
                <a16:creationId xmlns:a16="http://schemas.microsoft.com/office/drawing/2014/main" id="{67A79A7F-49D3-440D-B881-58CB74FAF88F}"/>
              </a:ext>
            </a:extLst>
          </p:cNvPr>
          <p:cNvSpPr>
            <a:spLocks xmlns:a="http://schemas.openxmlformats.org/drawingml/2006/main" noGrp="1"/>
          </p:cNvSpPr>
          <p:nvPr/>
        </p:nvSpPr>
        <p:spPr>
          <a:xfrm xmlns:a="http://schemas.openxmlformats.org/drawingml/2006/main">
            <a:off x="11036808" y="6519672"/>
            <a:ext cx="502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07</a:t>
            </a:r>
            <a:endParaRPr sz="1000"/>
          </a:p>
        </p:txBody>
      </p:sp>
      <p:sp>
        <p:nvSpPr>
          <p:cNvPr id="10" name="Text 8">
            <a:extLst xmlns:a="http://schemas.openxmlformats.org/drawingml/2006/main">
              <a:ext uri="{FF2B5EF4-FFF2-40B4-BE49-F238E27FC236}">
                <a16:creationId xmlns:a16="http://schemas.microsoft.com/office/drawing/2014/main" id="{46E3CD4B-9A59-4AB7-BAE2-DE97AE5C4FAE}"/>
              </a:ext>
            </a:extLst>
          </p:cNvPr>
          <p:cNvSpPr>
            <a:spLocks xmlns:a="http://schemas.openxmlformats.org/drawingml/2006/main" noGrp="1"/>
          </p:cNvSpPr>
          <p:nvPr/>
        </p:nvSpPr>
        <p:spPr>
          <a:xfrm xmlns:a="http://schemas.openxmlformats.org/drawingml/2006/main">
            <a:off x="667512" y="1984248"/>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FROM SPECIFICATION TO WORKING DEMO</a:t>
            </a:r>
            <a:endParaRPr sz="1010"/>
          </a:p>
        </p:txBody>
      </p:sp>
      <p:sp>
        <p:nvSpPr>
          <p:cNvPr id="11" name="Shape 9">
            <a:extLst xmlns:a="http://schemas.openxmlformats.org/drawingml/2006/main">
              <a:ext uri="{FF2B5EF4-FFF2-40B4-BE49-F238E27FC236}">
                <a16:creationId xmlns:a16="http://schemas.microsoft.com/office/drawing/2014/main" id="{CFCD7EB5-4FE0-451C-B5DC-A69F771ED5A5}"/>
              </a:ext>
            </a:extLst>
          </p:cNvPr>
          <p:cNvSpPr>
            <a:spLocks xmlns:a="http://schemas.openxmlformats.org/drawingml/2006/main" noGrp="1"/>
          </p:cNvSpPr>
          <p:nvPr/>
        </p:nvSpPr>
        <p:spPr>
          <a:xfrm xmlns:a="http://schemas.openxmlformats.org/drawingml/2006/main">
            <a:off x="640080" y="2395728"/>
            <a:ext cx="8439912" cy="749808"/>
          </a:xfrm>
          <a:prstGeom xmlns:a="http://schemas.openxmlformats.org/drawingml/2006/main" prst="roundRect">
            <a:avLst>
              <a:gd name="adj" fmla="val 18293"/>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Shape 10">
            <a:extLst xmlns:a="http://schemas.openxmlformats.org/drawingml/2006/main">
              <a:ext uri="{FF2B5EF4-FFF2-40B4-BE49-F238E27FC236}">
                <a16:creationId xmlns:a16="http://schemas.microsoft.com/office/drawing/2014/main" id="{A8982A38-B22D-4274-AD50-839466CDAAA5}"/>
              </a:ext>
            </a:extLst>
          </p:cNvPr>
          <p:cNvSpPr>
            <a:spLocks xmlns:a="http://schemas.openxmlformats.org/drawingml/2006/main" noGrp="1"/>
          </p:cNvSpPr>
          <p:nvPr/>
        </p:nvSpPr>
        <p:spPr>
          <a:xfrm xmlns:a="http://schemas.openxmlformats.org/drawingml/2006/main">
            <a:off x="850392" y="2606040"/>
            <a:ext cx="338328" cy="338328"/>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13" name="Text 11">
            <a:extLst xmlns:a="http://schemas.openxmlformats.org/drawingml/2006/main">
              <a:ext uri="{FF2B5EF4-FFF2-40B4-BE49-F238E27FC236}">
                <a16:creationId xmlns:a16="http://schemas.microsoft.com/office/drawing/2014/main" id="{0B5B0C7C-F447-493D-A9B4-D41813279CB2}"/>
              </a:ext>
            </a:extLst>
          </p:cNvPr>
          <p:cNvSpPr>
            <a:spLocks xmlns:a="http://schemas.openxmlformats.org/drawingml/2006/main" noGrp="1"/>
          </p:cNvSpPr>
          <p:nvPr/>
        </p:nvSpPr>
        <p:spPr>
          <a:xfrm xmlns:a="http://schemas.openxmlformats.org/drawingml/2006/main">
            <a:off x="850392" y="2706624"/>
            <a:ext cx="338328"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60" b="1">
                <a:solidFill>
                  <a:srgbClr val="5253D7"/>
                </a:solidFill>
                <a:latin typeface="Inter"/>
                <a:ea typeface="Inter"/>
                <a:cs typeface="Inter"/>
              </a:rPr>
              <a:t>01</a:t>
            </a:r>
            <a:endParaRPr sz="1060"/>
          </a:p>
        </p:txBody>
      </p:sp>
      <p:sp>
        <p:nvSpPr>
          <p:cNvPr id="14" name="Text 12">
            <a:extLst xmlns:a="http://schemas.openxmlformats.org/drawingml/2006/main">
              <a:ext uri="{FF2B5EF4-FFF2-40B4-BE49-F238E27FC236}">
                <a16:creationId xmlns:a16="http://schemas.microsoft.com/office/drawing/2014/main" id="{FC123D98-5D16-42F6-A601-144DD5EF1196}"/>
              </a:ext>
            </a:extLst>
          </p:cNvPr>
          <p:cNvSpPr>
            <a:spLocks xmlns:a="http://schemas.openxmlformats.org/drawingml/2006/main" noGrp="1"/>
          </p:cNvSpPr>
          <p:nvPr/>
        </p:nvSpPr>
        <p:spPr>
          <a:xfrm xmlns:a="http://schemas.openxmlformats.org/drawingml/2006/main">
            <a:off x="1371600" y="2578608"/>
            <a:ext cx="22128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72033"/>
                </a:solidFill>
                <a:latin typeface="Inter"/>
                <a:ea typeface="Inter"/>
                <a:cs typeface="Inter"/>
              </a:rPr>
              <a:t>Read the specification</a:t>
            </a:r>
            <a:endParaRPr sz="1500"/>
          </a:p>
        </p:txBody>
      </p:sp>
      <p:sp>
        <p:nvSpPr>
          <p:cNvPr id="15" name="Shape 13">
            <a:extLst xmlns:a="http://schemas.openxmlformats.org/drawingml/2006/main">
              <a:ext uri="{FF2B5EF4-FFF2-40B4-BE49-F238E27FC236}">
                <a16:creationId xmlns:a16="http://schemas.microsoft.com/office/drawing/2014/main" id="{D5E01035-28CA-4557-AFDE-188F24C21E2D}"/>
              </a:ext>
            </a:extLst>
          </p:cNvPr>
          <p:cNvSpPr>
            <a:spLocks xmlns:a="http://schemas.openxmlformats.org/drawingml/2006/main" noGrp="1"/>
          </p:cNvSpPr>
          <p:nvPr/>
        </p:nvSpPr>
        <p:spPr>
          <a:xfrm xmlns:a="http://schemas.openxmlformats.org/drawingml/2006/main">
            <a:off x="3685032" y="2569464"/>
            <a:ext cx="16459" cy="393192"/>
          </a:xfrm>
          <a:prstGeom xmlns:a="http://schemas.openxmlformats.org/drawingml/2006/main" prst="rect">
            <a:avLst/>
          </a:prstGeom>
          <a:solidFill xmlns:a="http://schemas.openxmlformats.org/drawingml/2006/main">
            <a:srgbClr val="E5EAF2"/>
          </a:solidFill>
          <a:ln xmlns:a="http://schemas.openxmlformats.org/drawingml/2006/main" w="1270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Text 14">
            <a:extLst xmlns:a="http://schemas.openxmlformats.org/drawingml/2006/main">
              <a:ext uri="{FF2B5EF4-FFF2-40B4-BE49-F238E27FC236}">
                <a16:creationId xmlns:a16="http://schemas.microsoft.com/office/drawing/2014/main" id="{0C4F79FA-66D5-4D9E-963D-39E467F73A75}"/>
              </a:ext>
            </a:extLst>
          </p:cNvPr>
          <p:cNvSpPr>
            <a:spLocks xmlns:a="http://schemas.openxmlformats.org/drawingml/2006/main" noGrp="1"/>
          </p:cNvSpPr>
          <p:nvPr/>
        </p:nvSpPr>
        <p:spPr>
          <a:xfrm xmlns:a="http://schemas.openxmlformats.org/drawingml/2006/main">
            <a:off x="3877056" y="2532888"/>
            <a:ext cx="496519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50">
                <a:solidFill>
                  <a:srgbClr val="667085"/>
                </a:solidFill>
                <a:latin typeface="Inter"/>
                <a:ea typeface="Inter"/>
                <a:cs typeface="Inter"/>
              </a:rPr>
              <a:t>Mapped security requirements to frontend, API, worker and audit responsibilities.</a:t>
            </a:r>
            <a:endParaRPr sz="1350"/>
          </a:p>
        </p:txBody>
      </p:sp>
      <p:sp>
        <p:nvSpPr>
          <p:cNvPr id="17" name="Shape 15">
            <a:extLst xmlns:a="http://schemas.openxmlformats.org/drawingml/2006/main">
              <a:ext uri="{FF2B5EF4-FFF2-40B4-BE49-F238E27FC236}">
                <a16:creationId xmlns:a16="http://schemas.microsoft.com/office/drawing/2014/main" id="{FA83EA07-368C-4CE1-AAF0-887158317F1D}"/>
              </a:ext>
            </a:extLst>
          </p:cNvPr>
          <p:cNvSpPr>
            <a:spLocks xmlns:a="http://schemas.openxmlformats.org/drawingml/2006/main" noGrp="1"/>
          </p:cNvSpPr>
          <p:nvPr/>
        </p:nvSpPr>
        <p:spPr>
          <a:xfrm xmlns:a="http://schemas.openxmlformats.org/drawingml/2006/main">
            <a:off x="640080" y="3255264"/>
            <a:ext cx="8439912" cy="749808"/>
          </a:xfrm>
          <a:prstGeom xmlns:a="http://schemas.openxmlformats.org/drawingml/2006/main" prst="roundRect">
            <a:avLst>
              <a:gd name="adj" fmla="val 18293"/>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2D68805B-ECFB-45C3-A646-F524D7DF4751}"/>
              </a:ext>
            </a:extLst>
          </p:cNvPr>
          <p:cNvSpPr>
            <a:spLocks xmlns:a="http://schemas.openxmlformats.org/drawingml/2006/main" noGrp="1"/>
          </p:cNvSpPr>
          <p:nvPr/>
        </p:nvSpPr>
        <p:spPr>
          <a:xfrm xmlns:a="http://schemas.openxmlformats.org/drawingml/2006/main">
            <a:off x="850392" y="3465576"/>
            <a:ext cx="338328" cy="338328"/>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3295A723-4017-4CB9-AF92-2958509EB1CE}"/>
              </a:ext>
            </a:extLst>
          </p:cNvPr>
          <p:cNvSpPr>
            <a:spLocks xmlns:a="http://schemas.openxmlformats.org/drawingml/2006/main" noGrp="1"/>
          </p:cNvSpPr>
          <p:nvPr/>
        </p:nvSpPr>
        <p:spPr>
          <a:xfrm xmlns:a="http://schemas.openxmlformats.org/drawingml/2006/main">
            <a:off x="850392" y="3566160"/>
            <a:ext cx="338328"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60" b="1">
                <a:solidFill>
                  <a:srgbClr val="5253D7"/>
                </a:solidFill>
                <a:latin typeface="Inter"/>
                <a:ea typeface="Inter"/>
                <a:cs typeface="Inter"/>
              </a:rPr>
              <a:t>02</a:t>
            </a:r>
            <a:endParaRPr sz="1060"/>
          </a:p>
        </p:txBody>
      </p:sp>
      <p:sp>
        <p:nvSpPr>
          <p:cNvPr id="20" name="Text 18">
            <a:extLst xmlns:a="http://schemas.openxmlformats.org/drawingml/2006/main">
              <a:ext uri="{FF2B5EF4-FFF2-40B4-BE49-F238E27FC236}">
                <a16:creationId xmlns:a16="http://schemas.microsoft.com/office/drawing/2014/main" id="{E4897073-C3E8-43E7-8AA4-3C068CD5EA24}"/>
              </a:ext>
            </a:extLst>
          </p:cNvPr>
          <p:cNvSpPr>
            <a:spLocks xmlns:a="http://schemas.openxmlformats.org/drawingml/2006/main" noGrp="1"/>
          </p:cNvSpPr>
          <p:nvPr/>
        </p:nvSpPr>
        <p:spPr>
          <a:xfrm xmlns:a="http://schemas.openxmlformats.org/drawingml/2006/main">
            <a:off x="1371600" y="3438144"/>
            <a:ext cx="22128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72033"/>
                </a:solidFill>
                <a:latin typeface="Inter"/>
                <a:ea typeface="Inter"/>
                <a:cs typeface="Inter"/>
              </a:rPr>
              <a:t>Implement in slices</a:t>
            </a:r>
            <a:endParaRPr sz="1500"/>
          </a:p>
        </p:txBody>
      </p:sp>
      <p:sp>
        <p:nvSpPr>
          <p:cNvPr id="21" name="Shape 19">
            <a:extLst xmlns:a="http://schemas.openxmlformats.org/drawingml/2006/main">
              <a:ext uri="{FF2B5EF4-FFF2-40B4-BE49-F238E27FC236}">
                <a16:creationId xmlns:a16="http://schemas.microsoft.com/office/drawing/2014/main" id="{93757B9C-1731-404E-A269-0BFB07134D63}"/>
              </a:ext>
            </a:extLst>
          </p:cNvPr>
          <p:cNvSpPr>
            <a:spLocks xmlns:a="http://schemas.openxmlformats.org/drawingml/2006/main" noGrp="1"/>
          </p:cNvSpPr>
          <p:nvPr/>
        </p:nvSpPr>
        <p:spPr>
          <a:xfrm xmlns:a="http://schemas.openxmlformats.org/drawingml/2006/main">
            <a:off x="3685032" y="3429000"/>
            <a:ext cx="16459" cy="393192"/>
          </a:xfrm>
          <a:prstGeom xmlns:a="http://schemas.openxmlformats.org/drawingml/2006/main" prst="rect">
            <a:avLst/>
          </a:prstGeom>
          <a:solidFill xmlns:a="http://schemas.openxmlformats.org/drawingml/2006/main">
            <a:srgbClr val="E5EAF2"/>
          </a:solidFill>
          <a:ln xmlns:a="http://schemas.openxmlformats.org/drawingml/2006/main" w="1270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Text 20">
            <a:extLst xmlns:a="http://schemas.openxmlformats.org/drawingml/2006/main">
              <a:ext uri="{FF2B5EF4-FFF2-40B4-BE49-F238E27FC236}">
                <a16:creationId xmlns:a16="http://schemas.microsoft.com/office/drawing/2014/main" id="{D9AE0ACF-C2E8-4EBC-9081-352B8DC1E65C}"/>
              </a:ext>
            </a:extLst>
          </p:cNvPr>
          <p:cNvSpPr>
            <a:spLocks xmlns:a="http://schemas.openxmlformats.org/drawingml/2006/main" noGrp="1"/>
          </p:cNvSpPr>
          <p:nvPr/>
        </p:nvSpPr>
        <p:spPr>
          <a:xfrm xmlns:a="http://schemas.openxmlformats.org/drawingml/2006/main">
            <a:off x="3877056" y="3392424"/>
            <a:ext cx="496519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50">
                <a:solidFill>
                  <a:srgbClr val="667085"/>
                </a:solidFill>
                <a:latin typeface="Inter"/>
                <a:ea typeface="Inter"/>
                <a:cs typeface="Inter"/>
              </a:rPr>
              <a:t>Drafted and refined focused changes instead of tackling the entire system at once.</a:t>
            </a:r>
            <a:endParaRPr sz="1350"/>
          </a:p>
        </p:txBody>
      </p:sp>
      <p:sp>
        <p:nvSpPr>
          <p:cNvPr id="23" name="Shape 21">
            <a:extLst xmlns:a="http://schemas.openxmlformats.org/drawingml/2006/main">
              <a:ext uri="{FF2B5EF4-FFF2-40B4-BE49-F238E27FC236}">
                <a16:creationId xmlns:a16="http://schemas.microsoft.com/office/drawing/2014/main" id="{7279D0A3-6E25-402E-9B44-6D1D4012A883}"/>
              </a:ext>
            </a:extLst>
          </p:cNvPr>
          <p:cNvSpPr>
            <a:spLocks xmlns:a="http://schemas.openxmlformats.org/drawingml/2006/main" noGrp="1"/>
          </p:cNvSpPr>
          <p:nvPr/>
        </p:nvSpPr>
        <p:spPr>
          <a:xfrm xmlns:a="http://schemas.openxmlformats.org/drawingml/2006/main">
            <a:off x="640080" y="4114800"/>
            <a:ext cx="8439912" cy="749808"/>
          </a:xfrm>
          <a:prstGeom xmlns:a="http://schemas.openxmlformats.org/drawingml/2006/main" prst="roundRect">
            <a:avLst>
              <a:gd name="adj" fmla="val 18293"/>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4" name="Shape 22">
            <a:extLst xmlns:a="http://schemas.openxmlformats.org/drawingml/2006/main">
              <a:ext uri="{FF2B5EF4-FFF2-40B4-BE49-F238E27FC236}">
                <a16:creationId xmlns:a16="http://schemas.microsoft.com/office/drawing/2014/main" id="{FC060983-16E5-4E09-B168-AE2522A51562}"/>
              </a:ext>
            </a:extLst>
          </p:cNvPr>
          <p:cNvSpPr>
            <a:spLocks xmlns:a="http://schemas.openxmlformats.org/drawingml/2006/main" noGrp="1"/>
          </p:cNvSpPr>
          <p:nvPr/>
        </p:nvSpPr>
        <p:spPr>
          <a:xfrm xmlns:a="http://schemas.openxmlformats.org/drawingml/2006/main">
            <a:off x="850392" y="4325112"/>
            <a:ext cx="338328" cy="338328"/>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25" name="Text 23">
            <a:extLst xmlns:a="http://schemas.openxmlformats.org/drawingml/2006/main">
              <a:ext uri="{FF2B5EF4-FFF2-40B4-BE49-F238E27FC236}">
                <a16:creationId xmlns:a16="http://schemas.microsoft.com/office/drawing/2014/main" id="{F840B235-D2F7-4E32-8894-46F629B8262A}"/>
              </a:ext>
            </a:extLst>
          </p:cNvPr>
          <p:cNvSpPr>
            <a:spLocks xmlns:a="http://schemas.openxmlformats.org/drawingml/2006/main" noGrp="1"/>
          </p:cNvSpPr>
          <p:nvPr/>
        </p:nvSpPr>
        <p:spPr>
          <a:xfrm xmlns:a="http://schemas.openxmlformats.org/drawingml/2006/main">
            <a:off x="850392" y="4425696"/>
            <a:ext cx="338328"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60" b="1">
                <a:solidFill>
                  <a:srgbClr val="5253D7"/>
                </a:solidFill>
                <a:latin typeface="Inter"/>
                <a:ea typeface="Inter"/>
                <a:cs typeface="Inter"/>
              </a:rPr>
              <a:t>03</a:t>
            </a:r>
            <a:endParaRPr sz="1060"/>
          </a:p>
        </p:txBody>
      </p:sp>
      <p:sp>
        <p:nvSpPr>
          <p:cNvPr id="26" name="Text 24">
            <a:extLst xmlns:a="http://schemas.openxmlformats.org/drawingml/2006/main">
              <a:ext uri="{FF2B5EF4-FFF2-40B4-BE49-F238E27FC236}">
                <a16:creationId xmlns:a16="http://schemas.microsoft.com/office/drawing/2014/main" id="{8267A229-1E2A-41B2-9B2A-14641D88AC13}"/>
              </a:ext>
            </a:extLst>
          </p:cNvPr>
          <p:cNvSpPr>
            <a:spLocks xmlns:a="http://schemas.openxmlformats.org/drawingml/2006/main" noGrp="1"/>
          </p:cNvSpPr>
          <p:nvPr/>
        </p:nvSpPr>
        <p:spPr>
          <a:xfrm xmlns:a="http://schemas.openxmlformats.org/drawingml/2006/main">
            <a:off x="1371600" y="4297680"/>
            <a:ext cx="22128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72033"/>
                </a:solidFill>
                <a:latin typeface="Inter"/>
                <a:ea typeface="Inter"/>
                <a:cs typeface="Inter"/>
              </a:rPr>
              <a:t>Review and debug</a:t>
            </a:r>
            <a:endParaRPr sz="1500"/>
          </a:p>
        </p:txBody>
      </p:sp>
      <p:sp>
        <p:nvSpPr>
          <p:cNvPr id="27" name="Shape 25">
            <a:extLst xmlns:a="http://schemas.openxmlformats.org/drawingml/2006/main">
              <a:ext uri="{FF2B5EF4-FFF2-40B4-BE49-F238E27FC236}">
                <a16:creationId xmlns:a16="http://schemas.microsoft.com/office/drawing/2014/main" id="{6D4B3556-497B-49A6-AF71-A25739F77D1D}"/>
              </a:ext>
            </a:extLst>
          </p:cNvPr>
          <p:cNvSpPr>
            <a:spLocks xmlns:a="http://schemas.openxmlformats.org/drawingml/2006/main" noGrp="1"/>
          </p:cNvSpPr>
          <p:nvPr/>
        </p:nvSpPr>
        <p:spPr>
          <a:xfrm xmlns:a="http://schemas.openxmlformats.org/drawingml/2006/main">
            <a:off x="3685032" y="4288536"/>
            <a:ext cx="16459" cy="393192"/>
          </a:xfrm>
          <a:prstGeom xmlns:a="http://schemas.openxmlformats.org/drawingml/2006/main" prst="rect">
            <a:avLst/>
          </a:prstGeom>
          <a:solidFill xmlns:a="http://schemas.openxmlformats.org/drawingml/2006/main">
            <a:srgbClr val="E5EAF2"/>
          </a:solidFill>
          <a:ln xmlns:a="http://schemas.openxmlformats.org/drawingml/2006/main" w="1270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8" name="Text 26">
            <a:extLst xmlns:a="http://schemas.openxmlformats.org/drawingml/2006/main">
              <a:ext uri="{FF2B5EF4-FFF2-40B4-BE49-F238E27FC236}">
                <a16:creationId xmlns:a16="http://schemas.microsoft.com/office/drawing/2014/main" id="{BBD0584B-7683-4263-A9E2-C78AC61BB198}"/>
              </a:ext>
            </a:extLst>
          </p:cNvPr>
          <p:cNvSpPr>
            <a:spLocks xmlns:a="http://schemas.openxmlformats.org/drawingml/2006/main" noGrp="1"/>
          </p:cNvSpPr>
          <p:nvPr/>
        </p:nvSpPr>
        <p:spPr>
          <a:xfrm xmlns:a="http://schemas.openxmlformats.org/drawingml/2006/main">
            <a:off x="3877056" y="4251960"/>
            <a:ext cx="496519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50">
                <a:solidFill>
                  <a:srgbClr val="667085"/>
                </a:solidFill>
                <a:latin typeface="Inter"/>
                <a:ea typeface="Inter"/>
                <a:cs typeface="Inter"/>
              </a:rPr>
              <a:t>Used targeted tests and code review to check query stages, citations and fail-closed behaviour.</a:t>
            </a:r>
            <a:endParaRPr sz="1350"/>
          </a:p>
        </p:txBody>
      </p:sp>
      <p:sp>
        <p:nvSpPr>
          <p:cNvPr id="29" name="Shape 27">
            <a:extLst xmlns:a="http://schemas.openxmlformats.org/drawingml/2006/main">
              <a:ext uri="{FF2B5EF4-FFF2-40B4-BE49-F238E27FC236}">
                <a16:creationId xmlns:a16="http://schemas.microsoft.com/office/drawing/2014/main" id="{F6A75376-8B07-40D3-A836-22E7A9A58294}"/>
              </a:ext>
            </a:extLst>
          </p:cNvPr>
          <p:cNvSpPr>
            <a:spLocks xmlns:a="http://schemas.openxmlformats.org/drawingml/2006/main" noGrp="1"/>
          </p:cNvSpPr>
          <p:nvPr/>
        </p:nvSpPr>
        <p:spPr>
          <a:xfrm xmlns:a="http://schemas.openxmlformats.org/drawingml/2006/main">
            <a:off x="640080" y="4974336"/>
            <a:ext cx="8439912" cy="749808"/>
          </a:xfrm>
          <a:prstGeom xmlns:a="http://schemas.openxmlformats.org/drawingml/2006/main" prst="roundRect">
            <a:avLst>
              <a:gd name="adj" fmla="val 18293"/>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30" name="Shape 28">
            <a:extLst xmlns:a="http://schemas.openxmlformats.org/drawingml/2006/main">
              <a:ext uri="{FF2B5EF4-FFF2-40B4-BE49-F238E27FC236}">
                <a16:creationId xmlns:a16="http://schemas.microsoft.com/office/drawing/2014/main" id="{28A977B6-FC0F-4780-BFF5-B4849CF49CE3}"/>
              </a:ext>
            </a:extLst>
          </p:cNvPr>
          <p:cNvSpPr>
            <a:spLocks xmlns:a="http://schemas.openxmlformats.org/drawingml/2006/main" noGrp="1"/>
          </p:cNvSpPr>
          <p:nvPr/>
        </p:nvSpPr>
        <p:spPr>
          <a:xfrm xmlns:a="http://schemas.openxmlformats.org/drawingml/2006/main">
            <a:off x="850392" y="5184648"/>
            <a:ext cx="338328" cy="338328"/>
          </a:xfrm>
          <a:prstGeom xmlns:a="http://schemas.openxmlformats.org/drawingml/2006/main" prst="ellipse">
            <a:avLst/>
          </a:prstGeom>
          <a:solidFill xmlns:a="http://schemas.openxmlformats.org/drawingml/2006/main">
            <a:srgbClr val="EFF0FF"/>
          </a:solidFill>
          <a:ln xmlns:a="http://schemas.openxmlformats.org/drawingml/2006/main" w="12700">
            <a:solidFill>
              <a:srgbClr val="EFF0FF"/>
            </a:solidFill>
            <a:prstDash val="solid"/>
          </a:ln>
        </p:spPr>
        <p:txBody>
          <a:bodyPr xmlns:a="http://schemas.openxmlformats.org/drawingml/2006/main"/>
          <a:lstStyle xmlns:a="http://schemas.openxmlformats.org/drawingml/2006/main"/>
          <a:p xmlns:a="http://schemas.openxmlformats.org/drawingml/2006/main">
            <a:endParaRPr/>
          </a:p>
        </p:txBody>
      </p:sp>
      <p:sp>
        <p:nvSpPr>
          <p:cNvPr id="31" name="Text 29">
            <a:extLst xmlns:a="http://schemas.openxmlformats.org/drawingml/2006/main">
              <a:ext uri="{FF2B5EF4-FFF2-40B4-BE49-F238E27FC236}">
                <a16:creationId xmlns:a16="http://schemas.microsoft.com/office/drawing/2014/main" id="{3AF719C2-93AD-4BCD-9E8E-766E8C57243B}"/>
              </a:ext>
            </a:extLst>
          </p:cNvPr>
          <p:cNvSpPr>
            <a:spLocks xmlns:a="http://schemas.openxmlformats.org/drawingml/2006/main" noGrp="1"/>
          </p:cNvSpPr>
          <p:nvPr/>
        </p:nvSpPr>
        <p:spPr>
          <a:xfrm xmlns:a="http://schemas.openxmlformats.org/drawingml/2006/main">
            <a:off x="850392" y="5285232"/>
            <a:ext cx="338328" cy="137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60" b="1">
                <a:solidFill>
                  <a:srgbClr val="5253D7"/>
                </a:solidFill>
                <a:latin typeface="Inter"/>
                <a:ea typeface="Inter"/>
                <a:cs typeface="Inter"/>
              </a:rPr>
              <a:t>04</a:t>
            </a:r>
            <a:endParaRPr sz="1060"/>
          </a:p>
        </p:txBody>
      </p:sp>
      <p:sp>
        <p:nvSpPr>
          <p:cNvPr id="32" name="Text 30">
            <a:extLst xmlns:a="http://schemas.openxmlformats.org/drawingml/2006/main">
              <a:ext uri="{FF2B5EF4-FFF2-40B4-BE49-F238E27FC236}">
                <a16:creationId xmlns:a16="http://schemas.microsoft.com/office/drawing/2014/main" id="{2EC92A4E-77E8-4313-982B-BFD2AA5DFA4A}"/>
              </a:ext>
            </a:extLst>
          </p:cNvPr>
          <p:cNvSpPr>
            <a:spLocks xmlns:a="http://schemas.openxmlformats.org/drawingml/2006/main" noGrp="1"/>
          </p:cNvSpPr>
          <p:nvPr/>
        </p:nvSpPr>
        <p:spPr>
          <a:xfrm xmlns:a="http://schemas.openxmlformats.org/drawingml/2006/main">
            <a:off x="1371600" y="5157216"/>
            <a:ext cx="22128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b="1">
                <a:solidFill>
                  <a:srgbClr val="172033"/>
                </a:solidFill>
                <a:latin typeface="Inter"/>
                <a:ea typeface="Inter"/>
                <a:cs typeface="Inter"/>
              </a:rPr>
              <a:t>Prepare the demo</a:t>
            </a:r>
            <a:endParaRPr sz="1500"/>
          </a:p>
        </p:txBody>
      </p:sp>
      <p:sp>
        <p:nvSpPr>
          <p:cNvPr id="33" name="Shape 31">
            <a:extLst xmlns:a="http://schemas.openxmlformats.org/drawingml/2006/main">
              <a:ext uri="{FF2B5EF4-FFF2-40B4-BE49-F238E27FC236}">
                <a16:creationId xmlns:a16="http://schemas.microsoft.com/office/drawing/2014/main" id="{7AFEF2E3-46AB-4A1B-965A-3B5F0A43A634}"/>
              </a:ext>
            </a:extLst>
          </p:cNvPr>
          <p:cNvSpPr>
            <a:spLocks xmlns:a="http://schemas.openxmlformats.org/drawingml/2006/main" noGrp="1"/>
          </p:cNvSpPr>
          <p:nvPr/>
        </p:nvSpPr>
        <p:spPr>
          <a:xfrm xmlns:a="http://schemas.openxmlformats.org/drawingml/2006/main">
            <a:off x="3685032" y="5148072"/>
            <a:ext cx="16459" cy="393192"/>
          </a:xfrm>
          <a:prstGeom xmlns:a="http://schemas.openxmlformats.org/drawingml/2006/main" prst="rect">
            <a:avLst/>
          </a:prstGeom>
          <a:solidFill xmlns:a="http://schemas.openxmlformats.org/drawingml/2006/main">
            <a:srgbClr val="E5EAF2"/>
          </a:solidFill>
          <a:ln xmlns:a="http://schemas.openxmlformats.org/drawingml/2006/main" w="1270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34" name="Text 32">
            <a:extLst xmlns:a="http://schemas.openxmlformats.org/drawingml/2006/main">
              <a:ext uri="{FF2B5EF4-FFF2-40B4-BE49-F238E27FC236}">
                <a16:creationId xmlns:a16="http://schemas.microsoft.com/office/drawing/2014/main" id="{5255C817-2D3E-4F28-B3B4-F9D68C736A13}"/>
              </a:ext>
            </a:extLst>
          </p:cNvPr>
          <p:cNvSpPr>
            <a:spLocks xmlns:a="http://schemas.openxmlformats.org/drawingml/2006/main" noGrp="1"/>
          </p:cNvSpPr>
          <p:nvPr/>
        </p:nvSpPr>
        <p:spPr>
          <a:xfrm xmlns:a="http://schemas.openxmlformats.org/drawingml/2006/main">
            <a:off x="3877056" y="5111496"/>
            <a:ext cx="4965192"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50">
                <a:solidFill>
                  <a:srgbClr val="667085"/>
                </a:solidFill>
                <a:latin typeface="Inter"/>
                <a:ea typeface="Inter"/>
                <a:cs typeface="Inter"/>
              </a:rPr>
              <a:t>Turned live scenarios into a repeatable walkthrough and presenter script.</a:t>
            </a:r>
            <a:endParaRPr sz="1350"/>
          </a:p>
        </p:txBody>
      </p:sp>
      <p:sp>
        <p:nvSpPr>
          <p:cNvPr id="35" name="Shape 33">
            <a:extLst xmlns:a="http://schemas.openxmlformats.org/drawingml/2006/main">
              <a:ext uri="{FF2B5EF4-FFF2-40B4-BE49-F238E27FC236}">
                <a16:creationId xmlns:a16="http://schemas.microsoft.com/office/drawing/2014/main" id="{70020416-660E-487B-8F56-D83932F299B9}"/>
              </a:ext>
            </a:extLst>
          </p:cNvPr>
          <p:cNvSpPr>
            <a:spLocks xmlns:a="http://schemas.openxmlformats.org/drawingml/2006/main" noGrp="1"/>
          </p:cNvSpPr>
          <p:nvPr/>
        </p:nvSpPr>
        <p:spPr>
          <a:xfrm xmlns:a="http://schemas.openxmlformats.org/drawingml/2006/main">
            <a:off x="9290304" y="2395728"/>
            <a:ext cx="2258568" cy="3630168"/>
          </a:xfrm>
          <a:prstGeom xmlns:a="http://schemas.openxmlformats.org/drawingml/2006/main" prst="roundRect">
            <a:avLst>
              <a:gd name="adj" fmla="val 7287"/>
            </a:avLst>
          </a:prstGeom>
          <a:solidFill xmlns:a="http://schemas.openxmlformats.org/drawingml/2006/main">
            <a:srgbClr val="EFF0FF"/>
          </a:solidFill>
          <a:ln xmlns:a="http://schemas.openxmlformats.org/drawingml/2006/main" w="10160">
            <a:solidFill>
              <a:srgbClr val="E0E4FF"/>
            </a:solidFill>
            <a:prstDash val="solid"/>
          </a:ln>
        </p:spPr>
        <p:txBody>
          <a:bodyPr xmlns:a="http://schemas.openxmlformats.org/drawingml/2006/main"/>
          <a:lstStyle xmlns:a="http://schemas.openxmlformats.org/drawingml/2006/main"/>
          <a:p xmlns:a="http://schemas.openxmlformats.org/drawingml/2006/main">
            <a:endParaRPr/>
          </a:p>
        </p:txBody>
      </p:sp>
      <p:sp>
        <p:nvSpPr>
          <p:cNvPr id="36" name="Shape 34">
            <a:extLst xmlns:a="http://schemas.openxmlformats.org/drawingml/2006/main">
              <a:ext uri="{FF2B5EF4-FFF2-40B4-BE49-F238E27FC236}">
                <a16:creationId xmlns:a16="http://schemas.microsoft.com/office/drawing/2014/main" id="{A722E26C-0D33-4FC3-A870-CE259CEE6EF4}"/>
              </a:ext>
            </a:extLst>
          </p:cNvPr>
          <p:cNvSpPr>
            <a:spLocks xmlns:a="http://schemas.openxmlformats.org/drawingml/2006/main" noGrp="1"/>
          </p:cNvSpPr>
          <p:nvPr/>
        </p:nvSpPr>
        <p:spPr>
          <a:xfrm xmlns:a="http://schemas.openxmlformats.org/drawingml/2006/main">
            <a:off x="9564624" y="2706624"/>
            <a:ext cx="420624" cy="420624"/>
          </a:xfrm>
          <a:prstGeom xmlns:a="http://schemas.openxmlformats.org/drawingml/2006/main" prst="ellipse">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7" name="Shape 35">
            <a:extLst xmlns:a="http://schemas.openxmlformats.org/drawingml/2006/main">
              <a:ext uri="{FF2B5EF4-FFF2-40B4-BE49-F238E27FC236}">
                <a16:creationId xmlns:a16="http://schemas.microsoft.com/office/drawing/2014/main" id="{00DA1106-2099-425D-972A-3A64B88DEB7D}"/>
              </a:ext>
            </a:extLst>
          </p:cNvPr>
          <p:cNvSpPr>
            <a:spLocks xmlns:a="http://schemas.openxmlformats.org/drawingml/2006/main" noGrp="1"/>
          </p:cNvSpPr>
          <p:nvPr/>
        </p:nvSpPr>
        <p:spPr>
          <a:xfrm xmlns:a="http://schemas.openxmlformats.org/drawingml/2006/main">
            <a:off x="9705442" y="2784348"/>
            <a:ext cx="137160" cy="137160"/>
          </a:xfrm>
          <a:prstGeom xmlns:a="http://schemas.openxmlformats.org/drawingml/2006/main" prst="ellipse">
            <a:avLst/>
          </a:prstGeom>
          <a:solidFill xmlns:a="http://schemas.openxmlformats.org/drawingml/2006/main">
            <a:srgbClr val="FFFFFF"/>
          </a:solidFill>
          <a:ln xmlns:a="http://schemas.openxmlformats.org/drawingml/2006/main" w="1270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38" name="Shape 36">
            <a:extLst xmlns:a="http://schemas.openxmlformats.org/drawingml/2006/main">
              <a:ext uri="{FF2B5EF4-FFF2-40B4-BE49-F238E27FC236}">
                <a16:creationId xmlns:a16="http://schemas.microsoft.com/office/drawing/2014/main" id="{875D7A11-CC39-4860-874B-127781FB71D7}"/>
              </a:ext>
            </a:extLst>
          </p:cNvPr>
          <p:cNvSpPr>
            <a:spLocks xmlns:a="http://schemas.openxmlformats.org/drawingml/2006/main" noGrp="1"/>
          </p:cNvSpPr>
          <p:nvPr/>
        </p:nvSpPr>
        <p:spPr>
          <a:xfrm xmlns:a="http://schemas.openxmlformats.org/drawingml/2006/main">
            <a:off x="9665208" y="2953512"/>
            <a:ext cx="219456" cy="109728"/>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10160">
            <a:solidFill>
              <a:srgbClr val="FFFFFF"/>
            </a:solidFill>
            <a:prstDash val="solid"/>
          </a:ln>
        </p:spPr>
        <p:txBody>
          <a:bodyPr xmlns:a="http://schemas.openxmlformats.org/drawingml/2006/main"/>
          <a:lstStyle xmlns:a="http://schemas.openxmlformats.org/drawingml/2006/main"/>
          <a:p xmlns:a="http://schemas.openxmlformats.org/drawingml/2006/main">
            <a:endParaRPr/>
          </a:p>
        </p:txBody>
      </p:sp>
      <p:sp>
        <p:nvSpPr>
          <p:cNvPr id="39" name="Text 37">
            <a:extLst xmlns:a="http://schemas.openxmlformats.org/drawingml/2006/main">
              <a:ext uri="{FF2B5EF4-FFF2-40B4-BE49-F238E27FC236}">
                <a16:creationId xmlns:a16="http://schemas.microsoft.com/office/drawing/2014/main" id="{D641DDAE-D74F-49E0-B86F-4DB87D1F1071}"/>
              </a:ext>
            </a:extLst>
          </p:cNvPr>
          <p:cNvSpPr>
            <a:spLocks xmlns:a="http://schemas.openxmlformats.org/drawingml/2006/main" noGrp="1"/>
          </p:cNvSpPr>
          <p:nvPr/>
        </p:nvSpPr>
        <p:spPr>
          <a:xfrm xmlns:a="http://schemas.openxmlformats.org/drawingml/2006/main">
            <a:off x="9564624" y="3401568"/>
            <a:ext cx="176479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2010" b="1">
                <a:solidFill>
                  <a:srgbClr val="172033"/>
                </a:solidFill>
                <a:latin typeface="Inter"/>
                <a:ea typeface="Inter"/>
                <a:cs typeface="Inter"/>
              </a:rPr>
              <a:t>Human</a:t>
            </a:r>
            <a:endParaRPr sz="2010"/>
          </a:p>
          <a:p xmlns:a="http://schemas.openxmlformats.org/drawingml/2006/main">
            <a:pPr marL="0" indent="0" algn="l">
              <a:buNone/>
            </a:pPr>
            <a:r>
              <a:rPr sz="2010" b="1">
                <a:solidFill>
                  <a:srgbClr val="172033"/>
                </a:solidFill>
                <a:latin typeface="Inter"/>
                <a:ea typeface="Inter"/>
                <a:cs typeface="Inter"/>
              </a:rPr>
              <a:t>judgement</a:t>
            </a:r>
            <a:endParaRPr sz="2010"/>
          </a:p>
        </p:txBody>
      </p:sp>
      <p:sp>
        <p:nvSpPr>
          <p:cNvPr id="40" name="Shape 38">
            <a:extLst xmlns:a="http://schemas.openxmlformats.org/drawingml/2006/main">
              <a:ext uri="{FF2B5EF4-FFF2-40B4-BE49-F238E27FC236}">
                <a16:creationId xmlns:a16="http://schemas.microsoft.com/office/drawing/2014/main" id="{81DEE18E-B21C-4A01-85E0-F3FD6D7517AF}"/>
              </a:ext>
            </a:extLst>
          </p:cNvPr>
          <p:cNvSpPr>
            <a:spLocks xmlns:a="http://schemas.openxmlformats.org/drawingml/2006/main" noGrp="1"/>
          </p:cNvSpPr>
          <p:nvPr/>
        </p:nvSpPr>
        <p:spPr>
          <a:xfrm xmlns:a="http://schemas.openxmlformats.org/drawingml/2006/main">
            <a:off x="9564624" y="4352544"/>
            <a:ext cx="1691640" cy="0"/>
          </a:xfrm>
          <a:prstGeom xmlns:a="http://schemas.openxmlformats.org/drawingml/2006/main" prst="line">
            <a:avLst/>
          </a:prstGeom>
          <a:noFill xmlns:a="http://schemas.openxmlformats.org/drawingml/2006/main"/>
          <a:ln xmlns:a="http://schemas.openxmlformats.org/drawingml/2006/main" w="11430">
            <a:solidFill>
              <a:srgbClr val="D6DDF5"/>
            </a:solidFill>
            <a:prstDash val="solid"/>
          </a:ln>
        </p:spPr>
        <p:txBody>
          <a:bodyPr xmlns:a="http://schemas.openxmlformats.org/drawingml/2006/main"/>
          <a:lstStyle xmlns:a="http://schemas.openxmlformats.org/drawingml/2006/main"/>
          <a:p xmlns:a="http://schemas.openxmlformats.org/drawingml/2006/main">
            <a:endParaRPr/>
          </a:p>
        </p:txBody>
      </p:sp>
      <p:sp>
        <p:nvSpPr>
          <p:cNvPr id="41" name="Text 39">
            <a:extLst xmlns:a="http://schemas.openxmlformats.org/drawingml/2006/main">
              <a:ext uri="{FF2B5EF4-FFF2-40B4-BE49-F238E27FC236}">
                <a16:creationId xmlns:a16="http://schemas.microsoft.com/office/drawing/2014/main" id="{DA93F8CD-D40D-4CB2-83C8-CD65866567AD}"/>
              </a:ext>
            </a:extLst>
          </p:cNvPr>
          <p:cNvSpPr>
            <a:spLocks xmlns:a="http://schemas.openxmlformats.org/drawingml/2006/main" noGrp="1"/>
          </p:cNvSpPr>
          <p:nvPr/>
        </p:nvSpPr>
        <p:spPr>
          <a:xfrm xmlns:a="http://schemas.openxmlformats.org/drawingml/2006/main">
            <a:off x="9564624" y="4526280"/>
            <a:ext cx="1691640" cy="12527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360">
                <a:solidFill>
                  <a:srgbClr val="667085"/>
                </a:solidFill>
                <a:latin typeface="Inter"/>
                <a:ea typeface="Inter"/>
                <a:cs typeface="Inter"/>
              </a:rPr>
              <a:t>The team retained final product decisions and validated the observed behaviour.</a:t>
            </a:r>
            <a:endParaRPr sz="1360"/>
          </a:p>
        </p:txBody>
      </p:sp>
    </p:spTree>
    <p:extLst>
      <p:ext uri="{BB962C8B-B14F-4D97-AF65-F5344CB8AC3E}">
        <p14:creationId xmlns:p14="http://schemas.microsoft.com/office/powerpoint/2010/main" val="810119070"/>
      </p:ext>
    </p:extLst>
  </p:cSld>
</p:sld>
</file>

<file path=ppt/slides/slide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287AB5B5-B72F-4649-9425-034C5BC58213}"/>
              </a:ext>
            </a:extLst>
          </p:cNvPr>
          <p:cNvSpPr>
            <a:spLocks xmlns:a="http://schemas.openxmlformats.org/drawingml/2006/main" noGrp="1"/>
          </p:cNvSpPr>
          <p:nvPr/>
        </p:nvSpPr>
        <p:spPr>
          <a:xfrm xmlns:a="http://schemas.openxmlformats.org/drawingml/2006/main">
            <a:off x="0" y="0"/>
            <a:ext cx="12192000" cy="50292"/>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Text 1">
            <a:extLst xmlns:a="http://schemas.openxmlformats.org/drawingml/2006/main">
              <a:ext uri="{FF2B5EF4-FFF2-40B4-BE49-F238E27FC236}">
                <a16:creationId xmlns:a16="http://schemas.microsoft.com/office/drawing/2014/main" id="{2E67DDC1-89DB-45A5-B4BA-C5B5C13B7D82}"/>
              </a:ext>
            </a:extLst>
          </p:cNvPr>
          <p:cNvSpPr>
            <a:spLocks xmlns:a="http://schemas.openxmlformats.org/drawingml/2006/main" noGrp="1"/>
          </p:cNvSpPr>
          <p:nvPr/>
        </p:nvSpPr>
        <p:spPr>
          <a:xfrm xmlns:a="http://schemas.openxmlformats.org/drawingml/2006/main">
            <a:off x="640080" y="393192"/>
            <a:ext cx="91440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10" b="1" spc="120">
                <a:solidFill>
                  <a:srgbClr val="5253D7"/>
                </a:solidFill>
                <a:latin typeface="Inter"/>
                <a:ea typeface="Inter"/>
                <a:cs typeface="Inter"/>
              </a:rPr>
              <a:t>REFLECTION</a:t>
            </a:r>
            <a:endParaRPr sz="1010"/>
          </a:p>
        </p:txBody>
      </p:sp>
      <p:sp>
        <p:nvSpPr>
          <p:cNvPr id="4" name="Text 2">
            <a:extLst xmlns:a="http://schemas.openxmlformats.org/drawingml/2006/main">
              <a:ext uri="{FF2B5EF4-FFF2-40B4-BE49-F238E27FC236}">
                <a16:creationId xmlns:a16="http://schemas.microsoft.com/office/drawing/2014/main" id="{74DB5577-1CDD-40E3-9CE3-4BB8B476B185}"/>
              </a:ext>
            </a:extLst>
          </p:cNvPr>
          <p:cNvSpPr>
            <a:spLocks xmlns:a="http://schemas.openxmlformats.org/drawingml/2006/main" noGrp="1"/>
          </p:cNvSpPr>
          <p:nvPr/>
        </p:nvSpPr>
        <p:spPr>
          <a:xfrm xmlns:a="http://schemas.openxmlformats.org/drawingml/2006/main">
            <a:off x="640080" y="740664"/>
            <a:ext cx="10954512"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950" b="1">
                <a:solidFill>
                  <a:srgbClr val="172033"/>
                </a:solidFill>
                <a:latin typeface="Inter"/>
                <a:ea typeface="Inter"/>
                <a:cs typeface="Inter"/>
              </a:rPr>
              <a:t>What we learned</a:t>
            </a:r>
            <a:endParaRPr sz="2950"/>
          </a:p>
        </p:txBody>
      </p:sp>
      <p:sp>
        <p:nvSpPr>
          <p:cNvPr id="5" name="Text 3">
            <a:extLst xmlns:a="http://schemas.openxmlformats.org/drawingml/2006/main">
              <a:ext uri="{FF2B5EF4-FFF2-40B4-BE49-F238E27FC236}">
                <a16:creationId xmlns:a16="http://schemas.microsoft.com/office/drawing/2014/main" id="{26A9936D-B9EE-4B35-A207-C698F95A4E4F}"/>
              </a:ext>
            </a:extLst>
          </p:cNvPr>
          <p:cNvSpPr>
            <a:spLocks xmlns:a="http://schemas.openxmlformats.org/drawingml/2006/main" noGrp="1"/>
          </p:cNvSpPr>
          <p:nvPr/>
        </p:nvSpPr>
        <p:spPr>
          <a:xfrm xmlns:a="http://schemas.openxmlformats.org/drawingml/2006/main">
            <a:off x="640080" y="1399032"/>
            <a:ext cx="10844784"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10">
                <a:solidFill>
                  <a:srgbClr val="667085"/>
                </a:solidFill>
                <a:latin typeface="Inter"/>
                <a:ea typeface="Inter"/>
                <a:cs typeface="Inter"/>
              </a:rPr>
              <a:t>Relay made the central trade-off visible: useful answers must also be trustworthy.</a:t>
            </a:r>
            <a:endParaRPr sz="1410"/>
          </a:p>
        </p:txBody>
      </p:sp>
      <p:sp>
        <p:nvSpPr>
          <p:cNvPr id="6" name="Shape 4">
            <a:extLst xmlns:a="http://schemas.openxmlformats.org/drawingml/2006/main">
              <a:ext uri="{FF2B5EF4-FFF2-40B4-BE49-F238E27FC236}">
                <a16:creationId xmlns:a16="http://schemas.microsoft.com/office/drawing/2014/main" id="{425BA982-EEF7-4429-B593-9F64CC41304A}"/>
              </a:ext>
            </a:extLst>
          </p:cNvPr>
          <p:cNvSpPr>
            <a:spLocks xmlns:a="http://schemas.openxmlformats.org/drawingml/2006/main" noGrp="1"/>
          </p:cNvSpPr>
          <p:nvPr/>
        </p:nvSpPr>
        <p:spPr>
          <a:xfrm xmlns:a="http://schemas.openxmlformats.org/drawingml/2006/main">
            <a:off x="640080" y="6437376"/>
            <a:ext cx="10908792" cy="0"/>
          </a:xfrm>
          <a:prstGeom xmlns:a="http://schemas.openxmlformats.org/drawingml/2006/main" prst="line">
            <a:avLst/>
          </a:prstGeom>
          <a:noFill xmlns:a="http://schemas.openxmlformats.org/drawingml/2006/main"/>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0C103540-2582-41DE-8FA1-BD7B2BD6E66F}"/>
              </a:ext>
            </a:extLst>
          </p:cNvPr>
          <p:cNvSpPr>
            <a:spLocks xmlns:a="http://schemas.openxmlformats.org/drawingml/2006/main" noGrp="1"/>
          </p:cNvSpPr>
          <p:nvPr/>
        </p:nvSpPr>
        <p:spPr>
          <a:xfrm xmlns:a="http://schemas.openxmlformats.org/drawingml/2006/main">
            <a:off x="640080" y="6528816"/>
            <a:ext cx="585216"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40" b="1">
                <a:solidFill>
                  <a:srgbClr val="172033"/>
                </a:solidFill>
                <a:latin typeface="Inter"/>
                <a:ea typeface="Inter"/>
                <a:cs typeface="Inter"/>
              </a:rPr>
              <a:t>relay</a:t>
            </a:r>
            <a:endParaRPr sz="1040"/>
          </a:p>
        </p:txBody>
      </p:sp>
      <p:sp>
        <p:nvSpPr>
          <p:cNvPr id="8" name="Text 6">
            <a:extLst xmlns:a="http://schemas.openxmlformats.org/drawingml/2006/main">
              <a:ext uri="{FF2B5EF4-FFF2-40B4-BE49-F238E27FC236}">
                <a16:creationId xmlns:a16="http://schemas.microsoft.com/office/drawing/2014/main" id="{BDA84613-840F-4BBE-8BA9-1CB4DC3C7567}"/>
              </a:ext>
            </a:extLst>
          </p:cNvPr>
          <p:cNvSpPr>
            <a:spLocks xmlns:a="http://schemas.openxmlformats.org/drawingml/2006/main" noGrp="1"/>
          </p:cNvSpPr>
          <p:nvPr/>
        </p:nvSpPr>
        <p:spPr>
          <a:xfrm xmlns:a="http://schemas.openxmlformats.org/drawingml/2006/main">
            <a:off x="1307592" y="6528816"/>
            <a:ext cx="2743200" cy="155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70">
                <a:solidFill>
                  <a:srgbClr val="94A3B8"/>
                </a:solidFill>
                <a:latin typeface="Inter"/>
                <a:ea typeface="Inter"/>
                <a:cs typeface="Inter"/>
              </a:rPr>
              <a:t>/ Tencent Hackathon demo</a:t>
            </a:r>
            <a:endParaRPr sz="970"/>
          </a:p>
        </p:txBody>
      </p:sp>
      <p:sp>
        <p:nvSpPr>
          <p:cNvPr id="9" name="Text 7">
            <a:extLst xmlns:a="http://schemas.openxmlformats.org/drawingml/2006/main">
              <a:ext uri="{FF2B5EF4-FFF2-40B4-BE49-F238E27FC236}">
                <a16:creationId xmlns:a16="http://schemas.microsoft.com/office/drawing/2014/main" id="{30AD1EA8-633F-4948-A48B-BF87904969AA}"/>
              </a:ext>
            </a:extLst>
          </p:cNvPr>
          <p:cNvSpPr>
            <a:spLocks xmlns:a="http://schemas.openxmlformats.org/drawingml/2006/main" noGrp="1"/>
          </p:cNvSpPr>
          <p:nvPr/>
        </p:nvSpPr>
        <p:spPr>
          <a:xfrm xmlns:a="http://schemas.openxmlformats.org/drawingml/2006/main">
            <a:off x="11036808" y="6519672"/>
            <a:ext cx="50292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b="1">
                <a:solidFill>
                  <a:srgbClr val="94A3B8"/>
                </a:solidFill>
                <a:latin typeface="Inter"/>
                <a:ea typeface="Inter"/>
                <a:cs typeface="Inter"/>
              </a:rPr>
              <a:t>08</a:t>
            </a:r>
            <a:endParaRPr sz="1000"/>
          </a:p>
        </p:txBody>
      </p:sp>
      <p:sp>
        <p:nvSpPr>
          <p:cNvPr id="10" name="Shape 8">
            <a:extLst xmlns:a="http://schemas.openxmlformats.org/drawingml/2006/main">
              <a:ext uri="{FF2B5EF4-FFF2-40B4-BE49-F238E27FC236}">
                <a16:creationId xmlns:a16="http://schemas.microsoft.com/office/drawing/2014/main" id="{7857EC53-D750-481C-B0D9-E03C8130D77A}"/>
              </a:ext>
            </a:extLst>
          </p:cNvPr>
          <p:cNvSpPr>
            <a:spLocks xmlns:a="http://schemas.openxmlformats.org/drawingml/2006/main" noGrp="1"/>
          </p:cNvSpPr>
          <p:nvPr/>
        </p:nvSpPr>
        <p:spPr>
          <a:xfrm xmlns:a="http://schemas.openxmlformats.org/drawingml/2006/main">
            <a:off x="640080" y="2057400"/>
            <a:ext cx="10908792" cy="1307592"/>
          </a:xfrm>
          <a:prstGeom xmlns:a="http://schemas.openxmlformats.org/drawingml/2006/main" prst="roundRect">
            <a:avLst>
              <a:gd name="adj" fmla="val 14685"/>
            </a:avLst>
          </a:prstGeom>
          <a:solidFill xmlns:a="http://schemas.openxmlformats.org/drawingml/2006/main">
            <a:srgbClr val="EFF0FF"/>
          </a:solidFill>
          <a:ln xmlns:a="http://schemas.openxmlformats.org/drawingml/2006/main" w="10160">
            <a:solidFill>
              <a:srgbClr val="E0E4FF"/>
            </a:solidFill>
            <a:prstDash val="solid"/>
          </a:ln>
        </p:spPr>
        <p:txBody>
          <a:bodyPr xmlns:a="http://schemas.openxmlformats.org/drawingml/2006/main"/>
          <a:lstStyle xmlns:a="http://schemas.openxmlformats.org/drawingml/2006/main"/>
          <a:p xmlns:a="http://schemas.openxmlformats.org/drawingml/2006/main">
            <a:endParaRPr/>
          </a:p>
        </p:txBody>
      </p:sp>
      <p:sp>
        <p:nvSpPr>
          <p:cNvPr id="11" name="Shape 9">
            <a:extLst xmlns:a="http://schemas.openxmlformats.org/drawingml/2006/main">
              <a:ext uri="{FF2B5EF4-FFF2-40B4-BE49-F238E27FC236}">
                <a16:creationId xmlns:a16="http://schemas.microsoft.com/office/drawing/2014/main" id="{C4C52ADC-0156-4655-BDE4-E1DD47399E35}"/>
              </a:ext>
            </a:extLst>
          </p:cNvPr>
          <p:cNvSpPr>
            <a:spLocks xmlns:a="http://schemas.openxmlformats.org/drawingml/2006/main" noGrp="1"/>
          </p:cNvSpPr>
          <p:nvPr/>
        </p:nvSpPr>
        <p:spPr>
          <a:xfrm xmlns:a="http://schemas.openxmlformats.org/drawingml/2006/main">
            <a:off x="896112" y="2313432"/>
            <a:ext cx="64922" cy="786384"/>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2DE61F5-6DC9-4EC2-85A1-97A238079BF8}"/>
              </a:ext>
            </a:extLst>
          </p:cNvPr>
          <p:cNvSpPr>
            <a:spLocks xmlns:a="http://schemas.openxmlformats.org/drawingml/2006/main" noGrp="1"/>
          </p:cNvSpPr>
          <p:nvPr/>
        </p:nvSpPr>
        <p:spPr>
          <a:xfrm xmlns:a="http://schemas.openxmlformats.org/drawingml/2006/main">
            <a:off x="1234440" y="2276856"/>
            <a:ext cx="992124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410" b="1">
                <a:solidFill>
                  <a:srgbClr val="172033"/>
                </a:solidFill>
                <a:latin typeface="Inter"/>
                <a:ea typeface="Inter"/>
                <a:cs typeface="Inter"/>
              </a:rPr>
              <a:t>Authorisation cannot be a filter after search.</a:t>
            </a:r>
            <a:endParaRPr sz="2410"/>
          </a:p>
          <a:p xmlns:a="http://schemas.openxmlformats.org/drawingml/2006/main">
            <a:pPr marL="0" indent="0" algn="l">
              <a:buNone/>
            </a:pPr>
            <a:r>
              <a:rPr sz="2410" b="1">
                <a:solidFill>
                  <a:srgbClr val="172033"/>
                </a:solidFill>
                <a:latin typeface="Inter"/>
                <a:ea typeface="Inter"/>
                <a:cs typeface="Inter"/>
              </a:rPr>
              <a:t>It has to be part of the retrieval system itself.</a:t>
            </a:r>
            <a:endParaRPr sz="2410"/>
          </a:p>
        </p:txBody>
      </p:sp>
      <p:sp>
        <p:nvSpPr>
          <p:cNvPr id="13" name="Shape 11">
            <a:extLst xmlns:a="http://schemas.openxmlformats.org/drawingml/2006/main">
              <a:ext uri="{FF2B5EF4-FFF2-40B4-BE49-F238E27FC236}">
                <a16:creationId xmlns:a16="http://schemas.microsoft.com/office/drawing/2014/main" id="{F62F7783-F83A-488E-92A5-C6FDB214FF15}"/>
              </a:ext>
            </a:extLst>
          </p:cNvPr>
          <p:cNvSpPr>
            <a:spLocks xmlns:a="http://schemas.openxmlformats.org/drawingml/2006/main" noGrp="1"/>
          </p:cNvSpPr>
          <p:nvPr/>
        </p:nvSpPr>
        <p:spPr>
          <a:xfrm xmlns:a="http://schemas.openxmlformats.org/drawingml/2006/main">
            <a:off x="640080" y="3657600"/>
            <a:ext cx="3520440" cy="1618488"/>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Shape 12">
            <a:extLst xmlns:a="http://schemas.openxmlformats.org/drawingml/2006/main">
              <a:ext uri="{FF2B5EF4-FFF2-40B4-BE49-F238E27FC236}">
                <a16:creationId xmlns:a16="http://schemas.microsoft.com/office/drawing/2014/main" id="{2849417A-E4C1-4514-9828-D64C87839017}"/>
              </a:ext>
            </a:extLst>
          </p:cNvPr>
          <p:cNvSpPr>
            <a:spLocks xmlns:a="http://schemas.openxmlformats.org/drawingml/2006/main" noGrp="1"/>
          </p:cNvSpPr>
          <p:nvPr/>
        </p:nvSpPr>
        <p:spPr>
          <a:xfrm xmlns:a="http://schemas.openxmlformats.org/drawingml/2006/main">
            <a:off x="841248" y="3959352"/>
            <a:ext cx="73152" cy="228600"/>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Text 13">
            <a:extLst xmlns:a="http://schemas.openxmlformats.org/drawingml/2006/main">
              <a:ext uri="{FF2B5EF4-FFF2-40B4-BE49-F238E27FC236}">
                <a16:creationId xmlns:a16="http://schemas.microsoft.com/office/drawing/2014/main" id="{11A81BD2-AF52-4FDC-9F8E-D7197075603F}"/>
              </a:ext>
            </a:extLst>
          </p:cNvPr>
          <p:cNvSpPr>
            <a:spLocks xmlns:a="http://schemas.openxmlformats.org/drawingml/2006/main" noGrp="1"/>
          </p:cNvSpPr>
          <p:nvPr/>
        </p:nvSpPr>
        <p:spPr>
          <a:xfrm xmlns:a="http://schemas.openxmlformats.org/drawingml/2006/main">
            <a:off x="1051560" y="3986784"/>
            <a:ext cx="2697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10" b="1" spc="67">
                <a:solidFill>
                  <a:srgbClr val="5253D7"/>
                </a:solidFill>
                <a:latin typeface="Inter"/>
                <a:ea typeface="Inter"/>
                <a:cs typeface="Inter"/>
              </a:rPr>
              <a:t>PRODUCT</a:t>
            </a:r>
            <a:endParaRPr sz="1110"/>
          </a:p>
        </p:txBody>
      </p:sp>
      <p:sp>
        <p:nvSpPr>
          <p:cNvPr id="16" name="Text 14">
            <a:extLst xmlns:a="http://schemas.openxmlformats.org/drawingml/2006/main">
              <a:ext uri="{FF2B5EF4-FFF2-40B4-BE49-F238E27FC236}">
                <a16:creationId xmlns:a16="http://schemas.microsoft.com/office/drawing/2014/main" id="{85D4095B-4CEE-45A6-B4B5-73A5754CD430}"/>
              </a:ext>
            </a:extLst>
          </p:cNvPr>
          <p:cNvSpPr>
            <a:spLocks xmlns:a="http://schemas.openxmlformats.org/drawingml/2006/main" noGrp="1"/>
          </p:cNvSpPr>
          <p:nvPr/>
        </p:nvSpPr>
        <p:spPr>
          <a:xfrm xmlns:a="http://schemas.openxmlformats.org/drawingml/2006/main">
            <a:off x="841248" y="4416552"/>
            <a:ext cx="31089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72033"/>
                </a:solidFill>
                <a:latin typeface="Inter"/>
                <a:ea typeface="Inter"/>
                <a:cs typeface="Inter"/>
              </a:rPr>
              <a:t>Citations make answers easier to verify and safer to share.</a:t>
            </a:r>
            <a:endParaRPr sz="1500"/>
          </a:p>
        </p:txBody>
      </p:sp>
      <p:sp>
        <p:nvSpPr>
          <p:cNvPr id="17" name="Shape 15">
            <a:extLst xmlns:a="http://schemas.openxmlformats.org/drawingml/2006/main">
              <a:ext uri="{FF2B5EF4-FFF2-40B4-BE49-F238E27FC236}">
                <a16:creationId xmlns:a16="http://schemas.microsoft.com/office/drawing/2014/main" id="{F53068D8-EF58-4442-ABA7-882AAED14525}"/>
              </a:ext>
            </a:extLst>
          </p:cNvPr>
          <p:cNvSpPr>
            <a:spLocks xmlns:a="http://schemas.openxmlformats.org/drawingml/2006/main" noGrp="1"/>
          </p:cNvSpPr>
          <p:nvPr/>
        </p:nvSpPr>
        <p:spPr>
          <a:xfrm xmlns:a="http://schemas.openxmlformats.org/drawingml/2006/main">
            <a:off x="4334256" y="3657600"/>
            <a:ext cx="3520440" cy="1618488"/>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3B4CE38B-9379-4FB1-9643-2D68D6D0F271}"/>
              </a:ext>
            </a:extLst>
          </p:cNvPr>
          <p:cNvSpPr>
            <a:spLocks xmlns:a="http://schemas.openxmlformats.org/drawingml/2006/main" noGrp="1"/>
          </p:cNvSpPr>
          <p:nvPr/>
        </p:nvSpPr>
        <p:spPr>
          <a:xfrm xmlns:a="http://schemas.openxmlformats.org/drawingml/2006/main">
            <a:off x="4535424" y="3959352"/>
            <a:ext cx="73152" cy="228600"/>
          </a:xfrm>
          <a:prstGeom xmlns:a="http://schemas.openxmlformats.org/drawingml/2006/main" prst="rect">
            <a:avLst/>
          </a:prstGeom>
          <a:solidFill xmlns:a="http://schemas.openxmlformats.org/drawingml/2006/main">
            <a:srgbClr val="0B927D"/>
          </a:solidFill>
          <a:ln xmlns:a="http://schemas.openxmlformats.org/drawingml/2006/main" w="12700">
            <a:solidFill>
              <a:srgbClr val="0B927D"/>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191E5D05-6963-454B-B4D1-6D4361004EB4}"/>
              </a:ext>
            </a:extLst>
          </p:cNvPr>
          <p:cNvSpPr>
            <a:spLocks xmlns:a="http://schemas.openxmlformats.org/drawingml/2006/main" noGrp="1"/>
          </p:cNvSpPr>
          <p:nvPr/>
        </p:nvSpPr>
        <p:spPr>
          <a:xfrm xmlns:a="http://schemas.openxmlformats.org/drawingml/2006/main">
            <a:off x="4745736" y="3986784"/>
            <a:ext cx="2697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10" b="1" spc="67">
                <a:solidFill>
                  <a:srgbClr val="0B927D"/>
                </a:solidFill>
                <a:latin typeface="Inter"/>
                <a:ea typeface="Inter"/>
                <a:cs typeface="Inter"/>
              </a:rPr>
              <a:t>ENGINEERING</a:t>
            </a:r>
            <a:endParaRPr sz="1110"/>
          </a:p>
        </p:txBody>
      </p:sp>
      <p:sp>
        <p:nvSpPr>
          <p:cNvPr id="20" name="Text 18">
            <a:extLst xmlns:a="http://schemas.openxmlformats.org/drawingml/2006/main">
              <a:ext uri="{FF2B5EF4-FFF2-40B4-BE49-F238E27FC236}">
                <a16:creationId xmlns:a16="http://schemas.microsoft.com/office/drawing/2014/main" id="{4497E5D0-A5DB-455B-AF86-260A6C243F7B}"/>
              </a:ext>
            </a:extLst>
          </p:cNvPr>
          <p:cNvSpPr>
            <a:spLocks xmlns:a="http://schemas.openxmlformats.org/drawingml/2006/main" noGrp="1"/>
          </p:cNvSpPr>
          <p:nvPr/>
        </p:nvSpPr>
        <p:spPr>
          <a:xfrm xmlns:a="http://schemas.openxmlformats.org/drawingml/2006/main">
            <a:off x="4535424" y="4416552"/>
            <a:ext cx="31089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72033"/>
                </a:solidFill>
                <a:latin typeface="Inter"/>
                <a:ea typeface="Inter"/>
                <a:cs typeface="Inter"/>
              </a:rPr>
              <a:t>Live permission checks protect against stale access and leakage.</a:t>
            </a:r>
            <a:endParaRPr sz="1500"/>
          </a:p>
        </p:txBody>
      </p:sp>
      <p:sp>
        <p:nvSpPr>
          <p:cNvPr id="21" name="Shape 19">
            <a:extLst xmlns:a="http://schemas.openxmlformats.org/drawingml/2006/main">
              <a:ext uri="{FF2B5EF4-FFF2-40B4-BE49-F238E27FC236}">
                <a16:creationId xmlns:a16="http://schemas.microsoft.com/office/drawing/2014/main" id="{8EC9DFDF-95AF-47BE-AA5F-8BDA62F152AF}"/>
              </a:ext>
            </a:extLst>
          </p:cNvPr>
          <p:cNvSpPr>
            <a:spLocks xmlns:a="http://schemas.openxmlformats.org/drawingml/2006/main" noGrp="1"/>
          </p:cNvSpPr>
          <p:nvPr/>
        </p:nvSpPr>
        <p:spPr>
          <a:xfrm xmlns:a="http://schemas.openxmlformats.org/drawingml/2006/main">
            <a:off x="8028432" y="3657600"/>
            <a:ext cx="3520440" cy="1618488"/>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10160">
            <a:solidFill>
              <a:srgbClr val="E5EAF2"/>
            </a:solidFill>
            <a:prstDash val="solid"/>
          </a:ln>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8A125400-0E14-4924-B000-7FE493087CE8}"/>
              </a:ext>
            </a:extLst>
          </p:cNvPr>
          <p:cNvSpPr>
            <a:spLocks xmlns:a="http://schemas.openxmlformats.org/drawingml/2006/main" noGrp="1"/>
          </p:cNvSpPr>
          <p:nvPr/>
        </p:nvSpPr>
        <p:spPr>
          <a:xfrm xmlns:a="http://schemas.openxmlformats.org/drawingml/2006/main">
            <a:off x="8229600" y="3959352"/>
            <a:ext cx="73152" cy="228600"/>
          </a:xfrm>
          <a:prstGeom xmlns:a="http://schemas.openxmlformats.org/drawingml/2006/main" prst="rect">
            <a:avLst/>
          </a:prstGeom>
          <a:solidFill xmlns:a="http://schemas.openxmlformats.org/drawingml/2006/main">
            <a:srgbClr val="5253D7"/>
          </a:solidFill>
          <a:ln xmlns:a="http://schemas.openxmlformats.org/drawingml/2006/main" w="12700">
            <a:solidFill>
              <a:srgbClr val="5253D7"/>
            </a:solidFill>
            <a:prstDash val="solid"/>
          </a:ln>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1F598256-E872-4A5E-9D65-8FC26F060026}"/>
              </a:ext>
            </a:extLst>
          </p:cNvPr>
          <p:cNvSpPr>
            <a:spLocks xmlns:a="http://schemas.openxmlformats.org/drawingml/2006/main" noGrp="1"/>
          </p:cNvSpPr>
          <p:nvPr/>
        </p:nvSpPr>
        <p:spPr>
          <a:xfrm xmlns:a="http://schemas.openxmlformats.org/drawingml/2006/main">
            <a:off x="8439912" y="3986784"/>
            <a:ext cx="2697480" cy="1645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10" b="1" spc="67">
                <a:solidFill>
                  <a:srgbClr val="5253D7"/>
                </a:solidFill>
                <a:latin typeface="Inter"/>
                <a:ea typeface="Inter"/>
                <a:cs typeface="Inter"/>
              </a:rPr>
              <a:t>PROCESS</a:t>
            </a:r>
            <a:endParaRPr sz="1110"/>
          </a:p>
        </p:txBody>
      </p:sp>
      <p:sp>
        <p:nvSpPr>
          <p:cNvPr id="24" name="Text 22">
            <a:extLst xmlns:a="http://schemas.openxmlformats.org/drawingml/2006/main">
              <a:ext uri="{FF2B5EF4-FFF2-40B4-BE49-F238E27FC236}">
                <a16:creationId xmlns:a16="http://schemas.microsoft.com/office/drawing/2014/main" id="{9B2B3732-7E18-4D58-BCA7-585229D55563}"/>
              </a:ext>
            </a:extLst>
          </p:cNvPr>
          <p:cNvSpPr>
            <a:spLocks xmlns:a="http://schemas.openxmlformats.org/drawingml/2006/main" noGrp="1"/>
          </p:cNvSpPr>
          <p:nvPr/>
        </p:nvSpPr>
        <p:spPr>
          <a:xfrm xmlns:a="http://schemas.openxmlformats.org/drawingml/2006/main">
            <a:off x="8229600" y="4416552"/>
            <a:ext cx="310896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1500">
                <a:solidFill>
                  <a:srgbClr val="172033"/>
                </a:solidFill>
                <a:latin typeface="Inter"/>
                <a:ea typeface="Inter"/>
                <a:cs typeface="Inter"/>
              </a:rPr>
              <a:t>Agent feedback turned a large brief into concrete work and repeatable scenarios.</a:t>
            </a:r>
            <a:endParaRPr sz="1500"/>
          </a:p>
        </p:txBody>
      </p:sp>
      <p:sp>
        <p:nvSpPr>
          <p:cNvPr id="25" name="Shape 23">
            <a:extLst xmlns:a="http://schemas.openxmlformats.org/drawingml/2006/main">
              <a:ext uri="{FF2B5EF4-FFF2-40B4-BE49-F238E27FC236}">
                <a16:creationId xmlns:a16="http://schemas.microsoft.com/office/drawing/2014/main" id="{205314FE-2A8A-4E33-94AC-92FCC0191888}"/>
              </a:ext>
            </a:extLst>
          </p:cNvPr>
          <p:cNvSpPr>
            <a:spLocks xmlns:a="http://schemas.openxmlformats.org/drawingml/2006/main" noGrp="1"/>
          </p:cNvSpPr>
          <p:nvPr/>
        </p:nvSpPr>
        <p:spPr>
          <a:xfrm xmlns:a="http://schemas.openxmlformats.org/drawingml/2006/main">
            <a:off x="640080" y="5559552"/>
            <a:ext cx="10908792" cy="594360"/>
          </a:xfrm>
          <a:prstGeom xmlns:a="http://schemas.openxmlformats.org/drawingml/2006/main" prst="roundRect">
            <a:avLst>
              <a:gd name="adj" fmla="val 27692"/>
            </a:avLst>
          </a:prstGeom>
          <a:solidFill xmlns:a="http://schemas.openxmlformats.org/drawingml/2006/main">
            <a:srgbClr val="ECF9F5"/>
          </a:solidFill>
          <a:ln xmlns:a="http://schemas.openxmlformats.org/drawingml/2006/main" w="10160">
            <a:solidFill>
              <a:srgbClr val="D5EEE7"/>
            </a:solidFill>
            <a:prstDash val="solid"/>
          </a:ln>
        </p:spPr>
        <p:txBody>
          <a:bodyPr xmlns:a="http://schemas.openxmlformats.org/drawingml/2006/main"/>
          <a:lstStyle xmlns:a="http://schemas.openxmlformats.org/drawingml/2006/main"/>
          <a:p xmlns:a="http://schemas.openxmlformats.org/drawingml/2006/main">
            <a:endParaRPr/>
          </a:p>
        </p:txBody>
      </p:sp>
      <p:sp>
        <p:nvSpPr>
          <p:cNvPr id="26" name="Text 24">
            <a:extLst xmlns:a="http://schemas.openxmlformats.org/drawingml/2006/main">
              <a:ext uri="{FF2B5EF4-FFF2-40B4-BE49-F238E27FC236}">
                <a16:creationId xmlns:a16="http://schemas.microsoft.com/office/drawing/2014/main" id="{2109F8BA-8DB8-4F3F-9A5A-77F94E739B3D}"/>
              </a:ext>
            </a:extLst>
          </p:cNvPr>
          <p:cNvSpPr>
            <a:spLocks xmlns:a="http://schemas.openxmlformats.org/drawingml/2006/main" noGrp="1"/>
          </p:cNvSpPr>
          <p:nvPr/>
        </p:nvSpPr>
        <p:spPr>
          <a:xfrm xmlns:a="http://schemas.openxmlformats.org/drawingml/2006/main">
            <a:off x="868680" y="5751576"/>
            <a:ext cx="566928"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spc="70">
                <a:solidFill>
                  <a:srgbClr val="0B927D"/>
                </a:solidFill>
                <a:latin typeface="Inter"/>
                <a:ea typeface="Inter"/>
                <a:cs typeface="Inter"/>
              </a:rPr>
              <a:t>NEXT</a:t>
            </a:r>
            <a:endParaRPr sz="1100"/>
          </a:p>
        </p:txBody>
      </p:sp>
      <p:sp>
        <p:nvSpPr>
          <p:cNvPr id="27" name="Text 25">
            <a:extLst xmlns:a="http://schemas.openxmlformats.org/drawingml/2006/main">
              <a:ext uri="{FF2B5EF4-FFF2-40B4-BE49-F238E27FC236}">
                <a16:creationId xmlns:a16="http://schemas.microsoft.com/office/drawing/2014/main" id="{16FC89A0-8E14-463E-8E40-F377B343B552}"/>
              </a:ext>
            </a:extLst>
          </p:cNvPr>
          <p:cNvSpPr>
            <a:spLocks xmlns:a="http://schemas.openxmlformats.org/drawingml/2006/main" noGrp="1"/>
          </p:cNvSpPr>
          <p:nvPr/>
        </p:nvSpPr>
        <p:spPr>
          <a:xfrm xmlns:a="http://schemas.openxmlformats.org/drawingml/2006/main">
            <a:off x="1508760" y="5696712"/>
            <a:ext cx="97840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a:solidFill>
                  <a:srgbClr val="172033"/>
                </a:solidFill>
                <a:latin typeface="Inter"/>
                <a:ea typeface="Inter"/>
                <a:cs typeface="Inter"/>
              </a:rPr>
              <a:t>Extend the live corpus, exercise more provider edge cases and keep measuring the permission boundary.</a:t>
            </a:r>
            <a:endParaRPr sz="1400"/>
          </a:p>
        </p:txBody>
      </p:sp>
    </p:spTree>
    <p:extLst>
      <p:ext uri="{BB962C8B-B14F-4D97-AF65-F5344CB8AC3E}">
        <p14:creationId xmlns:p14="http://schemas.microsoft.com/office/powerpoint/2010/main" val="88654862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2026-10-15T13:13:44.3420000Z</dcterms:created>
  <dcterms:modified xsi:type="dcterms:W3CDTF">2026-10-15T13:13:44.3420000Z</dcterms:modified>
</coreProperties>
</file>