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  <p:defaultTextStyle>
    <a:defPPr>
      <a:defRPr lang="en-GB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Relay Master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>
        <a:defRPr sz="4400" kern="1200"/>
      </a:lvl1pPr>
    </p:titleStyle>
    <p:bodyStyle>
      <a:lvl1pPr>
        <a:defRPr sz="1800"/>
      </a:lvl1pPr>
    </p:bodyStyle>
    <p:otherStyle>
      <a:defPPr>
        <a:defRPr lang="en-GB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accent"/>
          <p:cNvSpPr/>
          <p:nvPr/>
        </p:nvSpPr>
        <p:spPr>
          <a:xfrm>
            <a:off x="609600" y="914400"/>
            <a:ext cx="76200" cy="4248150"/>
          </a:xfrm>
          <a:prstGeom prst="rect">
            <a:avLst/>
          </a:prstGeom>
          <a:solidFill>
            <a:srgbClr val="315EFB"/>
          </a:solidFill>
          <a:ln w="9525">
            <a:solidFill>
              <a:srgbClr val="315EFB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Relay mark"/>
          <p:cNvSpPr/>
          <p:nvPr/>
        </p:nvSpPr>
        <p:spPr>
          <a:xfrm>
            <a:off x="914400" y="914400"/>
            <a:ext cx="323850" cy="32385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9D6FF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Relay glyph"/>
          <p:cNvSpPr txBox="1"/>
          <p:nvPr/>
        </p:nvSpPr>
        <p:spPr>
          <a:xfrm>
            <a:off x="914400" y="952500"/>
            <a:ext cx="3238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/>
          <a:lstStyle/>
          <a:p>
            <a:pPr algn="c"/>
            <a:r>
              <a:rPr lang="en-GB" sz="1700" b="1" i="0" kern="1200">
                <a:solidFill>
                  <a:srgbClr val="315EFB"/>
                </a:solidFill>
                <a:latin typeface="Arial"/>
              </a:rPr>
              <a:t>✦</a:t>
            </a:r>
            <a:endParaRPr lang="en-GB"/>
          </a:p>
        </p:txBody>
      </p:sp>
      <p:sp>
        <p:nvSpPr>
          <p:cNvPr id="5" name="Brand name"/>
          <p:cNvSpPr txBox="1"/>
          <p:nvPr/>
        </p:nvSpPr>
        <p:spPr>
          <a:xfrm>
            <a:off x="914400" y="140970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400" b="1" i="0" kern="1200">
                <a:solidFill>
                  <a:srgbClr val="17212B"/>
                </a:solidFill>
                <a:latin typeface="Arial"/>
              </a:rPr>
              <a:t>relay</a:t>
            </a:r>
            <a:endParaRPr lang="en-GB"/>
          </a:p>
        </p:txBody>
      </p:sp>
      <p:sp>
        <p:nvSpPr>
          <p:cNvPr id="6" name="Cover title"/>
          <p:cNvSpPr txBox="1"/>
          <p:nvPr/>
        </p:nvSpPr>
        <p:spPr>
          <a:xfrm>
            <a:off x="914400" y="2105025"/>
            <a:ext cx="800100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4800" b="1" i="0" kern="1200">
                <a:solidFill>
                  <a:srgbClr val="17212B"/>
                </a:solidFill>
                <a:latin typeface="Arial"/>
              </a:rPr>
              <a:t>Permission-safe answers</a:t>
            </a:r>
            <a:endParaRPr lang="en-GB"/>
          </a:p>
          <a:p>
            <a:pPr algn="l"/>
            <a:r>
              <a:rPr lang="en-GB" sz="4800" b="1" i="0" kern="1200">
                <a:solidFill>
                  <a:srgbClr val="17212B"/>
                </a:solidFill>
                <a:latin typeface="Arial"/>
              </a:rPr>
              <a:t>across the enterprise</a:t>
            </a:r>
            <a:endParaRPr lang="en-GB"/>
          </a:p>
        </p:txBody>
      </p:sp>
      <p:sp>
        <p:nvSpPr>
          <p:cNvPr id="7" name="Cover subtitle"/>
          <p:cNvSpPr txBox="1"/>
          <p:nvPr/>
        </p:nvSpPr>
        <p:spPr>
          <a:xfrm>
            <a:off x="914400" y="3581400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200" b="0" i="0" kern="1200">
                <a:solidFill>
                  <a:srgbClr val="687583"/>
                </a:solidFill>
                <a:latin typeface="Arial"/>
              </a:rPr>
              <a:t>A five-minute project demo</a:t>
            </a:r>
            <a:endParaRPr lang="en-GB"/>
          </a:p>
        </p:txBody>
      </p:sp>
      <p:sp>
        <p:nvSpPr>
          <p:cNvPr id="8" name="Cover premise"/>
          <p:cNvSpPr txBox="1"/>
          <p:nvPr/>
        </p:nvSpPr>
        <p:spPr>
          <a:xfrm>
            <a:off x="914400" y="4381500"/>
            <a:ext cx="61912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600" b="0" i="0" kern="1200">
                <a:solidFill>
                  <a:srgbClr val="596675"/>
                </a:solidFill>
                <a:latin typeface="Arial"/>
              </a:rPr>
              <a:t>Cross-platform retrieval with live access checks, grounded citations and a tamper-evident audit trail.</a:t>
            </a:r>
            <a:endParaRPr lang="en-GB"/>
          </a:p>
        </p:txBody>
      </p:sp>
      <p:sp>
        <p:nvSpPr>
          <p:cNvPr id="9" name="Trust statement surface"/>
          <p:cNvSpPr/>
          <p:nvPr/>
        </p:nvSpPr>
        <p:spPr>
          <a:xfrm>
            <a:off x="8286750" y="1257300"/>
            <a:ext cx="2609850" cy="2400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ecure status"/>
          <p:cNvSpPr/>
          <p:nvPr/>
        </p:nvSpPr>
        <p:spPr>
          <a:xfrm>
            <a:off x="8591550" y="1628775"/>
            <a:ext cx="85725" cy="85725"/>
          </a:xfrm>
          <a:prstGeom prst="ellipse">
            <a:avLst/>
          </a:prstGeom>
          <a:solidFill>
            <a:srgbClr val="0E9F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tatus label"/>
          <p:cNvSpPr txBox="1"/>
          <p:nvPr/>
        </p:nvSpPr>
        <p:spPr>
          <a:xfrm>
            <a:off x="8782050" y="1562100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200" b="1" i="0" kern="1200">
                <a:solidFill>
                  <a:srgbClr val="087F6A"/>
                </a:solidFill>
                <a:latin typeface="Arial"/>
              </a:rPr>
              <a:t>Secure retrieval active</a:t>
            </a:r>
            <a:endParaRPr lang="en-GB"/>
          </a:p>
        </p:txBody>
      </p:sp>
      <p:sp>
        <p:nvSpPr>
          <p:cNvPr id="12" name="Rule"/>
          <p:cNvSpPr/>
          <p:nvPr/>
        </p:nvSpPr>
        <p:spPr>
          <a:xfrm>
            <a:off x="8591550" y="1952625"/>
            <a:ext cx="200025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Cover promise"/>
          <p:cNvSpPr txBox="1"/>
          <p:nvPr/>
        </p:nvSpPr>
        <p:spPr>
          <a:xfrm>
            <a:off x="8591550" y="2209800"/>
            <a:ext cx="1943100" cy="1085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000" b="1" i="0" kern="1200">
                <a:solidFill>
                  <a:srgbClr val="273341"/>
                </a:solidFill>
                <a:latin typeface="Arial"/>
              </a:rPr>
              <a:t>Answers only use content the asking user can access.</a:t>
            </a:r>
            <a:endParaRPr lang="en-GB"/>
          </a:p>
        </p:txBody>
      </p:sp>
      <p:sp>
        <p:nvSpPr>
          <p:cNvPr id="14" name="Cover note"/>
          <p:cNvSpPr txBox="1"/>
          <p:nvPr/>
        </p:nvSpPr>
        <p:spPr>
          <a:xfrm>
            <a:off x="8591550" y="3314700"/>
            <a:ext cx="1924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0" i="0" kern="1200">
                <a:solidFill>
                  <a:srgbClr val="74808D"/>
                </a:solidFill>
                <a:latin typeface="Arial"/>
              </a:rPr>
              <a:t>Sources remain the source of truth.</a:t>
            </a:r>
            <a:endParaRPr lang="en-GB"/>
          </a:p>
        </p:txBody>
      </p:sp>
      <p:sp>
        <p:nvSpPr>
          <p:cNvPr id="1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Footer label"/>
          <p:cNvSpPr txBox="1"/>
          <p:nvPr/>
        </p:nvSpPr>
        <p:spPr>
          <a:xfrm>
            <a:off x="609600" y="65532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relay  ·  Tencent Hackathon demo</a:t>
            </a:r>
            <a:endParaRPr lang="en-GB"/>
          </a:p>
        </p:txBody>
      </p:sp>
      <p:sp>
        <p:nvSpPr>
          <p:cNvPr id="17" name="Page number"/>
          <p:cNvSpPr txBox="1"/>
          <p:nvPr/>
        </p:nvSpPr>
        <p:spPr>
          <a:xfrm>
            <a:off x="10953750" y="655320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01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8" name="Section kicker"/>
          <p:cNvSpPr txBox="1"/>
          <p:nvPr/>
        </p:nvSpPr>
        <p:spPr>
          <a:xfrm>
            <a:off x="609600" y="45720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PROJECT OVERVIEW</a:t>
            </a:r>
            <a:endParaRPr lang="en-GB"/>
          </a:p>
        </p:txBody>
      </p:sp>
      <p:sp>
        <p:nvSpPr>
          <p:cNvPr id="19" name="Slide title"/>
          <p:cNvSpPr txBox="1"/>
          <p:nvPr/>
        </p:nvSpPr>
        <p:spPr>
          <a:xfrm>
            <a:off x="609600" y="74295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3400" b="1" i="0" kern="1200">
                <a:solidFill>
                  <a:srgbClr val="17212B"/>
                </a:solidFill>
                <a:latin typeface="Arial"/>
              </a:rPr>
              <a:t>Why Relay</a:t>
            </a:r>
            <a:endParaRPr lang="en-GB"/>
          </a:p>
        </p:txBody>
      </p:sp>
      <p:sp>
        <p:nvSpPr>
          <p:cNvPr id="20" name="Slide subtitle"/>
          <p:cNvSpPr txBox="1"/>
          <p:nvPr/>
        </p:nvSpPr>
        <p:spPr>
          <a:xfrm>
            <a:off x="609600" y="1381125"/>
            <a:ext cx="9620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One answer across the workspace, with the source permissions intact.</a:t>
            </a:r>
            <a:endParaRPr lang="en-GB"/>
          </a:p>
        </p:txBody>
      </p:sp>
      <p:sp>
        <p:nvSpPr>
          <p:cNvPr id="21" name="Blue keyline"/>
          <p:cNvSpPr/>
          <p:nvPr/>
        </p:nvSpPr>
        <p:spPr>
          <a:xfrm>
            <a:off x="609600" y="2038350"/>
            <a:ext cx="4953000" cy="19050"/>
          </a:xfrm>
          <a:prstGeom prst="rect">
            <a:avLst/>
          </a:prstGeom>
          <a:solidFill>
            <a:srgbClr val="315EFB"/>
          </a:solidFill>
          <a:ln w="9525">
            <a:solidFill>
              <a:srgbClr val="315EFB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Problem statement"/>
          <p:cNvSpPr txBox="1"/>
          <p:nvPr/>
        </p:nvSpPr>
        <p:spPr>
          <a:xfrm>
            <a:off x="609600" y="2324100"/>
            <a:ext cx="485775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400" b="1" i="0" kern="1200">
                <a:solidFill>
                  <a:srgbClr val="17212B"/>
                </a:solidFill>
                <a:latin typeface="Arial"/>
              </a:rPr>
              <a:t>Teams lose time reconstructing decisions across documents, tickets and conversations.</a:t>
            </a:r>
            <a:endParaRPr lang="en-GB"/>
          </a:p>
        </p:txBody>
      </p:sp>
      <p:sp>
        <p:nvSpPr>
          <p:cNvPr id="23" name="Problem detail"/>
          <p:cNvSpPr txBox="1"/>
          <p:nvPr/>
        </p:nvSpPr>
        <p:spPr>
          <a:xfrm>
            <a:off x="609600" y="3448050"/>
            <a:ext cx="4762500" cy="1076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600" b="0" i="0" kern="1200">
                <a:solidFill>
                  <a:srgbClr val="596675"/>
                </a:solidFill>
                <a:latin typeface="Arial"/>
              </a:rPr>
              <a:t>During an incident, the answer may sit across a Jira issue, a Slack thread, a Confluence runbook and a Drive postmortem. Searching tools one by one slows the response and weakens confidence.</a:t>
            </a:r>
            <a:endParaRPr lang="en-GB"/>
          </a:p>
        </p:txBody>
      </p:sp>
      <p:sp>
        <p:nvSpPr>
          <p:cNvPr id="24" name="Column divider"/>
          <p:cNvSpPr/>
          <p:nvPr/>
        </p:nvSpPr>
        <p:spPr>
          <a:xfrm>
            <a:off x="5981700" y="2190750"/>
            <a:ext cx="9525" cy="2667000"/>
          </a:xfrm>
          <a:prstGeom prst="rect">
            <a:avLst/>
          </a:prstGeom>
          <a:solidFill>
            <a:srgbClr val="E1E6EB"/>
          </a:solidFill>
          <a:ln w="9525">
            <a:solidFill>
              <a:srgbClr val="E1E6EB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Primary users label"/>
          <p:cNvSpPr txBox="1"/>
          <p:nvPr/>
        </p:nvSpPr>
        <p:spPr>
          <a:xfrm>
            <a:off x="6553200" y="2381250"/>
            <a:ext cx="40957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PRIMARY USERS</a:t>
            </a:r>
            <a:endParaRPr lang="en-GB"/>
          </a:p>
        </p:txBody>
      </p:sp>
      <p:sp>
        <p:nvSpPr>
          <p:cNvPr id="26" name="Primary users copy"/>
          <p:cNvSpPr txBox="1"/>
          <p:nvPr/>
        </p:nvSpPr>
        <p:spPr>
          <a:xfrm>
            <a:off x="6553200" y="2647950"/>
            <a:ext cx="4095750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0" i="0" kern="1200">
                <a:solidFill>
                  <a:srgbClr val="273341"/>
                </a:solidFill>
                <a:latin typeface="Arial"/>
              </a:rPr>
              <a:t>Employees who need an answer they can act on, without knowing where the evidence lives.</a:t>
            </a:r>
            <a:endParaRPr lang="en-GB"/>
          </a:p>
        </p:txBody>
      </p:sp>
      <p:sp>
        <p:nvSpPr>
          <p:cNvPr id="27" name="Trust requirement label"/>
          <p:cNvSpPr txBox="1"/>
          <p:nvPr/>
        </p:nvSpPr>
        <p:spPr>
          <a:xfrm>
            <a:off x="6553200" y="3733800"/>
            <a:ext cx="40957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0E9F82"/>
                </a:solidFill>
                <a:latin typeface="Arial"/>
              </a:rPr>
              <a:t>TRUST REQUIREMENT</a:t>
            </a:r>
            <a:endParaRPr lang="en-GB"/>
          </a:p>
        </p:txBody>
      </p:sp>
      <p:sp>
        <p:nvSpPr>
          <p:cNvPr id="28" name="Trust requirement copy"/>
          <p:cNvSpPr txBox="1"/>
          <p:nvPr/>
        </p:nvSpPr>
        <p:spPr>
          <a:xfrm>
            <a:off x="6553200" y="4000500"/>
            <a:ext cx="4095750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0" i="0" kern="1200">
                <a:solidFill>
                  <a:srgbClr val="273341"/>
                </a:solidFill>
                <a:latin typeface="Arial"/>
              </a:rPr>
              <a:t>Administrators and compliance teams need to see who asked, what was used and why access was allowed.</a:t>
            </a:r>
            <a:endParaRPr lang="en-GB"/>
          </a:p>
        </p:txBody>
      </p:sp>
      <p:sp>
        <p:nvSpPr>
          <p:cNvPr id="29" name="Solution summary"/>
          <p:cNvSpPr txBox="1"/>
          <p:nvPr/>
        </p:nvSpPr>
        <p:spPr>
          <a:xfrm>
            <a:off x="609600" y="5219700"/>
            <a:ext cx="97155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800" b="1" i="0" kern="1200">
                <a:solidFill>
                  <a:srgbClr val="273341"/>
                </a:solidFill>
                <a:latin typeface="Arial"/>
              </a:rPr>
              <a:t>Relay connects Confluence, Jira, Slack and Google Drive while treating authorisation as part of retrieval.</a:t>
            </a:r>
            <a:endParaRPr lang="en-GB"/>
          </a:p>
        </p:txBody>
      </p:sp>
      <p:sp>
        <p:nvSpPr>
          <p:cNvPr id="30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Footer label"/>
          <p:cNvSpPr txBox="1"/>
          <p:nvPr/>
        </p:nvSpPr>
        <p:spPr>
          <a:xfrm>
            <a:off x="609600" y="65532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relay  ·  Tencent Hackathon demo</a:t>
            </a:r>
            <a:endParaRPr lang="en-GB"/>
          </a:p>
        </p:txBody>
      </p:sp>
      <p:sp>
        <p:nvSpPr>
          <p:cNvPr id="32" name="Page number"/>
          <p:cNvSpPr txBox="1"/>
          <p:nvPr/>
        </p:nvSpPr>
        <p:spPr>
          <a:xfrm>
            <a:off x="10953750" y="655320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02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3" name="Section kicker"/>
          <p:cNvSpPr txBox="1"/>
          <p:nvPr/>
        </p:nvSpPr>
        <p:spPr>
          <a:xfrm>
            <a:off x="609600" y="45720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TECHNICAL OVERVIEW</a:t>
            </a:r>
            <a:endParaRPr lang="en-GB"/>
          </a:p>
        </p:txBody>
      </p:sp>
      <p:sp>
        <p:nvSpPr>
          <p:cNvPr id="34" name="Slide title"/>
          <p:cNvSpPr txBox="1"/>
          <p:nvPr/>
        </p:nvSpPr>
        <p:spPr>
          <a:xfrm>
            <a:off x="609600" y="74295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3400" b="1" i="0" kern="1200">
                <a:solidFill>
                  <a:srgbClr val="17212B"/>
                </a:solidFill>
                <a:latin typeface="Arial"/>
              </a:rPr>
              <a:t>Ingestion and the knowledge index</a:t>
            </a:r>
            <a:endParaRPr lang="en-GB"/>
          </a:p>
        </p:txBody>
      </p:sp>
      <p:sp>
        <p:nvSpPr>
          <p:cNvPr id="35" name="Slide subtitle"/>
          <p:cNvSpPr txBox="1"/>
          <p:nvPr/>
        </p:nvSpPr>
        <p:spPr>
          <a:xfrm>
            <a:off x="609600" y="1381125"/>
            <a:ext cx="9620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Retrieval-augmented generation (RAG) grounds an answer in retrieved source evidence.</a:t>
            </a:r>
            <a:endParaRPr lang="en-GB"/>
          </a:p>
        </p:txBody>
      </p:sp>
      <p:sp>
        <p:nvSpPr>
          <p:cNvPr id="36" name="Text"/>
          <p:cNvSpPr txBox="1"/>
          <p:nvPr/>
        </p:nvSpPr>
        <p:spPr>
          <a:xfrm>
            <a:off x="609600" y="2247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1" i="0" kern="1200">
                <a:solidFill>
                  <a:srgbClr val="315EFB"/>
                </a:solidFill>
                <a:latin typeface="Arial"/>
              </a:rPr>
              <a:t>01</a:t>
            </a:r>
            <a:endParaRPr lang="en-GB"/>
          </a:p>
        </p:txBody>
      </p:sp>
      <p:sp>
        <p:nvSpPr>
          <p:cNvPr id="37" name="Text"/>
          <p:cNvSpPr txBox="1"/>
          <p:nvPr/>
        </p:nvSpPr>
        <p:spPr>
          <a:xfrm>
            <a:off x="609600" y="2667000"/>
            <a:ext cx="3143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300" b="1" i="0" kern="1200">
                <a:solidFill>
                  <a:srgbClr val="17212B"/>
                </a:solidFill>
                <a:latin typeface="Arial"/>
              </a:rPr>
              <a:t>Connect and fetch</a:t>
            </a:r>
            <a:endParaRPr lang="en-GB"/>
          </a:p>
        </p:txBody>
      </p:sp>
      <p:sp>
        <p:nvSpPr>
          <p:cNvPr id="38" name="Text"/>
          <p:cNvSpPr txBox="1"/>
          <p:nvPr/>
        </p:nvSpPr>
        <p:spPr>
          <a:xfrm>
            <a:off x="609600" y="3200400"/>
            <a:ext cx="3048000" cy="1352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800" b="0" i="0" kern="1200">
                <a:solidFill>
                  <a:srgbClr val="596675"/>
                </a:solidFill>
                <a:latin typeface="Arial"/>
              </a:rPr>
              <a:t>Delegated OAuth links source identities. Celery workers import content and reconcile provider changes.</a:t>
            </a:r>
            <a:endParaRPr lang="en-GB"/>
          </a:p>
        </p:txBody>
      </p:sp>
      <p:sp>
        <p:nvSpPr>
          <p:cNvPr id="39" name="Text"/>
          <p:cNvSpPr txBox="1"/>
          <p:nvPr/>
        </p:nvSpPr>
        <p:spPr>
          <a:xfrm>
            <a:off x="4229100" y="2247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1" i="0" kern="1200">
                <a:solidFill>
                  <a:srgbClr val="315EFB"/>
                </a:solidFill>
                <a:latin typeface="Arial"/>
              </a:rPr>
              <a:t>02</a:t>
            </a:r>
            <a:endParaRPr lang="en-GB"/>
          </a:p>
        </p:txBody>
      </p:sp>
      <p:sp>
        <p:nvSpPr>
          <p:cNvPr id="40" name="Text"/>
          <p:cNvSpPr txBox="1"/>
          <p:nvPr/>
        </p:nvSpPr>
        <p:spPr>
          <a:xfrm>
            <a:off x="4229100" y="2667000"/>
            <a:ext cx="3143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300" b="1" i="0" kern="1200">
                <a:solidFill>
                  <a:srgbClr val="17212B"/>
                </a:solidFill>
                <a:latin typeface="Arial"/>
              </a:rPr>
              <a:t>Prepare evidence</a:t>
            </a:r>
            <a:endParaRPr lang="en-GB"/>
          </a:p>
        </p:txBody>
      </p:sp>
      <p:sp>
        <p:nvSpPr>
          <p:cNvPr id="41" name="Text"/>
          <p:cNvSpPr txBox="1"/>
          <p:nvPr/>
        </p:nvSpPr>
        <p:spPr>
          <a:xfrm>
            <a:off x="4229100" y="3200400"/>
            <a:ext cx="3048000" cy="1352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800" b="0" i="0" kern="1200">
                <a:solidFill>
                  <a:srgbClr val="596675"/>
                </a:solidFill>
                <a:latin typeface="Arial"/>
              </a:rPr>
              <a:t>Normalise source content, resolve access-control metadata and split text into searchable chunks.</a:t>
            </a:r>
            <a:endParaRPr lang="en-GB"/>
          </a:p>
        </p:txBody>
      </p:sp>
      <p:sp>
        <p:nvSpPr>
          <p:cNvPr id="42" name="Text"/>
          <p:cNvSpPr txBox="1"/>
          <p:nvPr/>
        </p:nvSpPr>
        <p:spPr>
          <a:xfrm>
            <a:off x="7848600" y="2247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1" i="0" kern="1200">
                <a:solidFill>
                  <a:srgbClr val="315EFB"/>
                </a:solidFill>
                <a:latin typeface="Arial"/>
              </a:rPr>
              <a:t>03</a:t>
            </a:r>
            <a:endParaRPr lang="en-GB"/>
          </a:p>
        </p:txBody>
      </p:sp>
      <p:sp>
        <p:nvSpPr>
          <p:cNvPr id="43" name="Text"/>
          <p:cNvSpPr txBox="1"/>
          <p:nvPr/>
        </p:nvSpPr>
        <p:spPr>
          <a:xfrm>
            <a:off x="7848600" y="2667000"/>
            <a:ext cx="3143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300" b="1" i="0" kern="1200">
                <a:solidFill>
                  <a:srgbClr val="17212B"/>
                </a:solidFill>
                <a:latin typeface="Arial"/>
              </a:rPr>
              <a:t>Index and activate</a:t>
            </a:r>
            <a:endParaRPr lang="en-GB"/>
          </a:p>
        </p:txBody>
      </p:sp>
      <p:sp>
        <p:nvSpPr>
          <p:cNvPr id="44" name="Text"/>
          <p:cNvSpPr txBox="1"/>
          <p:nvPr/>
        </p:nvSpPr>
        <p:spPr>
          <a:xfrm>
            <a:off x="7848600" y="3200400"/>
            <a:ext cx="3048000" cy="1352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800" b="0" i="0" kern="1200">
                <a:solidFill>
                  <a:srgbClr val="596675"/>
                </a:solidFill>
                <a:latin typeface="Arial"/>
              </a:rPr>
              <a:t>Store embeddings and full-text indexes in PostgreSQL with pgvector. Activate a version only when ready.</a:t>
            </a:r>
            <a:endParaRPr lang="en-GB"/>
          </a:p>
        </p:txBody>
      </p:sp>
      <p:sp>
        <p:nvSpPr>
          <p:cNvPr id="45" name="Text"/>
          <p:cNvSpPr txBox="1"/>
          <p:nvPr/>
        </p:nvSpPr>
        <p:spPr>
          <a:xfrm>
            <a:off x="609600" y="5029200"/>
            <a:ext cx="10287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800" b="1" i="0" kern="1200">
                <a:solidFill>
                  <a:srgbClr val="087F6A"/>
                </a:solidFill>
                <a:latin typeface="Arial"/>
              </a:rPr>
              <a:t>Freshness: reconciliation discovers updates. Immutable revisions preserve provenance. Indexed ACLs help narrow candidates, but live provider checks decide access at query time.</a:t>
            </a:r>
            <a:endParaRPr lang="en-GB"/>
          </a:p>
        </p:txBody>
      </p:sp>
      <p:sp>
        <p:nvSpPr>
          <p:cNvPr id="46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Footer label"/>
          <p:cNvSpPr txBox="1"/>
          <p:nvPr/>
        </p:nvSpPr>
        <p:spPr>
          <a:xfrm>
            <a:off x="609600" y="65532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relay  ·  Tencent Hackathon demo</a:t>
            </a:r>
            <a:endParaRPr lang="en-GB"/>
          </a:p>
        </p:txBody>
      </p:sp>
      <p:sp>
        <p:nvSpPr>
          <p:cNvPr id="48" name="Page number"/>
          <p:cNvSpPr txBox="1"/>
          <p:nvPr/>
        </p:nvSpPr>
        <p:spPr>
          <a:xfrm>
            <a:off x="10953750" y="655320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03</a:t>
            </a:r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9" name="Section kicker"/>
          <p:cNvSpPr txBox="1"/>
          <p:nvPr/>
        </p:nvSpPr>
        <p:spPr>
          <a:xfrm>
            <a:off x="609600" y="45720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TECHNICAL OVERVIEW</a:t>
            </a:r>
            <a:endParaRPr lang="en-GB"/>
          </a:p>
        </p:txBody>
      </p:sp>
      <p:sp>
        <p:nvSpPr>
          <p:cNvPr id="50" name="Slide title"/>
          <p:cNvSpPr txBox="1"/>
          <p:nvPr/>
        </p:nvSpPr>
        <p:spPr>
          <a:xfrm>
            <a:off x="609600" y="74295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3400" b="1" i="0" kern="1200">
                <a:solidFill>
                  <a:srgbClr val="17212B"/>
                </a:solidFill>
                <a:latin typeface="Arial"/>
              </a:rPr>
              <a:t>Permission-safe retrieval and RAG</a:t>
            </a:r>
            <a:endParaRPr lang="en-GB"/>
          </a:p>
        </p:txBody>
      </p:sp>
      <p:sp>
        <p:nvSpPr>
          <p:cNvPr id="51" name="Slide subtitle"/>
          <p:cNvSpPr txBox="1"/>
          <p:nvPr/>
        </p:nvSpPr>
        <p:spPr>
          <a:xfrm>
            <a:off x="609600" y="1381125"/>
            <a:ext cx="9620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Hybrid search finds evidence. Live authorisation controls which text can enter the answer.</a:t>
            </a:r>
            <a:endParaRPr lang="en-GB"/>
          </a:p>
        </p:txBody>
      </p:sp>
      <p:sp>
        <p:nvSpPr>
          <p:cNvPr id="52" name="Safety stage 1"/>
          <p:cNvSpPr/>
          <p:nvPr/>
        </p:nvSpPr>
        <p:spPr>
          <a:xfrm>
            <a:off x="609600" y="2190750"/>
            <a:ext cx="1809750" cy="24193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</p:spPr>
        <p:txBody>
          <a:bodyPr/>
          <a:lstStyle/>
          <a:p/>
        </p:txBody>
      </p:sp>
      <p:sp>
        <p:nvSpPr>
          <p:cNvPr id="53" name="Stage number 1"/>
          <p:cNvSpPr txBox="1"/>
          <p:nvPr/>
        </p:nvSpPr>
        <p:spPr>
          <a:xfrm>
            <a:off x="762000" y="2381250"/>
            <a:ext cx="15049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01</a:t>
            </a:r>
            <a:endParaRPr lang="en-GB"/>
          </a:p>
        </p:txBody>
      </p:sp>
      <p:sp>
        <p:nvSpPr>
          <p:cNvPr id="54" name="Stage title 1"/>
          <p:cNvSpPr txBox="1"/>
          <p:nvPr/>
        </p:nvSpPr>
        <p:spPr>
          <a:xfrm>
            <a:off x="762000" y="2771775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1" i="0" kern="1200">
                <a:solidFill>
                  <a:srgbClr val="17212B"/>
                </a:solidFill>
                <a:latin typeface="Arial"/>
              </a:rPr>
              <a:t>Hybrid search</a:t>
            </a:r>
            <a:endParaRPr lang="en-GB"/>
          </a:p>
        </p:txBody>
      </p:sp>
      <p:sp>
        <p:nvSpPr>
          <p:cNvPr id="55" name="Stage detail 1"/>
          <p:cNvSpPr txBox="1"/>
          <p:nvPr/>
        </p:nvSpPr>
        <p:spPr>
          <a:xfrm>
            <a:off x="762000" y="3248025"/>
            <a:ext cx="15049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Vector similarity + full-text search. RRF merges candidate ranks.</a:t>
            </a:r>
            <a:endParaRPr lang="en-GB"/>
          </a:p>
        </p:txBody>
      </p:sp>
      <p:sp>
        <p:nvSpPr>
          <p:cNvPr id="56" name="Stage connector 1"/>
          <p:cNvSpPr/>
          <p:nvPr/>
        </p:nvSpPr>
        <p:spPr>
          <a:xfrm>
            <a:off x="2419350" y="3343275"/>
            <a:ext cx="361950" cy="19050"/>
          </a:xfrm>
          <a:prstGeom prst="rect">
            <a:avLst/>
          </a:prstGeom>
          <a:solidFill>
            <a:srgbClr val="C9D6FF"/>
          </a:solidFill>
          <a:ln w="9525">
            <a:solidFill>
              <a:srgbClr val="C9D6FF"/>
            </a:solidFill>
            <a:prstDash val="solid"/>
          </a:ln>
        </p:spPr>
        <p:txBody>
          <a:bodyPr/>
          <a:lstStyle/>
          <a:p/>
        </p:txBody>
      </p:sp>
      <p:sp>
        <p:nvSpPr>
          <p:cNvPr id="57" name="Safety stage 2"/>
          <p:cNvSpPr/>
          <p:nvPr/>
        </p:nvSpPr>
        <p:spPr>
          <a:xfrm>
            <a:off x="2781300" y="2190750"/>
            <a:ext cx="1809750" cy="241935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9D6FF"/>
            </a:solidFill>
            <a:prstDash val="solid"/>
          </a:ln>
        </p:spPr>
        <p:txBody>
          <a:bodyPr/>
          <a:lstStyle/>
          <a:p/>
        </p:txBody>
      </p:sp>
      <p:sp>
        <p:nvSpPr>
          <p:cNvPr id="58" name="Stage number 2"/>
          <p:cNvSpPr txBox="1"/>
          <p:nvPr/>
        </p:nvSpPr>
        <p:spPr>
          <a:xfrm>
            <a:off x="2933700" y="2381250"/>
            <a:ext cx="15049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02</a:t>
            </a:r>
            <a:endParaRPr lang="en-GB"/>
          </a:p>
        </p:txBody>
      </p:sp>
      <p:sp>
        <p:nvSpPr>
          <p:cNvPr id="59" name="Stage title 2"/>
          <p:cNvSpPr txBox="1"/>
          <p:nvPr/>
        </p:nvSpPr>
        <p:spPr>
          <a:xfrm>
            <a:off x="2933700" y="2771775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1" i="0" kern="1200">
                <a:solidFill>
                  <a:srgbClr val="17212B"/>
                </a:solidFill>
                <a:latin typeface="Arial"/>
              </a:rPr>
              <a:t>Live access</a:t>
            </a:r>
            <a:endParaRPr lang="en-GB"/>
          </a:p>
        </p:txBody>
      </p:sp>
      <p:sp>
        <p:nvSpPr>
          <p:cNvPr id="60" name="Stage detail 2"/>
          <p:cNvSpPr txBox="1"/>
          <p:nvPr/>
        </p:nvSpPr>
        <p:spPr>
          <a:xfrm>
            <a:off x="2933700" y="3248025"/>
            <a:ext cx="15049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Tenant-scoped identity. Delegated provider checks. Uncertain access is denied.</a:t>
            </a:r>
            <a:endParaRPr lang="en-GB"/>
          </a:p>
        </p:txBody>
      </p:sp>
      <p:sp>
        <p:nvSpPr>
          <p:cNvPr id="61" name="Stage connector 2"/>
          <p:cNvSpPr/>
          <p:nvPr/>
        </p:nvSpPr>
        <p:spPr>
          <a:xfrm>
            <a:off x="4591050" y="3343275"/>
            <a:ext cx="361950" cy="19050"/>
          </a:xfrm>
          <a:prstGeom prst="rect">
            <a:avLst/>
          </a:prstGeom>
          <a:solidFill>
            <a:srgbClr val="C9D6FF"/>
          </a:solidFill>
          <a:ln w="9525">
            <a:solidFill>
              <a:srgbClr val="C9D6FF"/>
            </a:solidFill>
            <a:prstDash val="solid"/>
          </a:ln>
        </p:spPr>
        <p:txBody>
          <a:bodyPr/>
          <a:lstStyle/>
          <a:p/>
        </p:txBody>
      </p:sp>
      <p:sp>
        <p:nvSpPr>
          <p:cNvPr id="62" name="Safety stage 3"/>
          <p:cNvSpPr/>
          <p:nvPr/>
        </p:nvSpPr>
        <p:spPr>
          <a:xfrm>
            <a:off x="4953000" y="2190750"/>
            <a:ext cx="1809750" cy="24193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</p:spPr>
        <p:txBody>
          <a:bodyPr/>
          <a:lstStyle/>
          <a:p/>
        </p:txBody>
      </p:sp>
      <p:sp>
        <p:nvSpPr>
          <p:cNvPr id="63" name="Stage number 3"/>
          <p:cNvSpPr txBox="1"/>
          <p:nvPr/>
        </p:nvSpPr>
        <p:spPr>
          <a:xfrm>
            <a:off x="5105400" y="2381250"/>
            <a:ext cx="15049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03</a:t>
            </a:r>
            <a:endParaRPr lang="en-GB"/>
          </a:p>
        </p:txBody>
      </p:sp>
      <p:sp>
        <p:nvSpPr>
          <p:cNvPr id="64" name="Stage title 3"/>
          <p:cNvSpPr txBox="1"/>
          <p:nvPr/>
        </p:nvSpPr>
        <p:spPr>
          <a:xfrm>
            <a:off x="5105400" y="2771775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1" i="0" kern="1200">
                <a:solidFill>
                  <a:srgbClr val="17212B"/>
                </a:solidFill>
                <a:latin typeface="Arial"/>
              </a:rPr>
              <a:t>Context</a:t>
            </a:r>
            <a:endParaRPr lang="en-GB"/>
          </a:p>
        </p:txBody>
      </p:sp>
      <p:sp>
        <p:nvSpPr>
          <p:cNvPr id="65" name="Stage detail 3"/>
          <p:cNvSpPr txBox="1"/>
          <p:nvPr/>
        </p:nvSpPr>
        <p:spPr>
          <a:xfrm>
            <a:off x="5105400" y="3248025"/>
            <a:ext cx="15049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Load allowed text, rerank and compile evidence IDs within a token budget.</a:t>
            </a:r>
            <a:endParaRPr lang="en-GB"/>
          </a:p>
        </p:txBody>
      </p:sp>
      <p:sp>
        <p:nvSpPr>
          <p:cNvPr id="66" name="Stage connector 3"/>
          <p:cNvSpPr/>
          <p:nvPr/>
        </p:nvSpPr>
        <p:spPr>
          <a:xfrm>
            <a:off x="6762750" y="3343275"/>
            <a:ext cx="361950" cy="19050"/>
          </a:xfrm>
          <a:prstGeom prst="rect">
            <a:avLst/>
          </a:prstGeom>
          <a:solidFill>
            <a:srgbClr val="C9D6FF"/>
          </a:solidFill>
          <a:ln w="9525">
            <a:solidFill>
              <a:srgbClr val="C9D6FF"/>
            </a:solidFill>
            <a:prstDash val="solid"/>
          </a:ln>
        </p:spPr>
        <p:txBody>
          <a:bodyPr/>
          <a:lstStyle/>
          <a:p/>
        </p:txBody>
      </p:sp>
      <p:sp>
        <p:nvSpPr>
          <p:cNvPr id="67" name="Safety stage 4"/>
          <p:cNvSpPr/>
          <p:nvPr/>
        </p:nvSpPr>
        <p:spPr>
          <a:xfrm>
            <a:off x="7124700" y="2190750"/>
            <a:ext cx="1809750" cy="24193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</p:spPr>
        <p:txBody>
          <a:bodyPr/>
          <a:lstStyle/>
          <a:p/>
        </p:txBody>
      </p:sp>
      <p:sp>
        <p:nvSpPr>
          <p:cNvPr id="68" name="Stage number 4"/>
          <p:cNvSpPr txBox="1"/>
          <p:nvPr/>
        </p:nvSpPr>
        <p:spPr>
          <a:xfrm>
            <a:off x="7277100" y="2381250"/>
            <a:ext cx="15049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04</a:t>
            </a:r>
            <a:endParaRPr lang="en-GB"/>
          </a:p>
        </p:txBody>
      </p:sp>
      <p:sp>
        <p:nvSpPr>
          <p:cNvPr id="69" name="Stage title 4"/>
          <p:cNvSpPr txBox="1"/>
          <p:nvPr/>
        </p:nvSpPr>
        <p:spPr>
          <a:xfrm>
            <a:off x="7277100" y="2771775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1" i="0" kern="1200">
                <a:solidFill>
                  <a:srgbClr val="17212B"/>
                </a:solidFill>
                <a:latin typeface="Arial"/>
              </a:rPr>
              <a:t>Generate</a:t>
            </a:r>
            <a:endParaRPr lang="en-GB"/>
          </a:p>
        </p:txBody>
      </p:sp>
      <p:sp>
        <p:nvSpPr>
          <p:cNvPr id="70" name="Stage detail 4"/>
          <p:cNvSpPr txBox="1"/>
          <p:nvPr/>
        </p:nvSpPr>
        <p:spPr>
          <a:xfrm>
            <a:off x="7277100" y="3248025"/>
            <a:ext cx="15049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Treat source text as untrusted data. Generate an answer with claim evidence IDs.</a:t>
            </a:r>
            <a:endParaRPr lang="en-GB"/>
          </a:p>
        </p:txBody>
      </p:sp>
      <p:sp>
        <p:nvSpPr>
          <p:cNvPr id="71" name="Stage connector 4"/>
          <p:cNvSpPr/>
          <p:nvPr/>
        </p:nvSpPr>
        <p:spPr>
          <a:xfrm>
            <a:off x="8934450" y="3343275"/>
            <a:ext cx="361950" cy="19050"/>
          </a:xfrm>
          <a:prstGeom prst="rect">
            <a:avLst/>
          </a:prstGeom>
          <a:solidFill>
            <a:srgbClr val="C9D6FF"/>
          </a:solidFill>
          <a:ln w="9525">
            <a:solidFill>
              <a:srgbClr val="C9D6FF"/>
            </a:solidFill>
            <a:prstDash val="solid"/>
          </a:ln>
        </p:spPr>
        <p:txBody>
          <a:bodyPr/>
          <a:lstStyle/>
          <a:p/>
        </p:txBody>
      </p:sp>
      <p:sp>
        <p:nvSpPr>
          <p:cNvPr id="72" name="Safety stage 5"/>
          <p:cNvSpPr/>
          <p:nvPr/>
        </p:nvSpPr>
        <p:spPr>
          <a:xfrm>
            <a:off x="9296400" y="2190750"/>
            <a:ext cx="1809750" cy="24193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</p:spPr>
        <p:txBody>
          <a:bodyPr/>
          <a:lstStyle/>
          <a:p/>
        </p:txBody>
      </p:sp>
      <p:sp>
        <p:nvSpPr>
          <p:cNvPr id="73" name="Stage number 5"/>
          <p:cNvSpPr txBox="1"/>
          <p:nvPr/>
        </p:nvSpPr>
        <p:spPr>
          <a:xfrm>
            <a:off x="9448800" y="2381250"/>
            <a:ext cx="15049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05</a:t>
            </a:r>
            <a:endParaRPr lang="en-GB"/>
          </a:p>
        </p:txBody>
      </p:sp>
      <p:sp>
        <p:nvSpPr>
          <p:cNvPr id="74" name="Stage title 5"/>
          <p:cNvSpPr txBox="1"/>
          <p:nvPr/>
        </p:nvSpPr>
        <p:spPr>
          <a:xfrm>
            <a:off x="9448800" y="2771775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1" i="0" kern="1200">
                <a:solidFill>
                  <a:srgbClr val="17212B"/>
                </a:solidFill>
                <a:latin typeface="Arial"/>
              </a:rPr>
              <a:t>Verify + audit</a:t>
            </a:r>
            <a:endParaRPr lang="en-GB"/>
          </a:p>
        </p:txBody>
      </p:sp>
      <p:sp>
        <p:nvSpPr>
          <p:cNvPr id="75" name="Stage detail 5"/>
          <p:cNvSpPr txBox="1"/>
          <p:nvPr/>
        </p:nvSpPr>
        <p:spPr>
          <a:xfrm>
            <a:off x="9448800" y="3248025"/>
            <a:ext cx="15049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Validate evidence references. Repair once, then use an extractive fallback.</a:t>
            </a:r>
            <a:endParaRPr lang="en-GB"/>
          </a:p>
        </p:txBody>
      </p:sp>
      <p:sp>
        <p:nvSpPr>
          <p:cNvPr id="76" name="Security invariant"/>
          <p:cNvSpPr/>
          <p:nvPr/>
        </p:nvSpPr>
        <p:spPr>
          <a:xfrm>
            <a:off x="609600" y="4819650"/>
            <a:ext cx="10515600" cy="819150"/>
          </a:xfrm>
          <a:prstGeom prst="roundRect">
            <a:avLst/>
          </a:prstGeom>
          <a:solidFill>
            <a:srgbClr val="EAF8F4"/>
          </a:solidFill>
          <a:ln w="9525">
            <a:solidFill>
              <a:srgbClr val="C7E9DF"/>
            </a:solidFill>
            <a:prstDash val="solid"/>
          </a:ln>
        </p:spPr>
        <p:txBody>
          <a:bodyPr/>
          <a:lstStyle/>
          <a:p/>
        </p:txBody>
      </p:sp>
      <p:sp>
        <p:nvSpPr>
          <p:cNvPr id="77" name="Security indicator"/>
          <p:cNvSpPr/>
          <p:nvPr/>
        </p:nvSpPr>
        <p:spPr>
          <a:xfrm>
            <a:off x="876300" y="5124450"/>
            <a:ext cx="114300" cy="114300"/>
          </a:xfrm>
          <a:prstGeom prst="ellipse">
            <a:avLst/>
          </a:prstGeom>
          <a:solidFill>
            <a:srgbClr val="0E9F82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Security invariant text"/>
          <p:cNvSpPr txBox="1"/>
          <p:nvPr/>
        </p:nvSpPr>
        <p:spPr>
          <a:xfrm>
            <a:off x="1162050" y="4962525"/>
            <a:ext cx="93345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1" i="0" kern="1200">
                <a:solidFill>
                  <a:srgbClr val="087F6A"/>
                </a:solidFill>
                <a:latin typeface="Arial"/>
              </a:rPr>
              <a:t>Audit must commit before the answer is released. SHA-256 chaining makes audit events tamper-evident. Citations recheck access when opened.</a:t>
            </a:r>
            <a:endParaRPr lang="en-GB"/>
          </a:p>
        </p:txBody>
      </p:sp>
      <p:sp>
        <p:nvSpPr>
          <p:cNvPr id="79" name="Text"/>
          <p:cNvSpPr txBox="1"/>
          <p:nvPr/>
        </p:nvSpPr>
        <p:spPr>
          <a:xfrm>
            <a:off x="609600" y="581025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0" i="0" kern="1200">
                <a:solidFill>
                  <a:srgbClr val="596675"/>
                </a:solidFill>
                <a:latin typeface="Arial"/>
              </a:rPr>
              <a:t>Restricted text stays outside the reranker, generation context, logs and browser. Citation validation checks references, not factual truth.</a:t>
            </a:r>
            <a:endParaRPr lang="en-GB"/>
          </a:p>
        </p:txBody>
      </p:sp>
      <p:sp>
        <p:nvSpPr>
          <p:cNvPr id="80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81" name="Footer label"/>
          <p:cNvSpPr txBox="1"/>
          <p:nvPr/>
        </p:nvSpPr>
        <p:spPr>
          <a:xfrm>
            <a:off x="609600" y="65532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relay  ·  Tencent Hackathon demo</a:t>
            </a:r>
            <a:endParaRPr lang="en-GB"/>
          </a:p>
        </p:txBody>
      </p:sp>
      <p:sp>
        <p:nvSpPr>
          <p:cNvPr id="82" name="Page number"/>
          <p:cNvSpPr txBox="1"/>
          <p:nvPr/>
        </p:nvSpPr>
        <p:spPr>
          <a:xfrm>
            <a:off x="10953750" y="655320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04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83" name="Section kicker"/>
          <p:cNvSpPr txBox="1"/>
          <p:nvPr/>
        </p:nvSpPr>
        <p:spPr>
          <a:xfrm>
            <a:off x="609600" y="45720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WALKTHROUGH DEMO</a:t>
            </a:r>
            <a:endParaRPr lang="en-GB"/>
          </a:p>
        </p:txBody>
      </p:sp>
      <p:sp>
        <p:nvSpPr>
          <p:cNvPr id="84" name="Slide title"/>
          <p:cNvSpPr txBox="1"/>
          <p:nvPr/>
        </p:nvSpPr>
        <p:spPr>
          <a:xfrm>
            <a:off x="609600" y="74295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3400" b="1" i="0" kern="1200">
                <a:solidFill>
                  <a:srgbClr val="17212B"/>
                </a:solidFill>
                <a:latin typeface="Arial"/>
              </a:rPr>
              <a:t>One question, four sources</a:t>
            </a:r>
            <a:endParaRPr lang="en-GB"/>
          </a:p>
        </p:txBody>
      </p:sp>
      <p:sp>
        <p:nvSpPr>
          <p:cNvPr id="85" name="Slide subtitle"/>
          <p:cNvSpPr txBox="1"/>
          <p:nvPr/>
        </p:nvSpPr>
        <p:spPr>
          <a:xfrm>
            <a:off x="609600" y="1381125"/>
            <a:ext cx="9620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Switch from slides to the deployed Relay demo for the live proof.</a:t>
            </a:r>
            <a:endParaRPr lang="en-GB"/>
          </a:p>
        </p:txBody>
      </p:sp>
      <p:sp>
        <p:nvSpPr>
          <p:cNvPr id="86" name="Demo query surface"/>
          <p:cNvSpPr/>
          <p:nvPr/>
        </p:nvSpPr>
        <p:spPr>
          <a:xfrm>
            <a:off x="609600" y="2152650"/>
            <a:ext cx="6934200" cy="3219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</p:spPr>
        <p:txBody>
          <a:bodyPr/>
          <a:lstStyle/>
          <a:p/>
        </p:txBody>
      </p:sp>
      <p:sp>
        <p:nvSpPr>
          <p:cNvPr id="87" name="Live question label"/>
          <p:cNvSpPr txBox="1"/>
          <p:nvPr/>
        </p:nvSpPr>
        <p:spPr>
          <a:xfrm>
            <a:off x="914400" y="245745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LIVE QUESTION</a:t>
            </a:r>
            <a:endParaRPr lang="en-GB"/>
          </a:p>
        </p:txBody>
      </p:sp>
      <p:sp>
        <p:nvSpPr>
          <p:cNvPr id="88" name="Demo query"/>
          <p:cNvSpPr txBox="1"/>
          <p:nvPr/>
        </p:nvSpPr>
        <p:spPr>
          <a:xfrm>
            <a:off x="914400" y="2857500"/>
            <a:ext cx="6115050" cy="1581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200" b="0" i="0" kern="1200">
                <a:solidFill>
                  <a:srgbClr val="273341"/>
                </a:solidFill>
                <a:latin typeface="Arial"/>
              </a:rPr>
              <a:t>What caused the Q3 payment gateway outage, what follow-up was created, what mitigation did the team agree, what does the runbook prescribe, and how many checkout attempts failed? Cite the evidence.</a:t>
            </a:r>
            <a:endParaRPr lang="en-GB"/>
          </a:p>
        </p:txBody>
      </p:sp>
      <p:sp>
        <p:nvSpPr>
          <p:cNvPr id="89" name="Demo persona"/>
          <p:cNvSpPr txBox="1"/>
          <p:nvPr/>
        </p:nvSpPr>
        <p:spPr>
          <a:xfrm>
            <a:off x="914400" y="470535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0" i="0" kern="1200">
                <a:solidFill>
                  <a:srgbClr val="687583"/>
                </a:solidFill>
                <a:latin typeface="Arial"/>
              </a:rPr>
              <a:t>Sign in as Bob and submit this question.</a:t>
            </a:r>
            <a:endParaRPr lang="en-GB"/>
          </a:p>
        </p:txBody>
      </p:sp>
      <p:sp>
        <p:nvSpPr>
          <p:cNvPr id="90" name="Demo timing"/>
          <p:cNvSpPr txBox="1"/>
          <p:nvPr/>
        </p:nvSpPr>
        <p:spPr>
          <a:xfrm>
            <a:off x="8172450" y="220980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RECORDING CUES  ·  1:45</a:t>
            </a:r>
            <a:endParaRPr lang="en-GB"/>
          </a:p>
        </p:txBody>
      </p:sp>
      <p:sp>
        <p:nvSpPr>
          <p:cNvPr id="91" name="Demo time 1"/>
          <p:cNvSpPr txBox="1"/>
          <p:nvPr/>
        </p:nvSpPr>
        <p:spPr>
          <a:xfrm>
            <a:off x="8172450" y="2628900"/>
            <a:ext cx="5524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0E9F82"/>
                </a:solidFill>
                <a:latin typeface="Arial"/>
              </a:rPr>
              <a:t>00:00</a:t>
            </a:r>
            <a:endParaRPr lang="en-GB"/>
          </a:p>
        </p:txBody>
      </p:sp>
      <p:sp>
        <p:nvSpPr>
          <p:cNvPr id="92" name="Demo cue 1"/>
          <p:cNvSpPr txBox="1"/>
          <p:nvPr/>
        </p:nvSpPr>
        <p:spPr>
          <a:xfrm>
            <a:off x="8839200" y="2609850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0" i="0" kern="1200">
                <a:solidFill>
                  <a:srgbClr val="364453"/>
                </a:solidFill>
                <a:latin typeface="Arial"/>
              </a:rPr>
              <a:t>Open Relay and show connected sources</a:t>
            </a:r>
            <a:endParaRPr lang="en-GB"/>
          </a:p>
        </p:txBody>
      </p:sp>
      <p:sp>
        <p:nvSpPr>
          <p:cNvPr id="93" name="Demo time 2"/>
          <p:cNvSpPr txBox="1"/>
          <p:nvPr/>
        </p:nvSpPr>
        <p:spPr>
          <a:xfrm>
            <a:off x="8172450" y="3152775"/>
            <a:ext cx="5524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0E9F82"/>
                </a:solidFill>
                <a:latin typeface="Arial"/>
              </a:rPr>
              <a:t>00:15</a:t>
            </a:r>
            <a:endParaRPr lang="en-GB"/>
          </a:p>
        </p:txBody>
      </p:sp>
      <p:sp>
        <p:nvSpPr>
          <p:cNvPr id="94" name="Demo cue 2"/>
          <p:cNvSpPr txBox="1"/>
          <p:nvPr/>
        </p:nvSpPr>
        <p:spPr>
          <a:xfrm>
            <a:off x="8839200" y="3133725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0" i="0" kern="1200">
                <a:solidFill>
                  <a:srgbClr val="364453"/>
                </a:solidFill>
                <a:latin typeface="Arial"/>
              </a:rPr>
              <a:t>Submit the question and narrate the checks</a:t>
            </a:r>
            <a:endParaRPr lang="en-GB"/>
          </a:p>
        </p:txBody>
      </p:sp>
      <p:sp>
        <p:nvSpPr>
          <p:cNvPr id="95" name="Demo time 3"/>
          <p:cNvSpPr txBox="1"/>
          <p:nvPr/>
        </p:nvSpPr>
        <p:spPr>
          <a:xfrm>
            <a:off x="8172450" y="3676650"/>
            <a:ext cx="5524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0E9F82"/>
                </a:solidFill>
                <a:latin typeface="Arial"/>
              </a:rPr>
              <a:t>00:55</a:t>
            </a:r>
            <a:endParaRPr lang="en-GB"/>
          </a:p>
        </p:txBody>
      </p:sp>
      <p:sp>
        <p:nvSpPr>
          <p:cNvPr id="96" name="Demo cue 3"/>
          <p:cNvSpPr txBox="1"/>
          <p:nvPr/>
        </p:nvSpPr>
        <p:spPr>
          <a:xfrm>
            <a:off x="8839200" y="3657600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0" i="0" kern="1200">
                <a:solidFill>
                  <a:srgbClr val="364453"/>
                </a:solidFill>
                <a:latin typeface="Arial"/>
              </a:rPr>
              <a:t>Show the grounded answer and four citations</a:t>
            </a:r>
            <a:endParaRPr lang="en-GB"/>
          </a:p>
        </p:txBody>
      </p:sp>
      <p:sp>
        <p:nvSpPr>
          <p:cNvPr id="97" name="Demo time 4"/>
          <p:cNvSpPr txBox="1"/>
          <p:nvPr/>
        </p:nvSpPr>
        <p:spPr>
          <a:xfrm>
            <a:off x="8172450" y="4200525"/>
            <a:ext cx="5524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0E9F82"/>
                </a:solidFill>
                <a:latin typeface="Arial"/>
              </a:rPr>
              <a:t>01:20</a:t>
            </a:r>
            <a:endParaRPr lang="en-GB"/>
          </a:p>
        </p:txBody>
      </p:sp>
      <p:sp>
        <p:nvSpPr>
          <p:cNvPr id="98" name="Demo cue 4"/>
          <p:cNvSpPr txBox="1"/>
          <p:nvPr/>
        </p:nvSpPr>
        <p:spPr>
          <a:xfrm>
            <a:off x="8839200" y="4181475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0" i="0" kern="1200">
                <a:solidFill>
                  <a:srgbClr val="364453"/>
                </a:solidFill>
                <a:latin typeface="Arial"/>
              </a:rPr>
              <a:t>Open a citation to show access reauthorisation</a:t>
            </a:r>
            <a:endParaRPr lang="en-GB"/>
          </a:p>
        </p:txBody>
      </p:sp>
      <p:sp>
        <p:nvSpPr>
          <p:cNvPr id="99" name="Demo time 5"/>
          <p:cNvSpPr txBox="1"/>
          <p:nvPr/>
        </p:nvSpPr>
        <p:spPr>
          <a:xfrm>
            <a:off x="8172450" y="4724400"/>
            <a:ext cx="5524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0E9F82"/>
                </a:solidFill>
                <a:latin typeface="Arial"/>
              </a:rPr>
              <a:t>01:30</a:t>
            </a:r>
            <a:endParaRPr lang="en-GB"/>
          </a:p>
        </p:txBody>
      </p:sp>
      <p:sp>
        <p:nvSpPr>
          <p:cNvPr id="100" name="Demo cue 5"/>
          <p:cNvSpPr txBox="1"/>
          <p:nvPr/>
        </p:nvSpPr>
        <p:spPr>
          <a:xfrm>
            <a:off x="8839200" y="4705350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0" i="0" kern="1200">
                <a:solidFill>
                  <a:srgbClr val="364453"/>
                </a:solidFill>
                <a:latin typeface="Arial"/>
              </a:rPr>
              <a:t>Open the audit trail as Carol</a:t>
            </a:r>
            <a:endParaRPr lang="en-GB"/>
          </a:p>
        </p:txBody>
      </p:sp>
      <p:sp>
        <p:nvSpPr>
          <p:cNvPr id="101" name="Demo proof checklist"/>
          <p:cNvSpPr txBox="1"/>
          <p:nvPr/>
        </p:nvSpPr>
        <p:spPr>
          <a:xfrm>
            <a:off x="609600" y="577215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300" b="0" i="0" kern="1200">
                <a:solidFill>
                  <a:srgbClr val="596675"/>
                </a:solidFill>
                <a:latin typeface="Arial"/>
              </a:rPr>
              <a:t>Proof to call out: Jira cause and follow-up, Slack mitigation, Confluence runbook, Drive impact count, citations and audit record.</a:t>
            </a:r>
            <a:endParaRPr lang="en-GB"/>
          </a:p>
        </p:txBody>
      </p:sp>
      <p:sp>
        <p:nvSpPr>
          <p:cNvPr id="102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103" name="Footer label"/>
          <p:cNvSpPr txBox="1"/>
          <p:nvPr/>
        </p:nvSpPr>
        <p:spPr>
          <a:xfrm>
            <a:off x="609600" y="65532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relay  ·  Tencent Hackathon demo</a:t>
            </a:r>
            <a:endParaRPr lang="en-GB"/>
          </a:p>
        </p:txBody>
      </p:sp>
      <p:sp>
        <p:nvSpPr>
          <p:cNvPr id="104" name="Page number"/>
          <p:cNvSpPr txBox="1"/>
          <p:nvPr/>
        </p:nvSpPr>
        <p:spPr>
          <a:xfrm>
            <a:off x="10953750" y="655320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05</a:t>
            </a:r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5" name="Section kicker"/>
          <p:cNvSpPr txBox="1"/>
          <p:nvPr/>
        </p:nvSpPr>
        <p:spPr>
          <a:xfrm>
            <a:off x="609600" y="45720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AGENT WORKFLOW</a:t>
            </a:r>
            <a:endParaRPr lang="en-GB"/>
          </a:p>
        </p:txBody>
      </p:sp>
      <p:sp>
        <p:nvSpPr>
          <p:cNvPr id="106" name="Slide title"/>
          <p:cNvSpPr txBox="1"/>
          <p:nvPr/>
        </p:nvSpPr>
        <p:spPr>
          <a:xfrm>
            <a:off x="609600" y="74295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3400" b="1" i="0" kern="1200">
                <a:solidFill>
                  <a:srgbClr val="17212B"/>
                </a:solidFill>
                <a:latin typeface="Arial"/>
              </a:rPr>
              <a:t>WorkBuddy shaped the plan</a:t>
            </a:r>
            <a:endParaRPr lang="en-GB"/>
          </a:p>
        </p:txBody>
      </p:sp>
      <p:sp>
        <p:nvSpPr>
          <p:cNvPr id="107" name="Slide subtitle"/>
          <p:cNvSpPr txBox="1"/>
          <p:nvPr/>
        </p:nvSpPr>
        <p:spPr>
          <a:xfrm>
            <a:off x="609600" y="1381125"/>
            <a:ext cx="9620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The planning agent helped turn a broad challenge into a demonstrable, testable proposal.</a:t>
            </a:r>
            <a:endParaRPr lang="en-GB"/>
          </a:p>
        </p:txBody>
      </p:sp>
      <p:sp>
        <p:nvSpPr>
          <p:cNvPr id="108" name="Planning path"/>
          <p:cNvSpPr/>
          <p:nvPr/>
        </p:nvSpPr>
        <p:spPr>
          <a:xfrm>
            <a:off x="609600" y="2343150"/>
            <a:ext cx="10401300" cy="19050"/>
          </a:xfrm>
          <a:prstGeom prst="rect">
            <a:avLst/>
          </a:prstGeom>
          <a:solidFill>
            <a:srgbClr val="C9D6FF"/>
          </a:solidFill>
          <a:ln w="9525">
            <a:solidFill>
              <a:srgbClr val="C9D6FF"/>
            </a:solidFill>
            <a:prstDash val="solid"/>
          </a:ln>
        </p:spPr>
        <p:txBody>
          <a:bodyPr/>
          <a:lstStyle/>
          <a:p/>
        </p:txBody>
      </p:sp>
      <p:sp>
        <p:nvSpPr>
          <p:cNvPr id="109" name="Plan milestone 1"/>
          <p:cNvSpPr/>
          <p:nvPr/>
        </p:nvSpPr>
        <p:spPr>
          <a:xfrm>
            <a:off x="628650" y="2286000"/>
            <a:ext cx="133350" cy="13335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Plan title 1"/>
          <p:cNvSpPr txBox="1"/>
          <p:nvPr/>
        </p:nvSpPr>
        <p:spPr>
          <a:xfrm>
            <a:off x="609600" y="26479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1" i="0" kern="1200">
                <a:solidFill>
                  <a:srgbClr val="17212B"/>
                </a:solidFill>
                <a:latin typeface="Arial"/>
              </a:rPr>
              <a:t>Initial idea</a:t>
            </a:r>
            <a:endParaRPr lang="en-GB"/>
          </a:p>
        </p:txBody>
      </p:sp>
      <p:sp>
        <p:nvSpPr>
          <p:cNvPr id="111" name="Plan description 1"/>
          <p:cNvSpPr txBox="1"/>
          <p:nvPr/>
        </p:nvSpPr>
        <p:spPr>
          <a:xfrm>
            <a:off x="609600" y="3028950"/>
            <a:ext cx="22288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400" b="0" i="0" kern="1200">
                <a:solidFill>
                  <a:srgbClr val="596675"/>
                </a:solidFill>
                <a:latin typeface="Arial"/>
              </a:rPr>
              <a:t>A unified enterprise assistant that could answer across the tools teams already use.</a:t>
            </a:r>
            <a:endParaRPr lang="en-GB"/>
          </a:p>
        </p:txBody>
      </p:sp>
      <p:sp>
        <p:nvSpPr>
          <p:cNvPr id="112" name="Plan milestone 2"/>
          <p:cNvSpPr/>
          <p:nvPr/>
        </p:nvSpPr>
        <p:spPr>
          <a:xfrm>
            <a:off x="3257550" y="2286000"/>
            <a:ext cx="133350" cy="13335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Plan title 2"/>
          <p:cNvSpPr txBox="1"/>
          <p:nvPr/>
        </p:nvSpPr>
        <p:spPr>
          <a:xfrm>
            <a:off x="3238500" y="26479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1" i="0" kern="1200">
                <a:solidFill>
                  <a:srgbClr val="17212B"/>
                </a:solidFill>
                <a:latin typeface="Arial"/>
              </a:rPr>
              <a:t>First proposal</a:t>
            </a:r>
            <a:endParaRPr lang="en-GB"/>
          </a:p>
        </p:txBody>
      </p:sp>
      <p:sp>
        <p:nvSpPr>
          <p:cNvPr id="114" name="Plan description 2"/>
          <p:cNvSpPr txBox="1"/>
          <p:nvPr/>
        </p:nvSpPr>
        <p:spPr>
          <a:xfrm>
            <a:off x="3238500" y="3028950"/>
            <a:ext cx="22288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400" b="0" i="0" kern="1200">
                <a:solidFill>
                  <a:srgbClr val="596675"/>
                </a:solidFill>
                <a:latin typeface="Arial"/>
              </a:rPr>
              <a:t>We drafted the use case, target users, security promise and the demo scope with WorkBuddy.</a:t>
            </a:r>
            <a:endParaRPr lang="en-GB"/>
          </a:p>
        </p:txBody>
      </p:sp>
      <p:sp>
        <p:nvSpPr>
          <p:cNvPr id="115" name="Plan milestone 3"/>
          <p:cNvSpPr/>
          <p:nvPr/>
        </p:nvSpPr>
        <p:spPr>
          <a:xfrm>
            <a:off x="5886450" y="2286000"/>
            <a:ext cx="133350" cy="13335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Plan title 3"/>
          <p:cNvSpPr txBox="1"/>
          <p:nvPr/>
        </p:nvSpPr>
        <p:spPr>
          <a:xfrm>
            <a:off x="5867400" y="26479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1" i="0" kern="1200">
                <a:solidFill>
                  <a:srgbClr val="17212B"/>
                </a:solidFill>
                <a:latin typeface="Arial"/>
              </a:rPr>
              <a:t>Iterative critique</a:t>
            </a:r>
            <a:endParaRPr lang="en-GB"/>
          </a:p>
        </p:txBody>
      </p:sp>
      <p:sp>
        <p:nvSpPr>
          <p:cNvPr id="117" name="Plan description 3"/>
          <p:cNvSpPr txBox="1"/>
          <p:nvPr/>
        </p:nvSpPr>
        <p:spPr>
          <a:xfrm>
            <a:off x="5867400" y="3028950"/>
            <a:ext cx="22288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400" b="0" i="0" kern="1200">
                <a:solidFill>
                  <a:srgbClr val="596675"/>
                </a:solidFill>
                <a:latin typeface="Arial"/>
              </a:rPr>
              <a:t>We asked WorkBuddy to challenge assumptions, clarify the access boundary and expose failure modes.</a:t>
            </a:r>
            <a:endParaRPr lang="en-GB"/>
          </a:p>
        </p:txBody>
      </p:sp>
      <p:sp>
        <p:nvSpPr>
          <p:cNvPr id="118" name="Plan milestone 4"/>
          <p:cNvSpPr/>
          <p:nvPr/>
        </p:nvSpPr>
        <p:spPr>
          <a:xfrm>
            <a:off x="8515350" y="2286000"/>
            <a:ext cx="133350" cy="133350"/>
          </a:xfrm>
          <a:prstGeom prst="ellipse">
            <a:avLst/>
          </a:prstGeom>
          <a:solidFill>
            <a:srgbClr val="0E9F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Plan title 4"/>
          <p:cNvSpPr txBox="1"/>
          <p:nvPr/>
        </p:nvSpPr>
        <p:spPr>
          <a:xfrm>
            <a:off x="8496300" y="26479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1" i="0" kern="1200">
                <a:solidFill>
                  <a:srgbClr val="17212B"/>
                </a:solidFill>
                <a:latin typeface="Arial"/>
              </a:rPr>
              <a:t>Testable plan</a:t>
            </a:r>
            <a:endParaRPr lang="en-GB"/>
          </a:p>
        </p:txBody>
      </p:sp>
      <p:sp>
        <p:nvSpPr>
          <p:cNvPr id="120" name="Plan description 4"/>
          <p:cNvSpPr txBox="1"/>
          <p:nvPr/>
        </p:nvSpPr>
        <p:spPr>
          <a:xfrm>
            <a:off x="8496300" y="3028950"/>
            <a:ext cx="22288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400" b="0" i="0" kern="1200">
                <a:solidFill>
                  <a:srgbClr val="596675"/>
                </a:solidFill>
                <a:latin typeface="Arial"/>
              </a:rPr>
              <a:t>We refined the work into cross-source retrieval, denial, revocation, freshness and audit scenarios.</a:t>
            </a:r>
            <a:endParaRPr lang="en-GB"/>
          </a:p>
        </p:txBody>
      </p:sp>
      <p:sp>
        <p:nvSpPr>
          <p:cNvPr id="121" name="Planning outcome"/>
          <p:cNvSpPr/>
          <p:nvPr/>
        </p:nvSpPr>
        <p:spPr>
          <a:xfrm>
            <a:off x="609600" y="4895850"/>
            <a:ext cx="10401300" cy="742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1E6EB"/>
            </a:solidFill>
            <a:prstDash val="solid"/>
          </a:ln>
        </p:spPr>
        <p:txBody>
          <a:bodyPr/>
          <a:lstStyle/>
          <a:p/>
        </p:txBody>
      </p:sp>
      <p:sp>
        <p:nvSpPr>
          <p:cNvPr id="122" name="Planning outcome text"/>
          <p:cNvSpPr txBox="1"/>
          <p:nvPr/>
        </p:nvSpPr>
        <p:spPr>
          <a:xfrm>
            <a:off x="876300" y="5095875"/>
            <a:ext cx="962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600" b="1" i="0" kern="1200">
                <a:solidFill>
                  <a:srgbClr val="273341"/>
                </a:solidFill>
                <a:latin typeface="Arial"/>
              </a:rPr>
              <a:t>Outcome: the team moved from “an AI search tool” to a clear promise: answers must remain inside each user’s permission boundary.</a:t>
            </a:r>
            <a:endParaRPr lang="en-GB"/>
          </a:p>
        </p:txBody>
      </p:sp>
      <p:sp>
        <p:nvSpPr>
          <p:cNvPr id="123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124" name="Footer label"/>
          <p:cNvSpPr txBox="1"/>
          <p:nvPr/>
        </p:nvSpPr>
        <p:spPr>
          <a:xfrm>
            <a:off x="609600" y="65532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relay  ·  Tencent Hackathon demo</a:t>
            </a:r>
            <a:endParaRPr lang="en-GB"/>
          </a:p>
        </p:txBody>
      </p:sp>
      <p:sp>
        <p:nvSpPr>
          <p:cNvPr id="125" name="Page number"/>
          <p:cNvSpPr txBox="1"/>
          <p:nvPr/>
        </p:nvSpPr>
        <p:spPr>
          <a:xfrm>
            <a:off x="10953750" y="655320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06</a:t>
            </a: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26" name="Section kicker"/>
          <p:cNvSpPr txBox="1"/>
          <p:nvPr/>
        </p:nvSpPr>
        <p:spPr>
          <a:xfrm>
            <a:off x="609600" y="45720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AGENT WORKFLOW</a:t>
            </a:r>
            <a:endParaRPr lang="en-GB"/>
          </a:p>
        </p:txBody>
      </p:sp>
      <p:sp>
        <p:nvSpPr>
          <p:cNvPr id="127" name="Slide title"/>
          <p:cNvSpPr txBox="1"/>
          <p:nvPr/>
        </p:nvSpPr>
        <p:spPr>
          <a:xfrm>
            <a:off x="609600" y="74295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3400" b="1" i="0" kern="1200">
                <a:solidFill>
                  <a:srgbClr val="17212B"/>
                </a:solidFill>
                <a:latin typeface="Arial"/>
              </a:rPr>
              <a:t>CodeBuddy in the build loop</a:t>
            </a:r>
            <a:endParaRPr lang="en-GB"/>
          </a:p>
        </p:txBody>
      </p:sp>
      <p:sp>
        <p:nvSpPr>
          <p:cNvPr id="128" name="Slide subtitle"/>
          <p:cNvSpPr txBox="1"/>
          <p:nvPr/>
        </p:nvSpPr>
        <p:spPr>
          <a:xfrm>
            <a:off x="609600" y="1381125"/>
            <a:ext cx="9620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CodeBuddy supported the same development rhythm we would expect in a production engineering team.</a:t>
            </a:r>
            <a:endParaRPr lang="en-GB"/>
          </a:p>
        </p:txBody>
      </p:sp>
      <p:sp>
        <p:nvSpPr>
          <p:cNvPr id="129" name="Coding premise"/>
          <p:cNvSpPr txBox="1"/>
          <p:nvPr/>
        </p:nvSpPr>
        <p:spPr>
          <a:xfrm>
            <a:off x="609600" y="22098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2400" b="1" i="0" kern="1200">
                <a:solidFill>
                  <a:srgbClr val="17212B"/>
                </a:solidFill>
                <a:latin typeface="Arial"/>
              </a:rPr>
              <a:t>From specification to working demo</a:t>
            </a:r>
            <a:endParaRPr lang="en-GB"/>
          </a:p>
        </p:txBody>
      </p:sp>
      <p:sp>
        <p:nvSpPr>
          <p:cNvPr id="130" name="Coding stage 1"/>
          <p:cNvSpPr txBox="1"/>
          <p:nvPr/>
        </p:nvSpPr>
        <p:spPr>
          <a:xfrm>
            <a:off x="609600" y="2857500"/>
            <a:ext cx="21145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1" i="0" kern="1200">
                <a:solidFill>
                  <a:srgbClr val="315EFB"/>
                </a:solidFill>
                <a:latin typeface="Arial"/>
              </a:rPr>
              <a:t>01  Read the specification</a:t>
            </a:r>
            <a:endParaRPr lang="en-GB"/>
          </a:p>
        </p:txBody>
      </p:sp>
      <p:sp>
        <p:nvSpPr>
          <p:cNvPr id="131" name="Coding detail 1"/>
          <p:cNvSpPr txBox="1"/>
          <p:nvPr/>
        </p:nvSpPr>
        <p:spPr>
          <a:xfrm>
            <a:off x="3124200" y="2857500"/>
            <a:ext cx="64293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400" b="0" i="0" kern="1200">
                <a:solidFill>
                  <a:srgbClr val="596675"/>
                </a:solidFill>
                <a:latin typeface="Arial"/>
              </a:rPr>
              <a:t>Mapped the security requirements into the frontend, API, worker and audit responsibilities.</a:t>
            </a:r>
            <a:endParaRPr lang="en-GB"/>
          </a:p>
        </p:txBody>
      </p:sp>
      <p:sp>
        <p:nvSpPr>
          <p:cNvPr id="132" name="Coding rule 1"/>
          <p:cNvSpPr/>
          <p:nvPr/>
        </p:nvSpPr>
        <p:spPr>
          <a:xfrm>
            <a:off x="609600" y="3352800"/>
            <a:ext cx="89535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133" name="Coding stage 2"/>
          <p:cNvSpPr txBox="1"/>
          <p:nvPr/>
        </p:nvSpPr>
        <p:spPr>
          <a:xfrm>
            <a:off x="609600" y="3552825"/>
            <a:ext cx="21145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1" i="0" kern="1200">
                <a:solidFill>
                  <a:srgbClr val="315EFB"/>
                </a:solidFill>
                <a:latin typeface="Arial"/>
              </a:rPr>
              <a:t>02  Implement in slices</a:t>
            </a:r>
            <a:endParaRPr lang="en-GB"/>
          </a:p>
        </p:txBody>
      </p:sp>
      <p:sp>
        <p:nvSpPr>
          <p:cNvPr id="134" name="Coding detail 2"/>
          <p:cNvSpPr txBox="1"/>
          <p:nvPr/>
        </p:nvSpPr>
        <p:spPr>
          <a:xfrm>
            <a:off x="3124200" y="3552825"/>
            <a:ext cx="64293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400" b="0" i="0" kern="1200">
                <a:solidFill>
                  <a:srgbClr val="596675"/>
                </a:solidFill>
                <a:latin typeface="Arial"/>
              </a:rPr>
              <a:t>Used the agent to draft and refine focused changes rather than attempting the whole system at once.</a:t>
            </a:r>
            <a:endParaRPr lang="en-GB"/>
          </a:p>
        </p:txBody>
      </p:sp>
      <p:sp>
        <p:nvSpPr>
          <p:cNvPr id="135" name="Coding rule 2"/>
          <p:cNvSpPr/>
          <p:nvPr/>
        </p:nvSpPr>
        <p:spPr>
          <a:xfrm>
            <a:off x="609600" y="4048125"/>
            <a:ext cx="89535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136" name="Coding stage 3"/>
          <p:cNvSpPr txBox="1"/>
          <p:nvPr/>
        </p:nvSpPr>
        <p:spPr>
          <a:xfrm>
            <a:off x="609600" y="4248150"/>
            <a:ext cx="21145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1" i="0" kern="1200">
                <a:solidFill>
                  <a:srgbClr val="315EFB"/>
                </a:solidFill>
                <a:latin typeface="Arial"/>
              </a:rPr>
              <a:t>03  Review and debug</a:t>
            </a:r>
            <a:endParaRPr lang="en-GB"/>
          </a:p>
        </p:txBody>
      </p:sp>
      <p:sp>
        <p:nvSpPr>
          <p:cNvPr id="137" name="Coding detail 3"/>
          <p:cNvSpPr txBox="1"/>
          <p:nvPr/>
        </p:nvSpPr>
        <p:spPr>
          <a:xfrm>
            <a:off x="3124200" y="4248150"/>
            <a:ext cx="64293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400" b="0" i="0" kern="1200">
                <a:solidFill>
                  <a:srgbClr val="596675"/>
                </a:solidFill>
                <a:latin typeface="Arial"/>
              </a:rPr>
              <a:t>Used targeted tests and code review to check query stages, citations and fail-closed behaviour.</a:t>
            </a:r>
            <a:endParaRPr lang="en-GB"/>
          </a:p>
        </p:txBody>
      </p:sp>
      <p:sp>
        <p:nvSpPr>
          <p:cNvPr id="138" name="Coding rule 3"/>
          <p:cNvSpPr/>
          <p:nvPr/>
        </p:nvSpPr>
        <p:spPr>
          <a:xfrm>
            <a:off x="609600" y="4743450"/>
            <a:ext cx="89535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139" name="Coding stage 4"/>
          <p:cNvSpPr txBox="1"/>
          <p:nvPr/>
        </p:nvSpPr>
        <p:spPr>
          <a:xfrm>
            <a:off x="609600" y="4943475"/>
            <a:ext cx="21145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1" i="0" kern="1200">
                <a:solidFill>
                  <a:srgbClr val="315EFB"/>
                </a:solidFill>
                <a:latin typeface="Arial"/>
              </a:rPr>
              <a:t>04  Prepare the demo</a:t>
            </a:r>
            <a:endParaRPr lang="en-GB"/>
          </a:p>
        </p:txBody>
      </p:sp>
      <p:sp>
        <p:nvSpPr>
          <p:cNvPr id="140" name="Coding detail 4"/>
          <p:cNvSpPr txBox="1"/>
          <p:nvPr/>
        </p:nvSpPr>
        <p:spPr>
          <a:xfrm>
            <a:off x="3124200" y="4943475"/>
            <a:ext cx="64293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400" b="0" i="0" kern="1200">
                <a:solidFill>
                  <a:srgbClr val="596675"/>
                </a:solidFill>
                <a:latin typeface="Arial"/>
              </a:rPr>
              <a:t>Turned the live scenarios into a repeatable walkthrough and a clear presenter script.</a:t>
            </a:r>
            <a:endParaRPr lang="en-GB"/>
          </a:p>
        </p:txBody>
      </p:sp>
      <p:sp>
        <p:nvSpPr>
          <p:cNvPr id="141" name="Coding rule 4"/>
          <p:cNvSpPr/>
          <p:nvPr/>
        </p:nvSpPr>
        <p:spPr>
          <a:xfrm>
            <a:off x="609600" y="5438775"/>
            <a:ext cx="89535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142" name="Human review surface"/>
          <p:cNvSpPr/>
          <p:nvPr/>
        </p:nvSpPr>
        <p:spPr>
          <a:xfrm>
            <a:off x="9696450" y="2190750"/>
            <a:ext cx="1428750" cy="247650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9D6FF"/>
            </a:solidFill>
            <a:prstDash val="solid"/>
          </a:ln>
        </p:spPr>
        <p:txBody>
          <a:bodyPr/>
          <a:lstStyle/>
          <a:p/>
        </p:txBody>
      </p:sp>
      <p:sp>
        <p:nvSpPr>
          <p:cNvPr id="143" name="Human review label"/>
          <p:cNvSpPr txBox="1"/>
          <p:nvPr/>
        </p:nvSpPr>
        <p:spPr>
          <a:xfrm>
            <a:off x="9877425" y="2476500"/>
            <a:ext cx="10668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en-GB" sz="1400" b="1" i="0" kern="1200">
                <a:solidFill>
                  <a:srgbClr val="315EFB"/>
                </a:solidFill>
                <a:latin typeface="Arial"/>
              </a:rPr>
              <a:t>Human judgement</a:t>
            </a:r>
            <a:endParaRPr lang="en-GB"/>
          </a:p>
        </p:txBody>
      </p:sp>
      <p:sp>
        <p:nvSpPr>
          <p:cNvPr id="144" name="Human review text"/>
          <p:cNvSpPr txBox="1"/>
          <p:nvPr/>
        </p:nvSpPr>
        <p:spPr>
          <a:xfrm>
            <a:off x="9848850" y="3067050"/>
            <a:ext cx="112395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en-GB" sz="1300" b="0" i="0" kern="1200">
                <a:solidFill>
                  <a:srgbClr val="364453"/>
                </a:solidFill>
                <a:latin typeface="Arial"/>
              </a:rPr>
              <a:t>The team made the final product choices and validated the observed behaviour.</a:t>
            </a:r>
            <a:endParaRPr lang="en-GB"/>
          </a:p>
        </p:txBody>
      </p:sp>
      <p:sp>
        <p:nvSpPr>
          <p:cNvPr id="145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146" name="Footer label"/>
          <p:cNvSpPr txBox="1"/>
          <p:nvPr/>
        </p:nvSpPr>
        <p:spPr>
          <a:xfrm>
            <a:off x="609600" y="65532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relay  ·  Tencent Hackathon demo</a:t>
            </a:r>
            <a:endParaRPr lang="en-GB"/>
          </a:p>
        </p:txBody>
      </p:sp>
      <p:sp>
        <p:nvSpPr>
          <p:cNvPr id="147" name="Page number"/>
          <p:cNvSpPr txBox="1"/>
          <p:nvPr/>
        </p:nvSpPr>
        <p:spPr>
          <a:xfrm>
            <a:off x="10953750" y="655320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07</a:t>
            </a: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48" name="Section kicker"/>
          <p:cNvSpPr txBox="1"/>
          <p:nvPr/>
        </p:nvSpPr>
        <p:spPr>
          <a:xfrm>
            <a:off x="609600" y="457200"/>
            <a:ext cx="72390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REFLECTION</a:t>
            </a:r>
            <a:endParaRPr lang="en-GB"/>
          </a:p>
        </p:txBody>
      </p:sp>
      <p:sp>
        <p:nvSpPr>
          <p:cNvPr id="149" name="Slide title"/>
          <p:cNvSpPr txBox="1"/>
          <p:nvPr/>
        </p:nvSpPr>
        <p:spPr>
          <a:xfrm>
            <a:off x="609600" y="742950"/>
            <a:ext cx="1000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3400" b="1" i="0" kern="1200">
                <a:solidFill>
                  <a:srgbClr val="17212B"/>
                </a:solidFill>
                <a:latin typeface="Arial"/>
              </a:rPr>
              <a:t>What we learned</a:t>
            </a:r>
            <a:endParaRPr lang="en-GB"/>
          </a:p>
        </p:txBody>
      </p:sp>
      <p:sp>
        <p:nvSpPr>
          <p:cNvPr id="150" name="Slide subtitle"/>
          <p:cNvSpPr txBox="1"/>
          <p:nvPr/>
        </p:nvSpPr>
        <p:spPr>
          <a:xfrm>
            <a:off x="609600" y="1381125"/>
            <a:ext cx="96202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687583"/>
                </a:solidFill>
                <a:latin typeface="Arial"/>
              </a:rPr>
              <a:t>Relay made the project’s central trade-off visible: useful answers must also be trustworthy answers.</a:t>
            </a:r>
            <a:endParaRPr lang="en-GB"/>
          </a:p>
        </p:txBody>
      </p:sp>
      <p:sp>
        <p:nvSpPr>
          <p:cNvPr id="151" name="Reflection takeaway"/>
          <p:cNvSpPr txBox="1"/>
          <p:nvPr/>
        </p:nvSpPr>
        <p:spPr>
          <a:xfrm>
            <a:off x="609600" y="2324100"/>
            <a:ext cx="5715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3000" b="1" i="0" kern="1200">
                <a:solidFill>
                  <a:srgbClr val="17212B"/>
                </a:solidFill>
                <a:latin typeface="Arial"/>
              </a:rPr>
              <a:t>Authorisation cannot be a filter after search. It has to be part of the retrieval system itself.</a:t>
            </a:r>
            <a:endParaRPr lang="en-GB"/>
          </a:p>
        </p:txBody>
      </p:sp>
      <p:sp>
        <p:nvSpPr>
          <p:cNvPr id="152" name="Reflection keyline"/>
          <p:cNvSpPr/>
          <p:nvPr/>
        </p:nvSpPr>
        <p:spPr>
          <a:xfrm>
            <a:off x="609600" y="3667125"/>
            <a:ext cx="4800600" cy="19050"/>
          </a:xfrm>
          <a:prstGeom prst="rect">
            <a:avLst/>
          </a:prstGeom>
          <a:solidFill>
            <a:srgbClr val="315EFB"/>
          </a:solidFill>
          <a:ln w="9525">
            <a:solidFill>
              <a:srgbClr val="315EFB"/>
            </a:solidFill>
            <a:prstDash val="solid"/>
          </a:ln>
        </p:spPr>
        <p:txBody>
          <a:bodyPr/>
          <a:lstStyle/>
          <a:p/>
        </p:txBody>
      </p:sp>
      <p:sp>
        <p:nvSpPr>
          <p:cNvPr id="153" name="Product label"/>
          <p:cNvSpPr txBox="1"/>
          <p:nvPr/>
        </p:nvSpPr>
        <p:spPr>
          <a:xfrm>
            <a:off x="609600" y="40005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PRODUCT</a:t>
            </a:r>
            <a:endParaRPr lang="en-GB"/>
          </a:p>
        </p:txBody>
      </p:sp>
      <p:sp>
        <p:nvSpPr>
          <p:cNvPr id="154" name="Product copy"/>
          <p:cNvSpPr txBox="1"/>
          <p:nvPr/>
        </p:nvSpPr>
        <p:spPr>
          <a:xfrm>
            <a:off x="609600" y="4267200"/>
            <a:ext cx="3048000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0" i="0" kern="1200">
                <a:solidFill>
                  <a:srgbClr val="273341"/>
                </a:solidFill>
                <a:latin typeface="Arial"/>
              </a:rPr>
              <a:t>Citations make answers easier to verify and safer to share.</a:t>
            </a:r>
            <a:endParaRPr lang="en-GB"/>
          </a:p>
        </p:txBody>
      </p:sp>
      <p:sp>
        <p:nvSpPr>
          <p:cNvPr id="155" name="Engineering label"/>
          <p:cNvSpPr txBox="1"/>
          <p:nvPr/>
        </p:nvSpPr>
        <p:spPr>
          <a:xfrm>
            <a:off x="4095750" y="40005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0E9F82"/>
                </a:solidFill>
                <a:latin typeface="Arial"/>
              </a:rPr>
              <a:t>ENGINEERING</a:t>
            </a:r>
            <a:endParaRPr lang="en-GB"/>
          </a:p>
        </p:txBody>
      </p:sp>
      <p:sp>
        <p:nvSpPr>
          <p:cNvPr id="156" name="Engineering copy"/>
          <p:cNvSpPr txBox="1"/>
          <p:nvPr/>
        </p:nvSpPr>
        <p:spPr>
          <a:xfrm>
            <a:off x="4095750" y="4267200"/>
            <a:ext cx="3048000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0" i="0" kern="1200">
                <a:solidFill>
                  <a:srgbClr val="273341"/>
                </a:solidFill>
                <a:latin typeface="Arial"/>
              </a:rPr>
              <a:t>Live permission checks protect against stale access and leakage.</a:t>
            </a:r>
            <a:endParaRPr lang="en-GB"/>
          </a:p>
        </p:txBody>
      </p:sp>
      <p:sp>
        <p:nvSpPr>
          <p:cNvPr id="157" name="Process label"/>
          <p:cNvSpPr txBox="1"/>
          <p:nvPr/>
        </p:nvSpPr>
        <p:spPr>
          <a:xfrm>
            <a:off x="7581900" y="4000500"/>
            <a:ext cx="34766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100" b="1" i="0" kern="1200">
                <a:solidFill>
                  <a:srgbClr val="315EFB"/>
                </a:solidFill>
                <a:latin typeface="Arial"/>
              </a:rPr>
              <a:t>PROCESS</a:t>
            </a:r>
            <a:endParaRPr lang="en-GB"/>
          </a:p>
        </p:txBody>
      </p:sp>
      <p:sp>
        <p:nvSpPr>
          <p:cNvPr id="158" name="Process copy"/>
          <p:cNvSpPr txBox="1"/>
          <p:nvPr/>
        </p:nvSpPr>
        <p:spPr>
          <a:xfrm>
            <a:off x="7581900" y="4267200"/>
            <a:ext cx="3476625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700" b="0" i="0" kern="1200">
                <a:solidFill>
                  <a:srgbClr val="273341"/>
                </a:solidFill>
                <a:latin typeface="Arial"/>
              </a:rPr>
              <a:t>Agent feedback helped us turn a large brief into concrete work and repeatable scenarios.</a:t>
            </a:r>
            <a:endParaRPr lang="en-GB"/>
          </a:p>
        </p:txBody>
      </p:sp>
      <p:sp>
        <p:nvSpPr>
          <p:cNvPr id="159" name="Next steps"/>
          <p:cNvSpPr txBox="1"/>
          <p:nvPr/>
        </p:nvSpPr>
        <p:spPr>
          <a:xfrm>
            <a:off x="609600" y="567690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500" b="0" i="0" kern="1200">
                <a:solidFill>
                  <a:srgbClr val="596675"/>
                </a:solidFill>
                <a:latin typeface="Arial"/>
              </a:rPr>
              <a:t>Next: extend the live corpus, exercise more provider edge cases and keep measuring the permission boundary.</a:t>
            </a:r>
            <a:endParaRPr lang="en-GB"/>
          </a:p>
        </p:txBody>
      </p:sp>
      <p:sp>
        <p:nvSpPr>
          <p:cNvPr id="160" name="Rule"/>
          <p:cNvSpPr/>
          <p:nvPr/>
        </p:nvSpPr>
        <p:spPr>
          <a:xfrm>
            <a:off x="609600" y="6438900"/>
            <a:ext cx="10972800" cy="9525"/>
          </a:xfrm>
          <a:prstGeom prst="rect">
            <a:avLst/>
          </a:prstGeom>
          <a:solidFill>
            <a:srgbClr val="E4E8ED"/>
          </a:solidFill>
          <a:ln w="9525">
            <a:solidFill>
              <a:srgbClr val="E4E8ED"/>
            </a:solidFill>
            <a:prstDash val="solid"/>
          </a:ln>
        </p:spPr>
        <p:txBody>
          <a:bodyPr/>
          <a:lstStyle/>
          <a:p/>
        </p:txBody>
      </p:sp>
      <p:sp>
        <p:nvSpPr>
          <p:cNvPr id="161" name="Footer label"/>
          <p:cNvSpPr txBox="1"/>
          <p:nvPr/>
        </p:nvSpPr>
        <p:spPr>
          <a:xfrm>
            <a:off x="609600" y="6553200"/>
            <a:ext cx="4095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relay  ·  Tencent Hackathon demo</a:t>
            </a:r>
            <a:endParaRPr lang="en-GB"/>
          </a:p>
        </p:txBody>
      </p:sp>
      <p:sp>
        <p:nvSpPr>
          <p:cNvPr id="162" name="Page number"/>
          <p:cNvSpPr txBox="1"/>
          <p:nvPr/>
        </p:nvSpPr>
        <p:spPr>
          <a:xfrm>
            <a:off x="10953750" y="655320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en-GB" sz="1000" b="0" i="0" kern="1200">
                <a:solidFill>
                  <a:srgbClr val="8A96A3"/>
                </a:solidFill>
                <a:latin typeface="Arial"/>
              </a:rPr>
              <a:t>08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ay">
  <a:themeElements>
    <a:clrScheme name="Relay">
      <a:dk1>
        <a:srgbClr val="17212B"/>
      </a:dk1>
      <a:lt1>
        <a:srgbClr val="F7F8FA"/>
      </a:lt1>
      <a:dk2>
        <a:srgbClr val="273341"/>
      </a:dk2>
      <a:lt2>
        <a:srgbClr val="FFFFFF"/>
      </a:lt2>
      <a:accent1>
        <a:srgbClr val="315EFB"/>
      </a:accent1>
      <a:accent2>
        <a:srgbClr val="0E9F82"/>
      </a:accent2>
      <a:accent3>
        <a:srgbClr val="687583"/>
      </a:accent3>
      <a:accent4>
        <a:srgbClr val="EEF2FF"/>
      </a:accent4>
      <a:accent5>
        <a:srgbClr val="EAF8F4"/>
      </a:accent5>
      <a:accent6>
        <a:srgbClr val="C9D6FF"/>
      </a:accent6>
      <a:hlink>
        <a:srgbClr val="315EFB"/>
      </a:hlink>
      <a:folHlink>
        <a:srgbClr val="244EDB"/>
      </a:folHlink>
    </a:clrScheme>
    <a:fontScheme name="Rela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Relay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100000">
              <a:schemeClr val="phClr">
                <a:lumMod val="105000"/>
                <a:satMod val="103000"/>
                <a:shade val="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0</Notes>
  <HiddenSlides>0</HiddenSlides>
  <MMClips>0</MMClips>
  <ScaleCrop>false</ScaleCrop>
  <Company>Relay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Relay: Five-Minute Project Demo</dc:title>
  <dc:creator>Tencent Hackathon team</dc:creator>
  <dc:language>en-GB</dc:language>
  <dcterms:created xsi:type="dcterms:W3CDTF">2026-10-15T00:00:00Z</dcterms:created>
  <dcterms:modified xsi:type="dcterms:W3CDTF">2026-10-15T00:00:00Z</dcterms:modified>
</cp:coreProperties>
</file>