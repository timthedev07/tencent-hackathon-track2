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5253D7"/>
          </a:solidFill>
          <a:ln w="12700">
            <a:solidFill>
              <a:srgbClr val="5253D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7512" y="557784"/>
            <a:ext cx="356616" cy="356616"/>
          </a:xfrm>
          <a:prstGeom prst="roundRect">
            <a:avLst>
              <a:gd name="adj" fmla="val 25641"/>
            </a:avLst>
          </a:prstGeom>
          <a:solidFill>
            <a:srgbClr val="5253D7"/>
          </a:solidFill>
          <a:ln w="10160">
            <a:solidFill>
              <a:srgbClr val="5253D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" y="64373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8972" y="643738"/>
            <a:ext cx="50292" cy="502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33856" y="56692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21B3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relay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9144000" y="603504"/>
            <a:ext cx="2313432" cy="320040"/>
          </a:xfrm>
          <a:prstGeom prst="roundRect">
            <a:avLst>
              <a:gd name="adj" fmla="val 37143"/>
            </a:avLst>
          </a:prstGeom>
          <a:solidFill>
            <a:srgbClr val="EFF0FF"/>
          </a:solidFill>
          <a:ln w="10160">
            <a:solidFill>
              <a:srgbClr val="EFF0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0" y="617220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TENCENT HACKATHON</a:t>
            </a:r>
            <a:endParaRPr lang="en-US" sz="1070" dirty="0"/>
          </a:p>
        </p:txBody>
      </p:sp>
      <p:sp>
        <p:nvSpPr>
          <p:cNvPr id="9" name="Text 7"/>
          <p:cNvSpPr/>
          <p:nvPr/>
        </p:nvSpPr>
        <p:spPr>
          <a:xfrm>
            <a:off x="749808" y="148132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10" b="1" spc="120" kern="0" dirty="0">
                <a:solidFill>
                  <a:srgbClr val="0B92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ANSWERS. SOURCE PERMISSIONS.</a:t>
            </a:r>
            <a:endParaRPr lang="en-US" sz="1010" dirty="0"/>
          </a:p>
        </p:txBody>
      </p:sp>
      <p:sp>
        <p:nvSpPr>
          <p:cNvPr id="10" name="Text 8"/>
          <p:cNvSpPr/>
          <p:nvPr/>
        </p:nvSpPr>
        <p:spPr>
          <a:xfrm>
            <a:off x="722376" y="1901952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85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Permission-safe answers</a:t>
            </a:r>
            <a:endParaRPr lang="en-US" sz="38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85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across the enterprise</a:t>
            </a:r>
            <a:endParaRPr lang="en-US" sz="3850" dirty="0"/>
          </a:p>
        </p:txBody>
      </p:sp>
      <p:sp>
        <p:nvSpPr>
          <p:cNvPr id="11" name="Shape 9"/>
          <p:cNvSpPr/>
          <p:nvPr/>
        </p:nvSpPr>
        <p:spPr>
          <a:xfrm>
            <a:off x="758952" y="3657600"/>
            <a:ext cx="676656" cy="68580"/>
          </a:xfrm>
          <a:prstGeom prst="rect">
            <a:avLst/>
          </a:prstGeom>
          <a:solidFill>
            <a:srgbClr val="5253D7"/>
          </a:solidFill>
          <a:ln w="12700">
            <a:solidFill>
              <a:srgbClr val="5253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931920"/>
            <a:ext cx="63550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8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five-minute project demo</a:t>
            </a:r>
            <a:endParaRPr lang="en-US" sz="1880" dirty="0"/>
          </a:p>
        </p:txBody>
      </p:sp>
      <p:sp>
        <p:nvSpPr>
          <p:cNvPr id="13" name="Text 11"/>
          <p:cNvSpPr/>
          <p:nvPr/>
        </p:nvSpPr>
        <p:spPr>
          <a:xfrm>
            <a:off x="749808" y="4498848"/>
            <a:ext cx="6172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Cross-platform retrieval with live access checks, grounded citations and a tamper-evident audit trail.</a:t>
            </a:r>
            <a:endParaRPr lang="en-US" sz="1720" dirty="0"/>
          </a:p>
        </p:txBody>
      </p:sp>
      <p:sp>
        <p:nvSpPr>
          <p:cNvPr id="14" name="Shape 12"/>
          <p:cNvSpPr/>
          <p:nvPr/>
        </p:nvSpPr>
        <p:spPr>
          <a:xfrm>
            <a:off x="7818120" y="1536192"/>
            <a:ext cx="3639312" cy="3931920"/>
          </a:xfrm>
          <a:prstGeom prst="roundRect">
            <a:avLst>
              <a:gd name="adj" fmla="val 6030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19872" y="1828800"/>
            <a:ext cx="3035808" cy="466344"/>
          </a:xfrm>
          <a:prstGeom prst="roundRect">
            <a:avLst>
              <a:gd name="adj" fmla="val 33333"/>
            </a:avLst>
          </a:prstGeom>
          <a:solidFill>
            <a:srgbClr val="ECF9F5"/>
          </a:solidFill>
          <a:ln w="10160">
            <a:solidFill>
              <a:srgbClr val="ECF9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84464" y="1965960"/>
            <a:ext cx="118872" cy="118872"/>
          </a:xfrm>
          <a:prstGeom prst="ellipse">
            <a:avLst/>
          </a:prstGeom>
          <a:solidFill>
            <a:srgbClr val="0B927D"/>
          </a:solidFill>
          <a:ln w="12700">
            <a:solidFill>
              <a:srgbClr val="0B927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22208" y="1947672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30" b="1" spc="65" kern="0" dirty="0">
                <a:solidFill>
                  <a:srgbClr val="0B92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RETRIEVAL ACTIVE</a:t>
            </a:r>
            <a:endParaRPr lang="en-US" sz="1130" dirty="0"/>
          </a:p>
        </p:txBody>
      </p:sp>
      <p:sp>
        <p:nvSpPr>
          <p:cNvPr id="18" name="Text 16"/>
          <p:cNvSpPr/>
          <p:nvPr/>
        </p:nvSpPr>
        <p:spPr>
          <a:xfrm>
            <a:off x="8183880" y="2587752"/>
            <a:ext cx="28163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 only use content the asking user can access.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183880" y="4443984"/>
            <a:ext cx="2807208" cy="0"/>
          </a:xfrm>
          <a:prstGeom prst="line">
            <a:avLst/>
          </a:prstGeom>
          <a:noFill/>
          <a:ln w="12700">
            <a:solidFill>
              <a:srgbClr val="E5EA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83880" y="4617720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 remain the source of truth.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49808" y="5971032"/>
            <a:ext cx="10707624" cy="0"/>
          </a:xfrm>
          <a:prstGeom prst="line">
            <a:avLst/>
          </a:prstGeom>
          <a:noFill/>
          <a:ln w="12700">
            <a:solidFill>
              <a:srgbClr val="E5EA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" y="6144768"/>
            <a:ext cx="1399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70" kern="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CONFLUENCE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350008" y="6190488"/>
            <a:ext cx="64008" cy="64008"/>
          </a:xfrm>
          <a:prstGeom prst="ellipse">
            <a:avLst/>
          </a:prstGeom>
          <a:solidFill>
            <a:srgbClr val="5253D7"/>
          </a:solidFill>
          <a:ln w="12700">
            <a:solidFill>
              <a:srgbClr val="5253D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69464" y="6144768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70" kern="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JIRA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383280" y="6190488"/>
            <a:ext cx="64008" cy="64008"/>
          </a:xfrm>
          <a:prstGeom prst="ellipse">
            <a:avLst/>
          </a:prstGeom>
          <a:solidFill>
            <a:srgbClr val="5253D7"/>
          </a:solidFill>
          <a:ln w="12700">
            <a:solidFill>
              <a:srgbClr val="5253D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02736" y="614476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70" kern="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SLACK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17720" y="6190488"/>
            <a:ext cx="64008" cy="64008"/>
          </a:xfrm>
          <a:prstGeom prst="ellipse">
            <a:avLst/>
          </a:prstGeom>
          <a:solidFill>
            <a:srgbClr val="5253D7"/>
          </a:solidFill>
          <a:ln w="12700">
            <a:solidFill>
              <a:srgbClr val="5253D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37176" y="6144768"/>
            <a:ext cx="1545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70" kern="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 DRIVE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027664" y="6153912"/>
            <a:ext cx="411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solidFill>
            <a:srgbClr val="5253D7"/>
          </a:solidFill>
          <a:ln w="12700">
            <a:solidFill>
              <a:srgbClr val="5253D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10" b="1" spc="120" kern="0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OVERVIEW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640080" y="740664"/>
            <a:ext cx="10954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5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Relay</a:t>
            </a:r>
            <a:endParaRPr lang="en-US" sz="2950" dirty="0"/>
          </a:p>
        </p:txBody>
      </p:sp>
      <p:sp>
        <p:nvSpPr>
          <p:cNvPr id="5" name="Text 3"/>
          <p:cNvSpPr/>
          <p:nvPr/>
        </p:nvSpPr>
        <p:spPr>
          <a:xfrm>
            <a:off x="640080" y="1399032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1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answer across the workspace, with the source permissions intact.</a:t>
            </a:r>
            <a:endParaRPr lang="en-US" sz="1410" dirty="0"/>
          </a:p>
        </p:txBody>
      </p:sp>
      <p:sp>
        <p:nvSpPr>
          <p:cNvPr id="6" name="Shape 4"/>
          <p:cNvSpPr/>
          <p:nvPr/>
        </p:nvSpPr>
        <p:spPr>
          <a:xfrm>
            <a:off x="640080" y="6437376"/>
            <a:ext cx="10908792" cy="0"/>
          </a:xfrm>
          <a:prstGeom prst="line">
            <a:avLst/>
          </a:prstGeom>
          <a:noFill/>
          <a:ln w="10160">
            <a:solidFill>
              <a:srgbClr val="E5EA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6528816"/>
            <a:ext cx="5852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relay</a:t>
            </a:r>
            <a:endParaRPr lang="en-US" sz="1040" dirty="0"/>
          </a:p>
        </p:txBody>
      </p:sp>
      <p:sp>
        <p:nvSpPr>
          <p:cNvPr id="8" name="Text 6"/>
          <p:cNvSpPr/>
          <p:nvPr/>
        </p:nvSpPr>
        <p:spPr>
          <a:xfrm>
            <a:off x="1307592" y="652881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 Tencent Hackathon demo</a:t>
            </a:r>
            <a:endParaRPr lang="en-US" sz="970" dirty="0"/>
          </a:p>
        </p:txBody>
      </p:sp>
      <p:sp>
        <p:nvSpPr>
          <p:cNvPr id="9" name="Text 7"/>
          <p:cNvSpPr/>
          <p:nvPr/>
        </p:nvSpPr>
        <p:spPr>
          <a:xfrm>
            <a:off x="11036808" y="651967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029968"/>
            <a:ext cx="5833872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" y="2286000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10" b="1" spc="120" kern="0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010" dirty="0"/>
          </a:p>
        </p:txBody>
      </p:sp>
      <p:sp>
        <p:nvSpPr>
          <p:cNvPr id="12" name="Text 10"/>
          <p:cNvSpPr/>
          <p:nvPr/>
        </p:nvSpPr>
        <p:spPr>
          <a:xfrm>
            <a:off x="877824" y="2715768"/>
            <a:ext cx="53949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lose time reconstructing</a:t>
            </a:r>
            <a:endParaRPr lang="en-US" sz="2200" dirty="0"/>
          </a:p>
          <a:p>
            <a:pPr algn="l"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 across documents,</a:t>
            </a:r>
            <a:endParaRPr lang="en-US" sz="2200" dirty="0"/>
          </a:p>
          <a:p>
            <a:pPr algn="l"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tickets and conversations.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96112" y="4114800"/>
            <a:ext cx="5303520" cy="0"/>
          </a:xfrm>
          <a:prstGeom prst="line">
            <a:avLst/>
          </a:prstGeom>
          <a:noFill/>
          <a:ln w="11430">
            <a:solidFill>
              <a:srgbClr val="E5EA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" y="4315968"/>
            <a:ext cx="53035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2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During an incident, the answer may sit across a Jira issue, Slack thread, Confluence runbook and Drive postmortem. Searching tool by tool slows response and weakens confidence.</a:t>
            </a:r>
            <a:endParaRPr lang="en-US" sz="1420" dirty="0"/>
          </a:p>
        </p:txBody>
      </p:sp>
      <p:sp>
        <p:nvSpPr>
          <p:cNvPr id="15" name="Shape 13"/>
          <p:cNvSpPr/>
          <p:nvPr/>
        </p:nvSpPr>
        <p:spPr>
          <a:xfrm>
            <a:off x="6702552" y="2029968"/>
            <a:ext cx="4846320" cy="1545336"/>
          </a:xfrm>
          <a:prstGeom prst="roundRect">
            <a:avLst>
              <a:gd name="adj" fmla="val 10651"/>
            </a:avLst>
          </a:prstGeom>
          <a:solidFill>
            <a:srgbClr val="EFF0FF"/>
          </a:solidFill>
          <a:ln w="10160">
            <a:solidFill>
              <a:srgbClr val="E1E5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58584" y="2267712"/>
            <a:ext cx="4590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10" b="1" spc="120" kern="0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USERS</a:t>
            </a:r>
            <a:endParaRPr lang="en-US" sz="1010" dirty="0"/>
          </a:p>
        </p:txBody>
      </p:sp>
      <p:sp>
        <p:nvSpPr>
          <p:cNvPr id="17" name="Text 15"/>
          <p:cNvSpPr/>
          <p:nvPr/>
        </p:nvSpPr>
        <p:spPr>
          <a:xfrm>
            <a:off x="6949440" y="2624328"/>
            <a:ext cx="4315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0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Employees who need an answer they can act on, without knowing where the evidence lives.</a:t>
            </a:r>
            <a:endParaRPr lang="en-US" sz="1570" dirty="0"/>
          </a:p>
        </p:txBody>
      </p:sp>
      <p:sp>
        <p:nvSpPr>
          <p:cNvPr id="18" name="Shape 16"/>
          <p:cNvSpPr/>
          <p:nvPr/>
        </p:nvSpPr>
        <p:spPr>
          <a:xfrm>
            <a:off x="6702552" y="3739896"/>
            <a:ext cx="4846320" cy="1581912"/>
          </a:xfrm>
          <a:prstGeom prst="roundRect">
            <a:avLst>
              <a:gd name="adj" fmla="val 10405"/>
            </a:avLst>
          </a:prstGeom>
          <a:solidFill>
            <a:srgbClr val="ECF9F5"/>
          </a:solidFill>
          <a:ln w="10160">
            <a:solidFill>
              <a:srgbClr val="CFEE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58584" y="3968496"/>
            <a:ext cx="4590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10" b="1" spc="120" kern="0" dirty="0">
                <a:solidFill>
                  <a:srgbClr val="0B92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REQUIREMENT</a:t>
            </a:r>
            <a:endParaRPr lang="en-US" sz="1010" dirty="0"/>
          </a:p>
        </p:txBody>
      </p:sp>
      <p:sp>
        <p:nvSpPr>
          <p:cNvPr id="20" name="Text 18"/>
          <p:cNvSpPr/>
          <p:nvPr/>
        </p:nvSpPr>
        <p:spPr>
          <a:xfrm>
            <a:off x="6949440" y="4325112"/>
            <a:ext cx="43342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0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Administrators and compliance teams need to see who asked, what was used and why access was allowed.</a:t>
            </a:r>
            <a:endParaRPr lang="en-US" sz="1570" dirty="0"/>
          </a:p>
        </p:txBody>
      </p:sp>
      <p:sp>
        <p:nvSpPr>
          <p:cNvPr id="21" name="Shape 19"/>
          <p:cNvSpPr/>
          <p:nvPr/>
        </p:nvSpPr>
        <p:spPr>
          <a:xfrm>
            <a:off x="640080" y="5532120"/>
            <a:ext cx="10908792" cy="603504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9536" y="570585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50" kern="0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RELAY CONNECTS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395728" y="5632704"/>
            <a:ext cx="1490472" cy="374904"/>
          </a:xfrm>
          <a:prstGeom prst="roundRect">
            <a:avLst>
              <a:gd name="adj" fmla="val 31707"/>
            </a:avLst>
          </a:prstGeom>
          <a:solidFill>
            <a:srgbClr val="F2F5FA"/>
          </a:solidFill>
          <a:ln w="10160">
            <a:solidFill>
              <a:srgbClr val="F2F5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87168" y="5646420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Confluence</a:t>
            </a:r>
            <a:endParaRPr lang="en-US" sz="1140" dirty="0"/>
          </a:p>
        </p:txBody>
      </p:sp>
      <p:sp>
        <p:nvSpPr>
          <p:cNvPr id="25" name="Shape 23"/>
          <p:cNvSpPr/>
          <p:nvPr/>
        </p:nvSpPr>
        <p:spPr>
          <a:xfrm>
            <a:off x="4069080" y="5632704"/>
            <a:ext cx="731520" cy="374904"/>
          </a:xfrm>
          <a:prstGeom prst="roundRect">
            <a:avLst>
              <a:gd name="adj" fmla="val 31707"/>
            </a:avLst>
          </a:prstGeom>
          <a:solidFill>
            <a:srgbClr val="F2F5FA"/>
          </a:solidFill>
          <a:ln w="10160">
            <a:solidFill>
              <a:srgbClr val="F2F5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60520" y="564642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Jira</a:t>
            </a:r>
            <a:endParaRPr lang="en-US" sz="1140" dirty="0"/>
          </a:p>
        </p:txBody>
      </p:sp>
      <p:sp>
        <p:nvSpPr>
          <p:cNvPr id="27" name="Shape 25"/>
          <p:cNvSpPr/>
          <p:nvPr/>
        </p:nvSpPr>
        <p:spPr>
          <a:xfrm>
            <a:off x="5047488" y="5632704"/>
            <a:ext cx="1042416" cy="374904"/>
          </a:xfrm>
          <a:prstGeom prst="roundRect">
            <a:avLst>
              <a:gd name="adj" fmla="val 31707"/>
            </a:avLst>
          </a:prstGeom>
          <a:solidFill>
            <a:srgbClr val="F2F5FA"/>
          </a:solidFill>
          <a:ln w="10160">
            <a:solidFill>
              <a:srgbClr val="F2F5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38928" y="5646420"/>
            <a:ext cx="859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Slack</a:t>
            </a:r>
            <a:endParaRPr lang="en-US" sz="1140" dirty="0"/>
          </a:p>
        </p:txBody>
      </p:sp>
      <p:sp>
        <p:nvSpPr>
          <p:cNvPr id="29" name="Shape 27"/>
          <p:cNvSpPr/>
          <p:nvPr/>
        </p:nvSpPr>
        <p:spPr>
          <a:xfrm>
            <a:off x="6364224" y="5632704"/>
            <a:ext cx="1508760" cy="374904"/>
          </a:xfrm>
          <a:prstGeom prst="roundRect">
            <a:avLst>
              <a:gd name="adj" fmla="val 31707"/>
            </a:avLst>
          </a:prstGeom>
          <a:solidFill>
            <a:srgbClr val="F2F5FA"/>
          </a:solidFill>
          <a:ln w="10160">
            <a:solidFill>
              <a:srgbClr val="F2F5F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55664" y="564642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 Drive</a:t>
            </a:r>
            <a:endParaRPr lang="en-US" sz="1140" dirty="0"/>
          </a:p>
        </p:txBody>
      </p:sp>
      <p:sp>
        <p:nvSpPr>
          <p:cNvPr id="31" name="Text 29"/>
          <p:cNvSpPr/>
          <p:nvPr/>
        </p:nvSpPr>
        <p:spPr>
          <a:xfrm>
            <a:off x="8247888" y="57150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92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Permissions checked at retrieval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solidFill>
            <a:srgbClr val="5253D7"/>
          </a:solidFill>
          <a:ln w="12700">
            <a:solidFill>
              <a:srgbClr val="5253D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10" b="1" spc="120" kern="0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OVERVIEW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640080" y="740664"/>
            <a:ext cx="10954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5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Ingestion and the knowledge index</a:t>
            </a:r>
            <a:endParaRPr lang="en-US" sz="2950" dirty="0"/>
          </a:p>
        </p:txBody>
      </p:sp>
      <p:sp>
        <p:nvSpPr>
          <p:cNvPr id="5" name="Text 3"/>
          <p:cNvSpPr/>
          <p:nvPr/>
        </p:nvSpPr>
        <p:spPr>
          <a:xfrm>
            <a:off x="640080" y="1399032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1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Retrieval-augmented generation (RAG) grounds each answer in retrieved source evidence.</a:t>
            </a:r>
            <a:endParaRPr lang="en-US" sz="1410" dirty="0"/>
          </a:p>
        </p:txBody>
      </p:sp>
      <p:sp>
        <p:nvSpPr>
          <p:cNvPr id="6" name="Shape 4"/>
          <p:cNvSpPr/>
          <p:nvPr/>
        </p:nvSpPr>
        <p:spPr>
          <a:xfrm>
            <a:off x="640080" y="6437376"/>
            <a:ext cx="10908792" cy="0"/>
          </a:xfrm>
          <a:prstGeom prst="line">
            <a:avLst/>
          </a:prstGeom>
          <a:noFill/>
          <a:ln w="10160">
            <a:solidFill>
              <a:srgbClr val="E5EA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6528816"/>
            <a:ext cx="5852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relay</a:t>
            </a:r>
            <a:endParaRPr lang="en-US" sz="1040" dirty="0"/>
          </a:p>
        </p:txBody>
      </p:sp>
      <p:sp>
        <p:nvSpPr>
          <p:cNvPr id="8" name="Text 6"/>
          <p:cNvSpPr/>
          <p:nvPr/>
        </p:nvSpPr>
        <p:spPr>
          <a:xfrm>
            <a:off x="1307592" y="652881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 Tencent Hackathon demo</a:t>
            </a:r>
            <a:endParaRPr lang="en-US" sz="970" dirty="0"/>
          </a:p>
        </p:txBody>
      </p:sp>
      <p:sp>
        <p:nvSpPr>
          <p:cNvPr id="9" name="Text 7"/>
          <p:cNvSpPr/>
          <p:nvPr/>
        </p:nvSpPr>
        <p:spPr>
          <a:xfrm>
            <a:off x="11036808" y="651967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057400"/>
            <a:ext cx="3511296" cy="3054096"/>
          </a:xfrm>
          <a:prstGeom prst="roundRect">
            <a:avLst>
              <a:gd name="adj" fmla="val 5988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276856"/>
            <a:ext cx="429768" cy="429768"/>
          </a:xfrm>
          <a:prstGeom prst="ellipse">
            <a:avLst/>
          </a:prstGeom>
          <a:solidFill>
            <a:srgbClr val="EFF0FF"/>
          </a:solidFill>
          <a:ln w="12700">
            <a:solidFill>
              <a:srgbClr val="EFF0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340864"/>
            <a:ext cx="4297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2898648"/>
            <a:ext cx="31089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2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and fetch</a:t>
            </a:r>
            <a:endParaRPr lang="en-US" sz="1920" dirty="0"/>
          </a:p>
        </p:txBody>
      </p:sp>
      <p:sp>
        <p:nvSpPr>
          <p:cNvPr id="14" name="Text 12"/>
          <p:cNvSpPr/>
          <p:nvPr/>
        </p:nvSpPr>
        <p:spPr>
          <a:xfrm>
            <a:off x="841248" y="3493008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6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Delegated OAuth links source identities. Celery workers import content and reconcile provider changes.</a:t>
            </a:r>
            <a:endParaRPr lang="en-US" sz="1460" dirty="0"/>
          </a:p>
        </p:txBody>
      </p:sp>
      <p:sp>
        <p:nvSpPr>
          <p:cNvPr id="15" name="Shape 13"/>
          <p:cNvSpPr/>
          <p:nvPr/>
        </p:nvSpPr>
        <p:spPr>
          <a:xfrm>
            <a:off x="4334256" y="2057400"/>
            <a:ext cx="3511296" cy="3054096"/>
          </a:xfrm>
          <a:prstGeom prst="roundRect">
            <a:avLst>
              <a:gd name="adj" fmla="val 5988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35424" y="2276856"/>
            <a:ext cx="429768" cy="429768"/>
          </a:xfrm>
          <a:prstGeom prst="ellipse">
            <a:avLst/>
          </a:prstGeom>
          <a:solidFill>
            <a:srgbClr val="EFF0FF"/>
          </a:solidFill>
          <a:ln w="12700">
            <a:solidFill>
              <a:srgbClr val="EFF0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5424" y="2340864"/>
            <a:ext cx="4297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35424" y="2898648"/>
            <a:ext cx="31089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2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Prepare evidence</a:t>
            </a:r>
            <a:endParaRPr lang="en-US" sz="1920" dirty="0"/>
          </a:p>
        </p:txBody>
      </p:sp>
      <p:sp>
        <p:nvSpPr>
          <p:cNvPr id="19" name="Text 17"/>
          <p:cNvSpPr/>
          <p:nvPr/>
        </p:nvSpPr>
        <p:spPr>
          <a:xfrm>
            <a:off x="4535424" y="3493008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6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Normalise source content, resolve access-control metadata and split text into searchable chunks.</a:t>
            </a:r>
            <a:endParaRPr lang="en-US" sz="1460" dirty="0"/>
          </a:p>
        </p:txBody>
      </p:sp>
      <p:sp>
        <p:nvSpPr>
          <p:cNvPr id="20" name="Shape 18"/>
          <p:cNvSpPr/>
          <p:nvPr/>
        </p:nvSpPr>
        <p:spPr>
          <a:xfrm>
            <a:off x="8037576" y="2057400"/>
            <a:ext cx="3511296" cy="3054096"/>
          </a:xfrm>
          <a:prstGeom prst="roundRect">
            <a:avLst>
              <a:gd name="adj" fmla="val 5988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38744" y="2276856"/>
            <a:ext cx="429768" cy="429768"/>
          </a:xfrm>
          <a:prstGeom prst="ellipse">
            <a:avLst/>
          </a:prstGeom>
          <a:solidFill>
            <a:srgbClr val="EFF0FF"/>
          </a:solidFill>
          <a:ln w="12700">
            <a:solidFill>
              <a:srgbClr val="EFF0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38744" y="2340864"/>
            <a:ext cx="4297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38744" y="2898648"/>
            <a:ext cx="31089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2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Index and activate</a:t>
            </a:r>
            <a:endParaRPr lang="en-US" sz="1920" dirty="0"/>
          </a:p>
        </p:txBody>
      </p:sp>
      <p:sp>
        <p:nvSpPr>
          <p:cNvPr id="24" name="Text 22"/>
          <p:cNvSpPr/>
          <p:nvPr/>
        </p:nvSpPr>
        <p:spPr>
          <a:xfrm>
            <a:off x="8238744" y="3493008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6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embeddings and full-text indexes in PostgreSQL with pgvector. Activate a version only when ready.</a:t>
            </a:r>
            <a:endParaRPr lang="en-US" sz="1460" dirty="0"/>
          </a:p>
        </p:txBody>
      </p:sp>
      <p:sp>
        <p:nvSpPr>
          <p:cNvPr id="25" name="Shape 23"/>
          <p:cNvSpPr/>
          <p:nvPr/>
        </p:nvSpPr>
        <p:spPr>
          <a:xfrm>
            <a:off x="640080" y="5394960"/>
            <a:ext cx="10908792" cy="768096"/>
          </a:xfrm>
          <a:prstGeom prst="roundRect">
            <a:avLst>
              <a:gd name="adj" fmla="val 21429"/>
            </a:avLst>
          </a:prstGeom>
          <a:solidFill>
            <a:srgbClr val="ECF9F5"/>
          </a:solidFill>
          <a:ln w="10160">
            <a:solidFill>
              <a:srgbClr val="D3EB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1248" y="5632704"/>
            <a:ext cx="256032" cy="256032"/>
          </a:xfrm>
          <a:prstGeom prst="ellipse">
            <a:avLst/>
          </a:prstGeom>
          <a:solidFill>
            <a:srgbClr val="0B927D"/>
          </a:solidFill>
          <a:ln w="12700">
            <a:solidFill>
              <a:srgbClr val="0B927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2513" y="5773522"/>
            <a:ext cx="52121" cy="51206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54634" y="5824728"/>
            <a:ext cx="82296" cy="-93269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43584" y="5541264"/>
            <a:ext cx="2770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80" b="1" spc="50" kern="0" dirty="0">
                <a:solidFill>
                  <a:srgbClr val="0B92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FRESHNESS + PROVENANCE</a:t>
            </a:r>
            <a:endParaRPr lang="en-US" sz="1080" dirty="0"/>
          </a:p>
        </p:txBody>
      </p:sp>
      <p:sp>
        <p:nvSpPr>
          <p:cNvPr id="30" name="Text 28"/>
          <p:cNvSpPr/>
          <p:nvPr/>
        </p:nvSpPr>
        <p:spPr>
          <a:xfrm>
            <a:off x="1243584" y="5788152"/>
            <a:ext cx="9784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40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Reconciliation finds changes; immutable revisions preserve provenance. Indexed ACLs narrow candidates, but live provider checks decide access.</a:t>
            </a:r>
            <a:endParaRPr lang="en-US" sz="13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solidFill>
            <a:srgbClr val="5253D7"/>
          </a:solidFill>
          <a:ln w="12700">
            <a:solidFill>
              <a:srgbClr val="5253D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10" b="1" spc="120" kern="0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OVERVIEW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640080" y="740664"/>
            <a:ext cx="10954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5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Permission-safe retrieval and RAG</a:t>
            </a:r>
            <a:endParaRPr lang="en-US" sz="2950" dirty="0"/>
          </a:p>
        </p:txBody>
      </p:sp>
      <p:sp>
        <p:nvSpPr>
          <p:cNvPr id="5" name="Text 3"/>
          <p:cNvSpPr/>
          <p:nvPr/>
        </p:nvSpPr>
        <p:spPr>
          <a:xfrm>
            <a:off x="640080" y="1399032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1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search finds evidence. Live authorisation controls what may enter the answer.</a:t>
            </a:r>
            <a:endParaRPr lang="en-US" sz="1410" dirty="0"/>
          </a:p>
        </p:txBody>
      </p:sp>
      <p:sp>
        <p:nvSpPr>
          <p:cNvPr id="6" name="Shape 4"/>
          <p:cNvSpPr/>
          <p:nvPr/>
        </p:nvSpPr>
        <p:spPr>
          <a:xfrm>
            <a:off x="640080" y="6437376"/>
            <a:ext cx="10908792" cy="0"/>
          </a:xfrm>
          <a:prstGeom prst="line">
            <a:avLst/>
          </a:prstGeom>
          <a:noFill/>
          <a:ln w="10160">
            <a:solidFill>
              <a:srgbClr val="E5EA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6528816"/>
            <a:ext cx="5852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relay</a:t>
            </a:r>
            <a:endParaRPr lang="en-US" sz="1040" dirty="0"/>
          </a:p>
        </p:txBody>
      </p:sp>
      <p:sp>
        <p:nvSpPr>
          <p:cNvPr id="8" name="Text 6"/>
          <p:cNvSpPr/>
          <p:nvPr/>
        </p:nvSpPr>
        <p:spPr>
          <a:xfrm>
            <a:off x="1307592" y="652881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 Tencent Hackathon demo</a:t>
            </a:r>
            <a:endParaRPr lang="en-US" sz="970" dirty="0"/>
          </a:p>
        </p:txBody>
      </p:sp>
      <p:sp>
        <p:nvSpPr>
          <p:cNvPr id="9" name="Text 7"/>
          <p:cNvSpPr/>
          <p:nvPr/>
        </p:nvSpPr>
        <p:spPr>
          <a:xfrm>
            <a:off x="11036808" y="651967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039112"/>
            <a:ext cx="2020824" cy="2990088"/>
          </a:xfrm>
          <a:prstGeom prst="roundRect">
            <a:avLst>
              <a:gd name="adj" fmla="val 8145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3816" y="2240280"/>
            <a:ext cx="521208" cy="338328"/>
          </a:xfrm>
          <a:prstGeom prst="roundRect">
            <a:avLst>
              <a:gd name="adj" fmla="val 35135"/>
            </a:avLst>
          </a:prstGeom>
          <a:solidFill>
            <a:srgbClr val="EFF0FF"/>
          </a:solidFill>
          <a:ln w="10160">
            <a:solidFill>
              <a:srgbClr val="EFF0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5256" y="2253996"/>
            <a:ext cx="338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0" b="1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110" dirty="0"/>
          </a:p>
        </p:txBody>
      </p:sp>
      <p:sp>
        <p:nvSpPr>
          <p:cNvPr id="13" name="Text 11"/>
          <p:cNvSpPr/>
          <p:nvPr/>
        </p:nvSpPr>
        <p:spPr>
          <a:xfrm>
            <a:off x="813816" y="2770632"/>
            <a:ext cx="167335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9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search</a:t>
            </a:r>
            <a:endParaRPr lang="en-US" sz="1690" dirty="0"/>
          </a:p>
        </p:txBody>
      </p:sp>
      <p:sp>
        <p:nvSpPr>
          <p:cNvPr id="14" name="Text 12"/>
          <p:cNvSpPr/>
          <p:nvPr/>
        </p:nvSpPr>
        <p:spPr>
          <a:xfrm>
            <a:off x="813816" y="3483864"/>
            <a:ext cx="167335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75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Vector similarity and full-text search. RRF merges candidate ranks.</a:t>
            </a:r>
            <a:endParaRPr lang="en-US" sz="1375" dirty="0"/>
          </a:p>
        </p:txBody>
      </p:sp>
      <p:sp>
        <p:nvSpPr>
          <p:cNvPr id="15" name="Shape 13"/>
          <p:cNvSpPr/>
          <p:nvPr/>
        </p:nvSpPr>
        <p:spPr>
          <a:xfrm>
            <a:off x="2862072" y="2039112"/>
            <a:ext cx="2020824" cy="2990088"/>
          </a:xfrm>
          <a:prstGeom prst="roundRect">
            <a:avLst>
              <a:gd name="adj" fmla="val 8145"/>
            </a:avLst>
          </a:prstGeom>
          <a:solidFill>
            <a:srgbClr val="F0FBF7"/>
          </a:solidFill>
          <a:ln w="10160">
            <a:solidFill>
              <a:srgbClr val="97D6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35808" y="2240280"/>
            <a:ext cx="521208" cy="338328"/>
          </a:xfrm>
          <a:prstGeom prst="roundRect">
            <a:avLst>
              <a:gd name="adj" fmla="val 35135"/>
            </a:avLst>
          </a:prstGeom>
          <a:solidFill>
            <a:srgbClr val="0B927D"/>
          </a:solidFill>
          <a:ln w="10160">
            <a:solidFill>
              <a:srgbClr val="0B927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27248" y="2253996"/>
            <a:ext cx="338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110" dirty="0"/>
          </a:p>
        </p:txBody>
      </p:sp>
      <p:sp>
        <p:nvSpPr>
          <p:cNvPr id="18" name="Text 16"/>
          <p:cNvSpPr/>
          <p:nvPr/>
        </p:nvSpPr>
        <p:spPr>
          <a:xfrm>
            <a:off x="3035808" y="2770632"/>
            <a:ext cx="167335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9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access</a:t>
            </a:r>
            <a:endParaRPr lang="en-US" sz="1690" dirty="0"/>
          </a:p>
        </p:txBody>
      </p:sp>
      <p:sp>
        <p:nvSpPr>
          <p:cNvPr id="19" name="Text 17"/>
          <p:cNvSpPr/>
          <p:nvPr/>
        </p:nvSpPr>
        <p:spPr>
          <a:xfrm>
            <a:off x="3035808" y="3483864"/>
            <a:ext cx="167335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75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Tenant-scoped identity; delegated provider checks. Uncertain access is denied.</a:t>
            </a:r>
            <a:endParaRPr lang="en-US" sz="1375" dirty="0"/>
          </a:p>
        </p:txBody>
      </p:sp>
      <p:sp>
        <p:nvSpPr>
          <p:cNvPr id="20" name="Shape 18"/>
          <p:cNvSpPr/>
          <p:nvPr/>
        </p:nvSpPr>
        <p:spPr>
          <a:xfrm>
            <a:off x="5084064" y="2039112"/>
            <a:ext cx="2020824" cy="2990088"/>
          </a:xfrm>
          <a:prstGeom prst="roundRect">
            <a:avLst>
              <a:gd name="adj" fmla="val 8145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57800" y="2240280"/>
            <a:ext cx="521208" cy="338328"/>
          </a:xfrm>
          <a:prstGeom prst="roundRect">
            <a:avLst>
              <a:gd name="adj" fmla="val 35135"/>
            </a:avLst>
          </a:prstGeom>
          <a:solidFill>
            <a:srgbClr val="EFF0FF"/>
          </a:solidFill>
          <a:ln w="10160">
            <a:solidFill>
              <a:srgbClr val="EFF0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49240" y="2253996"/>
            <a:ext cx="338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0" b="1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110" dirty="0"/>
          </a:p>
        </p:txBody>
      </p:sp>
      <p:sp>
        <p:nvSpPr>
          <p:cNvPr id="23" name="Text 21"/>
          <p:cNvSpPr/>
          <p:nvPr/>
        </p:nvSpPr>
        <p:spPr>
          <a:xfrm>
            <a:off x="5257800" y="2770632"/>
            <a:ext cx="167335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9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1690" dirty="0"/>
          </a:p>
        </p:txBody>
      </p:sp>
      <p:sp>
        <p:nvSpPr>
          <p:cNvPr id="24" name="Text 22"/>
          <p:cNvSpPr/>
          <p:nvPr/>
        </p:nvSpPr>
        <p:spPr>
          <a:xfrm>
            <a:off x="5257800" y="3483864"/>
            <a:ext cx="167335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75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 permitted text, rerank, then compile evidence IDs within a token budget.</a:t>
            </a:r>
            <a:endParaRPr lang="en-US" sz="1375" dirty="0"/>
          </a:p>
        </p:txBody>
      </p:sp>
      <p:sp>
        <p:nvSpPr>
          <p:cNvPr id="25" name="Shape 23"/>
          <p:cNvSpPr/>
          <p:nvPr/>
        </p:nvSpPr>
        <p:spPr>
          <a:xfrm>
            <a:off x="7306056" y="2039112"/>
            <a:ext cx="2020824" cy="2990088"/>
          </a:xfrm>
          <a:prstGeom prst="roundRect">
            <a:avLst>
              <a:gd name="adj" fmla="val 8145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79792" y="2240280"/>
            <a:ext cx="521208" cy="338328"/>
          </a:xfrm>
          <a:prstGeom prst="roundRect">
            <a:avLst>
              <a:gd name="adj" fmla="val 35135"/>
            </a:avLst>
          </a:prstGeom>
          <a:solidFill>
            <a:srgbClr val="EFF0FF"/>
          </a:solidFill>
          <a:ln w="10160">
            <a:solidFill>
              <a:srgbClr val="EFF0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71232" y="2253996"/>
            <a:ext cx="338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0" b="1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110" dirty="0"/>
          </a:p>
        </p:txBody>
      </p:sp>
      <p:sp>
        <p:nvSpPr>
          <p:cNvPr id="28" name="Text 26"/>
          <p:cNvSpPr/>
          <p:nvPr/>
        </p:nvSpPr>
        <p:spPr>
          <a:xfrm>
            <a:off x="7479792" y="2770632"/>
            <a:ext cx="167335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9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</a:t>
            </a:r>
            <a:endParaRPr lang="en-US" sz="1690" dirty="0"/>
          </a:p>
        </p:txBody>
      </p:sp>
      <p:sp>
        <p:nvSpPr>
          <p:cNvPr id="29" name="Text 27"/>
          <p:cNvSpPr/>
          <p:nvPr/>
        </p:nvSpPr>
        <p:spPr>
          <a:xfrm>
            <a:off x="7479792" y="3483864"/>
            <a:ext cx="167335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75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Treat source text as untrusted data. Attach evidence IDs to answer claims.</a:t>
            </a:r>
            <a:endParaRPr lang="en-US" sz="1375" dirty="0"/>
          </a:p>
        </p:txBody>
      </p:sp>
      <p:sp>
        <p:nvSpPr>
          <p:cNvPr id="30" name="Shape 28"/>
          <p:cNvSpPr/>
          <p:nvPr/>
        </p:nvSpPr>
        <p:spPr>
          <a:xfrm>
            <a:off x="9528048" y="2039112"/>
            <a:ext cx="2020824" cy="2990088"/>
          </a:xfrm>
          <a:prstGeom prst="roundRect">
            <a:avLst>
              <a:gd name="adj" fmla="val 8145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01784" y="2240280"/>
            <a:ext cx="521208" cy="338328"/>
          </a:xfrm>
          <a:prstGeom prst="roundRect">
            <a:avLst>
              <a:gd name="adj" fmla="val 35135"/>
            </a:avLst>
          </a:prstGeom>
          <a:solidFill>
            <a:srgbClr val="EFF0FF"/>
          </a:solidFill>
          <a:ln w="10160">
            <a:solidFill>
              <a:srgbClr val="EFF0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793224" y="2253996"/>
            <a:ext cx="338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0" b="1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110" dirty="0"/>
          </a:p>
        </p:txBody>
      </p:sp>
      <p:sp>
        <p:nvSpPr>
          <p:cNvPr id="33" name="Text 31"/>
          <p:cNvSpPr/>
          <p:nvPr/>
        </p:nvSpPr>
        <p:spPr>
          <a:xfrm>
            <a:off x="9701784" y="2770632"/>
            <a:ext cx="167335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9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+ audit</a:t>
            </a:r>
            <a:endParaRPr lang="en-US" sz="1690" dirty="0"/>
          </a:p>
        </p:txBody>
      </p:sp>
      <p:sp>
        <p:nvSpPr>
          <p:cNvPr id="34" name="Text 32"/>
          <p:cNvSpPr/>
          <p:nvPr/>
        </p:nvSpPr>
        <p:spPr>
          <a:xfrm>
            <a:off x="9701784" y="3483864"/>
            <a:ext cx="167335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75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 references, repair once, then use an extractive fallback if needed.</a:t>
            </a:r>
            <a:endParaRPr lang="en-US" sz="1375" dirty="0"/>
          </a:p>
        </p:txBody>
      </p:sp>
      <p:sp>
        <p:nvSpPr>
          <p:cNvPr id="35" name="Shape 33"/>
          <p:cNvSpPr/>
          <p:nvPr/>
        </p:nvSpPr>
        <p:spPr>
          <a:xfrm>
            <a:off x="640080" y="5266944"/>
            <a:ext cx="10908792" cy="923544"/>
          </a:xfrm>
          <a:prstGeom prst="roundRect">
            <a:avLst>
              <a:gd name="adj" fmla="val 17822"/>
            </a:avLst>
          </a:prstGeom>
          <a:solidFill>
            <a:srgbClr val="EFF0FF"/>
          </a:solidFill>
          <a:ln w="10160">
            <a:solidFill>
              <a:srgbClr val="E0E5F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89904" y="5449824"/>
            <a:ext cx="14630" cy="557784"/>
          </a:xfrm>
          <a:prstGeom prst="rect">
            <a:avLst/>
          </a:prstGeom>
          <a:solidFill>
            <a:srgbClr val="D1D9EF"/>
          </a:solidFill>
          <a:ln w="12700">
            <a:solidFill>
              <a:srgbClr val="D1D9E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5422392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10" b="1" spc="120" kern="0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RESTRICTED TEXT OUT</a:t>
            </a:r>
            <a:endParaRPr lang="en-US" sz="1010" dirty="0"/>
          </a:p>
        </p:txBody>
      </p:sp>
      <p:sp>
        <p:nvSpPr>
          <p:cNvPr id="38" name="Text 36"/>
          <p:cNvSpPr/>
          <p:nvPr/>
        </p:nvSpPr>
        <p:spPr>
          <a:xfrm>
            <a:off x="886968" y="5733288"/>
            <a:ext cx="4901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unauthorised text enters reranking, model context, logs or the browser.</a:t>
            </a:r>
            <a:endParaRPr lang="en-US" sz="1320" dirty="0"/>
          </a:p>
        </p:txBody>
      </p:sp>
      <p:sp>
        <p:nvSpPr>
          <p:cNvPr id="39" name="Text 37"/>
          <p:cNvSpPr/>
          <p:nvPr/>
        </p:nvSpPr>
        <p:spPr>
          <a:xfrm>
            <a:off x="6345936" y="5422392"/>
            <a:ext cx="5202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10" b="1" spc="120" kern="0" dirty="0">
                <a:solidFill>
                  <a:srgbClr val="0B92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BEFORE RELEASE</a:t>
            </a:r>
            <a:endParaRPr lang="en-US" sz="1010" dirty="0"/>
          </a:p>
        </p:txBody>
      </p:sp>
      <p:sp>
        <p:nvSpPr>
          <p:cNvPr id="40" name="Text 38"/>
          <p:cNvSpPr/>
          <p:nvPr/>
        </p:nvSpPr>
        <p:spPr>
          <a:xfrm>
            <a:off x="6345936" y="5733288"/>
            <a:ext cx="4818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10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 SHA-256-chained audit before release; recheck citations when opened. References are not factual proof.</a:t>
            </a:r>
            <a:endParaRPr lang="en-US" sz="131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solidFill>
            <a:srgbClr val="5253D7"/>
          </a:solidFill>
          <a:ln w="12700">
            <a:solidFill>
              <a:srgbClr val="5253D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10" b="1" spc="120" kern="0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WALKTHROUGH DEMO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640080" y="740664"/>
            <a:ext cx="10954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5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question, four sources</a:t>
            </a:r>
            <a:endParaRPr lang="en-US" sz="2950" dirty="0"/>
          </a:p>
        </p:txBody>
      </p:sp>
      <p:sp>
        <p:nvSpPr>
          <p:cNvPr id="5" name="Text 3"/>
          <p:cNvSpPr/>
          <p:nvPr/>
        </p:nvSpPr>
        <p:spPr>
          <a:xfrm>
            <a:off x="640080" y="1399032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1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Switch from slides to the deployed Relay demo for the live proof.</a:t>
            </a:r>
            <a:endParaRPr lang="en-US" sz="1410" dirty="0"/>
          </a:p>
        </p:txBody>
      </p:sp>
      <p:sp>
        <p:nvSpPr>
          <p:cNvPr id="6" name="Shape 4"/>
          <p:cNvSpPr/>
          <p:nvPr/>
        </p:nvSpPr>
        <p:spPr>
          <a:xfrm>
            <a:off x="640080" y="6437376"/>
            <a:ext cx="10908792" cy="0"/>
          </a:xfrm>
          <a:prstGeom prst="line">
            <a:avLst/>
          </a:prstGeom>
          <a:noFill/>
          <a:ln w="10160">
            <a:solidFill>
              <a:srgbClr val="E5EA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6528816"/>
            <a:ext cx="5852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relay</a:t>
            </a:r>
            <a:endParaRPr lang="en-US" sz="1040" dirty="0"/>
          </a:p>
        </p:txBody>
      </p:sp>
      <p:sp>
        <p:nvSpPr>
          <p:cNvPr id="8" name="Text 6"/>
          <p:cNvSpPr/>
          <p:nvPr/>
        </p:nvSpPr>
        <p:spPr>
          <a:xfrm>
            <a:off x="1307592" y="652881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 Tencent Hackathon demo</a:t>
            </a:r>
            <a:endParaRPr lang="en-US" sz="970" dirty="0"/>
          </a:p>
        </p:txBody>
      </p:sp>
      <p:sp>
        <p:nvSpPr>
          <p:cNvPr id="9" name="Text 7"/>
          <p:cNvSpPr/>
          <p:nvPr/>
        </p:nvSpPr>
        <p:spPr>
          <a:xfrm>
            <a:off x="11036808" y="651967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002536"/>
            <a:ext cx="6702552" cy="3593592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27685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10" b="1" spc="120" kern="0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QUESTION</a:t>
            </a:r>
            <a:endParaRPr lang="en-US" sz="1010" dirty="0"/>
          </a:p>
        </p:txBody>
      </p:sp>
      <p:sp>
        <p:nvSpPr>
          <p:cNvPr id="12" name="Text 10"/>
          <p:cNvSpPr/>
          <p:nvPr/>
        </p:nvSpPr>
        <p:spPr>
          <a:xfrm>
            <a:off x="914400" y="2724912"/>
            <a:ext cx="616305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caused the Q3 payment gateway outage, what follow-up was created, what mitigation did the team agree, what does the runbook prescribe, and how many checkout attempts failed? Cite the evidence.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914400" y="5010912"/>
            <a:ext cx="6144768" cy="0"/>
          </a:xfrm>
          <a:prstGeom prst="line">
            <a:avLst/>
          </a:prstGeom>
          <a:noFill/>
          <a:ln w="10160">
            <a:solidFill>
              <a:srgbClr val="E5EA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" y="5239512"/>
            <a:ext cx="118872" cy="118872"/>
          </a:xfrm>
          <a:prstGeom prst="ellipse">
            <a:avLst/>
          </a:prstGeom>
          <a:solidFill>
            <a:srgbClr val="0B927D"/>
          </a:solidFill>
          <a:ln w="12700">
            <a:solidFill>
              <a:srgbClr val="0B927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52144" y="5184648"/>
            <a:ext cx="5769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6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in as Bob and submit this question</a:t>
            </a:r>
            <a:endParaRPr lang="en-US" sz="1360" dirty="0"/>
          </a:p>
        </p:txBody>
      </p:sp>
      <p:sp>
        <p:nvSpPr>
          <p:cNvPr id="16" name="Shape 14"/>
          <p:cNvSpPr/>
          <p:nvPr/>
        </p:nvSpPr>
        <p:spPr>
          <a:xfrm>
            <a:off x="7516368" y="2002536"/>
            <a:ext cx="4032504" cy="3593592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90688" y="2267712"/>
            <a:ext cx="3758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10" b="1" spc="120" kern="0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RECORDING CUES  ·  1:45</a:t>
            </a:r>
            <a:endParaRPr lang="en-US" sz="1010" dirty="0"/>
          </a:p>
        </p:txBody>
      </p:sp>
      <p:sp>
        <p:nvSpPr>
          <p:cNvPr id="18" name="Shape 16"/>
          <p:cNvSpPr/>
          <p:nvPr/>
        </p:nvSpPr>
        <p:spPr>
          <a:xfrm>
            <a:off x="8394192" y="2779776"/>
            <a:ext cx="0" cy="2459736"/>
          </a:xfrm>
          <a:prstGeom prst="line">
            <a:avLst/>
          </a:prstGeom>
          <a:noFill/>
          <a:ln w="20320">
            <a:solidFill>
              <a:srgbClr val="D7DF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16468" y="2784348"/>
            <a:ext cx="155448" cy="155448"/>
          </a:xfrm>
          <a:prstGeom prst="ellipse">
            <a:avLst/>
          </a:prstGeom>
          <a:solidFill>
            <a:srgbClr val="5253D7"/>
          </a:solidFill>
          <a:ln w="12700">
            <a:solidFill>
              <a:srgbClr val="5253D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99832" y="27706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00:00</a:t>
            </a:r>
            <a:endParaRPr lang="en-US" sz="1060" dirty="0"/>
          </a:p>
        </p:txBody>
      </p:sp>
      <p:sp>
        <p:nvSpPr>
          <p:cNvPr id="21" name="Text 19"/>
          <p:cNvSpPr/>
          <p:nvPr/>
        </p:nvSpPr>
        <p:spPr>
          <a:xfrm>
            <a:off x="8668512" y="2697480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20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Relay and show connected sources</a:t>
            </a:r>
            <a:endParaRPr lang="en-US" sz="1220" dirty="0"/>
          </a:p>
        </p:txBody>
      </p:sp>
      <p:sp>
        <p:nvSpPr>
          <p:cNvPr id="22" name="Shape 20"/>
          <p:cNvSpPr/>
          <p:nvPr/>
        </p:nvSpPr>
        <p:spPr>
          <a:xfrm>
            <a:off x="8316468" y="3314700"/>
            <a:ext cx="155448" cy="155448"/>
          </a:xfrm>
          <a:prstGeom prst="ellipse">
            <a:avLst/>
          </a:prstGeom>
          <a:solidFill>
            <a:srgbClr val="5253D7"/>
          </a:solidFill>
          <a:ln w="12700">
            <a:solidFill>
              <a:srgbClr val="5253D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99832" y="330098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00:15</a:t>
            </a:r>
            <a:endParaRPr lang="en-US" sz="1060" dirty="0"/>
          </a:p>
        </p:txBody>
      </p:sp>
      <p:sp>
        <p:nvSpPr>
          <p:cNvPr id="24" name="Text 22"/>
          <p:cNvSpPr/>
          <p:nvPr/>
        </p:nvSpPr>
        <p:spPr>
          <a:xfrm>
            <a:off x="8668512" y="322783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20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Submit question; narrate access checks</a:t>
            </a:r>
            <a:endParaRPr lang="en-US" sz="1220" dirty="0"/>
          </a:p>
        </p:txBody>
      </p:sp>
      <p:sp>
        <p:nvSpPr>
          <p:cNvPr id="25" name="Shape 23"/>
          <p:cNvSpPr/>
          <p:nvPr/>
        </p:nvSpPr>
        <p:spPr>
          <a:xfrm>
            <a:off x="8316468" y="3845052"/>
            <a:ext cx="155448" cy="155448"/>
          </a:xfrm>
          <a:prstGeom prst="ellipse">
            <a:avLst/>
          </a:prstGeom>
          <a:solidFill>
            <a:srgbClr val="5253D7"/>
          </a:solidFill>
          <a:ln w="12700">
            <a:solidFill>
              <a:srgbClr val="5253D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99832" y="38313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00:55</a:t>
            </a:r>
            <a:endParaRPr lang="en-US" sz="1060" dirty="0"/>
          </a:p>
        </p:txBody>
      </p:sp>
      <p:sp>
        <p:nvSpPr>
          <p:cNvPr id="27" name="Text 25"/>
          <p:cNvSpPr/>
          <p:nvPr/>
        </p:nvSpPr>
        <p:spPr>
          <a:xfrm>
            <a:off x="8668512" y="3758184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20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answer and four citations</a:t>
            </a:r>
            <a:endParaRPr lang="en-US" sz="1220" dirty="0"/>
          </a:p>
        </p:txBody>
      </p:sp>
      <p:sp>
        <p:nvSpPr>
          <p:cNvPr id="28" name="Shape 26"/>
          <p:cNvSpPr/>
          <p:nvPr/>
        </p:nvSpPr>
        <p:spPr>
          <a:xfrm>
            <a:off x="8316468" y="4375404"/>
            <a:ext cx="155448" cy="155448"/>
          </a:xfrm>
          <a:prstGeom prst="ellipse">
            <a:avLst/>
          </a:prstGeom>
          <a:solidFill>
            <a:srgbClr val="5253D7"/>
          </a:solidFill>
          <a:ln w="12700">
            <a:solidFill>
              <a:srgbClr val="5253D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99832" y="436168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01:20</a:t>
            </a:r>
            <a:endParaRPr lang="en-US" sz="1060" dirty="0"/>
          </a:p>
        </p:txBody>
      </p:sp>
      <p:sp>
        <p:nvSpPr>
          <p:cNvPr id="30" name="Text 28"/>
          <p:cNvSpPr/>
          <p:nvPr/>
        </p:nvSpPr>
        <p:spPr>
          <a:xfrm>
            <a:off x="8668512" y="4288536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20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citation to reauthorise</a:t>
            </a:r>
            <a:endParaRPr lang="en-US" sz="1220" dirty="0"/>
          </a:p>
        </p:txBody>
      </p:sp>
      <p:sp>
        <p:nvSpPr>
          <p:cNvPr id="31" name="Shape 29"/>
          <p:cNvSpPr/>
          <p:nvPr/>
        </p:nvSpPr>
        <p:spPr>
          <a:xfrm>
            <a:off x="8316468" y="4905756"/>
            <a:ext cx="155448" cy="155448"/>
          </a:xfrm>
          <a:prstGeom prst="ellipse">
            <a:avLst/>
          </a:prstGeom>
          <a:solidFill>
            <a:srgbClr val="0B927D"/>
          </a:solidFill>
          <a:ln w="12700">
            <a:solidFill>
              <a:srgbClr val="0B927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99832" y="48920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0B92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01:30</a:t>
            </a:r>
            <a:endParaRPr lang="en-US" sz="1060" dirty="0"/>
          </a:p>
        </p:txBody>
      </p:sp>
      <p:sp>
        <p:nvSpPr>
          <p:cNvPr id="33" name="Text 31"/>
          <p:cNvSpPr/>
          <p:nvPr/>
        </p:nvSpPr>
        <p:spPr>
          <a:xfrm>
            <a:off x="8668512" y="4818888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20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audit trail as Carol</a:t>
            </a:r>
            <a:endParaRPr lang="en-US" sz="1220" dirty="0"/>
          </a:p>
        </p:txBody>
      </p:sp>
      <p:sp>
        <p:nvSpPr>
          <p:cNvPr id="34" name="Shape 32"/>
          <p:cNvSpPr/>
          <p:nvPr/>
        </p:nvSpPr>
        <p:spPr>
          <a:xfrm>
            <a:off x="640080" y="5779008"/>
            <a:ext cx="10908792" cy="402336"/>
          </a:xfrm>
          <a:prstGeom prst="roundRect">
            <a:avLst>
              <a:gd name="adj" fmla="val 29545"/>
            </a:avLst>
          </a:prstGeom>
          <a:solidFill>
            <a:srgbClr val="ECF9F5"/>
          </a:solidFill>
          <a:ln w="10160">
            <a:solidFill>
              <a:srgbClr val="D0EEE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0392" y="5897880"/>
            <a:ext cx="1170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10" b="1" spc="55" kern="0" dirty="0">
                <a:solidFill>
                  <a:srgbClr val="0B92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PROOF POINTS</a:t>
            </a:r>
            <a:endParaRPr lang="en-US" sz="1010" dirty="0"/>
          </a:p>
        </p:txBody>
      </p:sp>
      <p:sp>
        <p:nvSpPr>
          <p:cNvPr id="36" name="Text 34"/>
          <p:cNvSpPr/>
          <p:nvPr/>
        </p:nvSpPr>
        <p:spPr>
          <a:xfrm>
            <a:off x="2084832" y="5861304"/>
            <a:ext cx="9162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40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Jira cause + follow-up  /  Slack mitigation  /  Confluence runbook  /  Drive impact count  /  Citations + audit</a:t>
            </a:r>
            <a:endParaRPr lang="en-US" sz="11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solidFill>
            <a:srgbClr val="5253D7"/>
          </a:solidFill>
          <a:ln w="12700">
            <a:solidFill>
              <a:srgbClr val="5253D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10" b="1" spc="120" kern="0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WORKFLOW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640080" y="740664"/>
            <a:ext cx="10954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5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WorkBuddy shaped the plan</a:t>
            </a:r>
            <a:endParaRPr lang="en-US" sz="2950" dirty="0"/>
          </a:p>
        </p:txBody>
      </p:sp>
      <p:sp>
        <p:nvSpPr>
          <p:cNvPr id="5" name="Text 3"/>
          <p:cNvSpPr/>
          <p:nvPr/>
        </p:nvSpPr>
        <p:spPr>
          <a:xfrm>
            <a:off x="640080" y="1399032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1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planning agent turned a broad challenge into a demonstrable, testable proposal.</a:t>
            </a:r>
            <a:endParaRPr lang="en-US" sz="1410" dirty="0"/>
          </a:p>
        </p:txBody>
      </p:sp>
      <p:sp>
        <p:nvSpPr>
          <p:cNvPr id="6" name="Shape 4"/>
          <p:cNvSpPr/>
          <p:nvPr/>
        </p:nvSpPr>
        <p:spPr>
          <a:xfrm>
            <a:off x="640080" y="6437376"/>
            <a:ext cx="10908792" cy="0"/>
          </a:xfrm>
          <a:prstGeom prst="line">
            <a:avLst/>
          </a:prstGeom>
          <a:noFill/>
          <a:ln w="10160">
            <a:solidFill>
              <a:srgbClr val="E5EA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6528816"/>
            <a:ext cx="5852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relay</a:t>
            </a:r>
            <a:endParaRPr lang="en-US" sz="1040" dirty="0"/>
          </a:p>
        </p:txBody>
      </p:sp>
      <p:sp>
        <p:nvSpPr>
          <p:cNvPr id="8" name="Text 6"/>
          <p:cNvSpPr/>
          <p:nvPr/>
        </p:nvSpPr>
        <p:spPr>
          <a:xfrm>
            <a:off x="1307592" y="652881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 Tencent Hackathon demo</a:t>
            </a:r>
            <a:endParaRPr lang="en-US" sz="970" dirty="0"/>
          </a:p>
        </p:txBody>
      </p:sp>
      <p:sp>
        <p:nvSpPr>
          <p:cNvPr id="9" name="Text 7"/>
          <p:cNvSpPr/>
          <p:nvPr/>
        </p:nvSpPr>
        <p:spPr>
          <a:xfrm>
            <a:off x="11036808" y="651967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231136"/>
            <a:ext cx="2596896" cy="269748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468880"/>
            <a:ext cx="411480" cy="411480"/>
          </a:xfrm>
          <a:prstGeom prst="ellipse">
            <a:avLst/>
          </a:prstGeom>
          <a:solidFill>
            <a:srgbClr val="EFF0FF"/>
          </a:solidFill>
          <a:ln w="12700">
            <a:solidFill>
              <a:srgbClr val="EFF0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56032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3063240"/>
            <a:ext cx="2194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Initial idea</a:t>
            </a:r>
            <a:endParaRPr lang="en-US" sz="1740" dirty="0"/>
          </a:p>
        </p:txBody>
      </p:sp>
      <p:sp>
        <p:nvSpPr>
          <p:cNvPr id="14" name="Text 12"/>
          <p:cNvSpPr/>
          <p:nvPr/>
        </p:nvSpPr>
        <p:spPr>
          <a:xfrm>
            <a:off x="841248" y="3621024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unified enterprise assistant that could answer across the tools teams already use.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10712" y="2231136"/>
            <a:ext cx="2596896" cy="269748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11880" y="2468880"/>
            <a:ext cx="411480" cy="411480"/>
          </a:xfrm>
          <a:prstGeom prst="ellipse">
            <a:avLst/>
          </a:prstGeom>
          <a:solidFill>
            <a:srgbClr val="EFF0FF"/>
          </a:solidFill>
          <a:ln w="12700">
            <a:solidFill>
              <a:srgbClr val="EFF0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256032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11880" y="3063240"/>
            <a:ext cx="2194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proposal</a:t>
            </a:r>
            <a:endParaRPr lang="en-US" sz="1740" dirty="0"/>
          </a:p>
        </p:txBody>
      </p:sp>
      <p:sp>
        <p:nvSpPr>
          <p:cNvPr id="19" name="Text 17"/>
          <p:cNvSpPr/>
          <p:nvPr/>
        </p:nvSpPr>
        <p:spPr>
          <a:xfrm>
            <a:off x="3611880" y="3621024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drafted the use case, target users, security promise and demo scope with WorkBuddy.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81344" y="2231136"/>
            <a:ext cx="2596896" cy="269748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82512" y="2468880"/>
            <a:ext cx="411480" cy="411480"/>
          </a:xfrm>
          <a:prstGeom prst="ellipse">
            <a:avLst/>
          </a:prstGeom>
          <a:solidFill>
            <a:srgbClr val="EFF0FF"/>
          </a:solidFill>
          <a:ln w="12700">
            <a:solidFill>
              <a:srgbClr val="EFF0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256032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82512" y="3063240"/>
            <a:ext cx="2194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Iterative critique</a:t>
            </a:r>
            <a:endParaRPr lang="en-US" sz="1740" dirty="0"/>
          </a:p>
        </p:txBody>
      </p:sp>
      <p:sp>
        <p:nvSpPr>
          <p:cNvPr id="24" name="Text 22"/>
          <p:cNvSpPr/>
          <p:nvPr/>
        </p:nvSpPr>
        <p:spPr>
          <a:xfrm>
            <a:off x="6382512" y="3621024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asked WorkBuddy to challenge assumptions, clarify the access boundary and expose failure modes.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951976" y="2231136"/>
            <a:ext cx="2596896" cy="269748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53144" y="2468880"/>
            <a:ext cx="411480" cy="411480"/>
          </a:xfrm>
          <a:prstGeom prst="ellipse">
            <a:avLst/>
          </a:prstGeom>
          <a:solidFill>
            <a:srgbClr val="ECF9F5"/>
          </a:solidFill>
          <a:ln w="12700">
            <a:solidFill>
              <a:srgbClr val="ECF9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53144" y="256032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92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153144" y="3063240"/>
            <a:ext cx="2194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Testable plan</a:t>
            </a:r>
            <a:endParaRPr lang="en-US" sz="1740" dirty="0"/>
          </a:p>
        </p:txBody>
      </p:sp>
      <p:sp>
        <p:nvSpPr>
          <p:cNvPr id="29" name="Text 27"/>
          <p:cNvSpPr/>
          <p:nvPr/>
        </p:nvSpPr>
        <p:spPr>
          <a:xfrm>
            <a:off x="9153144" y="3621024"/>
            <a:ext cx="21945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refined the work into cross-source retrieval, denial, revocation, freshness and audit scenarios.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40080" y="5285232"/>
            <a:ext cx="10908792" cy="832104"/>
          </a:xfrm>
          <a:prstGeom prst="roundRect">
            <a:avLst>
              <a:gd name="adj" fmla="val 19780"/>
            </a:avLst>
          </a:prstGeom>
          <a:solidFill>
            <a:srgbClr val="EFF0FF"/>
          </a:solidFill>
          <a:ln w="10160">
            <a:solidFill>
              <a:srgbClr val="E1E5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545896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10" b="1" spc="120" kern="0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OUTCOME · FROM AI SEARCH TO TRUSTWORTHY RETRIEVAL</a:t>
            </a:r>
            <a:endParaRPr lang="en-US" sz="1010" dirty="0"/>
          </a:p>
        </p:txBody>
      </p:sp>
      <p:sp>
        <p:nvSpPr>
          <p:cNvPr id="32" name="Text 30"/>
          <p:cNvSpPr/>
          <p:nvPr/>
        </p:nvSpPr>
        <p:spPr>
          <a:xfrm>
            <a:off x="868680" y="5760720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answer must remain inside the asking user’s permission boundary.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solidFill>
            <a:srgbClr val="5253D7"/>
          </a:solidFill>
          <a:ln w="12700">
            <a:solidFill>
              <a:srgbClr val="5253D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10" b="1" spc="120" kern="0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WORKFLOW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640080" y="740664"/>
            <a:ext cx="10954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5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CodeBuddy in the build loop</a:t>
            </a:r>
            <a:endParaRPr lang="en-US" sz="2950" dirty="0"/>
          </a:p>
        </p:txBody>
      </p:sp>
      <p:sp>
        <p:nvSpPr>
          <p:cNvPr id="5" name="Text 3"/>
          <p:cNvSpPr/>
          <p:nvPr/>
        </p:nvSpPr>
        <p:spPr>
          <a:xfrm>
            <a:off x="640080" y="1399032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1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CodeBuddy supported a disciplined engineering rhythm from specification to demo.</a:t>
            </a:r>
            <a:endParaRPr lang="en-US" sz="1410" dirty="0"/>
          </a:p>
        </p:txBody>
      </p:sp>
      <p:sp>
        <p:nvSpPr>
          <p:cNvPr id="6" name="Shape 4"/>
          <p:cNvSpPr/>
          <p:nvPr/>
        </p:nvSpPr>
        <p:spPr>
          <a:xfrm>
            <a:off x="640080" y="6437376"/>
            <a:ext cx="10908792" cy="0"/>
          </a:xfrm>
          <a:prstGeom prst="line">
            <a:avLst/>
          </a:prstGeom>
          <a:noFill/>
          <a:ln w="10160">
            <a:solidFill>
              <a:srgbClr val="E5EA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6528816"/>
            <a:ext cx="5852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relay</a:t>
            </a:r>
            <a:endParaRPr lang="en-US" sz="1040" dirty="0"/>
          </a:p>
        </p:txBody>
      </p:sp>
      <p:sp>
        <p:nvSpPr>
          <p:cNvPr id="8" name="Text 6"/>
          <p:cNvSpPr/>
          <p:nvPr/>
        </p:nvSpPr>
        <p:spPr>
          <a:xfrm>
            <a:off x="1307592" y="652881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 Tencent Hackathon demo</a:t>
            </a:r>
            <a:endParaRPr lang="en-US" sz="970" dirty="0"/>
          </a:p>
        </p:txBody>
      </p:sp>
      <p:sp>
        <p:nvSpPr>
          <p:cNvPr id="9" name="Text 7"/>
          <p:cNvSpPr/>
          <p:nvPr/>
        </p:nvSpPr>
        <p:spPr>
          <a:xfrm>
            <a:off x="11036808" y="651967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67512" y="19842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10" b="1" spc="120" kern="0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SPECIFICATION TO WORKING DEMO</a:t>
            </a:r>
            <a:endParaRPr lang="en-US" sz="1010" dirty="0"/>
          </a:p>
        </p:txBody>
      </p:sp>
      <p:sp>
        <p:nvSpPr>
          <p:cNvPr id="11" name="Shape 9"/>
          <p:cNvSpPr/>
          <p:nvPr/>
        </p:nvSpPr>
        <p:spPr>
          <a:xfrm>
            <a:off x="640080" y="2395728"/>
            <a:ext cx="8439912" cy="749808"/>
          </a:xfrm>
          <a:prstGeom prst="roundRect">
            <a:avLst>
              <a:gd name="adj" fmla="val 18293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0392" y="2606040"/>
            <a:ext cx="338328" cy="338328"/>
          </a:xfrm>
          <a:prstGeom prst="ellipse">
            <a:avLst/>
          </a:prstGeom>
          <a:solidFill>
            <a:srgbClr val="EFF0FF"/>
          </a:solidFill>
          <a:ln w="12700">
            <a:solidFill>
              <a:srgbClr val="EFF0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2706624"/>
            <a:ext cx="3383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60" dirty="0"/>
          </a:p>
        </p:txBody>
      </p:sp>
      <p:sp>
        <p:nvSpPr>
          <p:cNvPr id="14" name="Text 12"/>
          <p:cNvSpPr/>
          <p:nvPr/>
        </p:nvSpPr>
        <p:spPr>
          <a:xfrm>
            <a:off x="1371600" y="257860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specification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685032" y="2569464"/>
            <a:ext cx="16459" cy="393192"/>
          </a:xfrm>
          <a:prstGeom prst="rect">
            <a:avLst/>
          </a:prstGeom>
          <a:solidFill>
            <a:srgbClr val="E5EAF2"/>
          </a:solidFill>
          <a:ln w="12700">
            <a:solidFill>
              <a:srgbClr val="E5EA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77056" y="2532888"/>
            <a:ext cx="4965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Mapped security requirements to frontend, API, worker and audit responsibilities.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3255264"/>
            <a:ext cx="8439912" cy="749808"/>
          </a:xfrm>
          <a:prstGeom prst="roundRect">
            <a:avLst>
              <a:gd name="adj" fmla="val 18293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0392" y="3465576"/>
            <a:ext cx="338328" cy="338328"/>
          </a:xfrm>
          <a:prstGeom prst="ellipse">
            <a:avLst/>
          </a:prstGeom>
          <a:solidFill>
            <a:srgbClr val="EFF0FF"/>
          </a:solidFill>
          <a:ln w="12700">
            <a:solidFill>
              <a:srgbClr val="EFF0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3566160"/>
            <a:ext cx="3383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60" dirty="0"/>
          </a:p>
        </p:txBody>
      </p:sp>
      <p:sp>
        <p:nvSpPr>
          <p:cNvPr id="20" name="Text 18"/>
          <p:cNvSpPr/>
          <p:nvPr/>
        </p:nvSpPr>
        <p:spPr>
          <a:xfrm>
            <a:off x="1371600" y="343814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 in slices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85032" y="3429000"/>
            <a:ext cx="16459" cy="393192"/>
          </a:xfrm>
          <a:prstGeom prst="rect">
            <a:avLst/>
          </a:prstGeom>
          <a:solidFill>
            <a:srgbClr val="E5EAF2"/>
          </a:solidFill>
          <a:ln w="12700">
            <a:solidFill>
              <a:srgbClr val="E5EA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77056" y="3392424"/>
            <a:ext cx="4965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Drafted and refined focused changes instead of tackling the entire system at once.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40080" y="4114800"/>
            <a:ext cx="8439912" cy="749808"/>
          </a:xfrm>
          <a:prstGeom prst="roundRect">
            <a:avLst>
              <a:gd name="adj" fmla="val 18293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0392" y="4325112"/>
            <a:ext cx="338328" cy="338328"/>
          </a:xfrm>
          <a:prstGeom prst="ellipse">
            <a:avLst/>
          </a:prstGeom>
          <a:solidFill>
            <a:srgbClr val="EFF0FF"/>
          </a:solidFill>
          <a:ln w="12700">
            <a:solidFill>
              <a:srgbClr val="EFF0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" y="4425696"/>
            <a:ext cx="3383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60" dirty="0"/>
          </a:p>
        </p:txBody>
      </p:sp>
      <p:sp>
        <p:nvSpPr>
          <p:cNvPr id="26" name="Text 24"/>
          <p:cNvSpPr/>
          <p:nvPr/>
        </p:nvSpPr>
        <p:spPr>
          <a:xfrm>
            <a:off x="1371600" y="429768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and debug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3685032" y="4288536"/>
            <a:ext cx="16459" cy="393192"/>
          </a:xfrm>
          <a:prstGeom prst="rect">
            <a:avLst/>
          </a:prstGeom>
          <a:solidFill>
            <a:srgbClr val="E5EAF2"/>
          </a:solidFill>
          <a:ln w="12700">
            <a:solidFill>
              <a:srgbClr val="E5EA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877056" y="4251960"/>
            <a:ext cx="4965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targeted tests and code review to check query stages, citations and fail-closed behaviour.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40080" y="4974336"/>
            <a:ext cx="8439912" cy="749808"/>
          </a:xfrm>
          <a:prstGeom prst="roundRect">
            <a:avLst>
              <a:gd name="adj" fmla="val 18293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0392" y="5184648"/>
            <a:ext cx="338328" cy="338328"/>
          </a:xfrm>
          <a:prstGeom prst="ellipse">
            <a:avLst/>
          </a:prstGeom>
          <a:solidFill>
            <a:srgbClr val="EFF0FF"/>
          </a:solidFill>
          <a:ln w="12700">
            <a:solidFill>
              <a:srgbClr val="EFF0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0392" y="5285232"/>
            <a:ext cx="3383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60" dirty="0"/>
          </a:p>
        </p:txBody>
      </p:sp>
      <p:sp>
        <p:nvSpPr>
          <p:cNvPr id="32" name="Text 30"/>
          <p:cNvSpPr/>
          <p:nvPr/>
        </p:nvSpPr>
        <p:spPr>
          <a:xfrm>
            <a:off x="1371600" y="515721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Prepare the demo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3685032" y="5148072"/>
            <a:ext cx="16459" cy="393192"/>
          </a:xfrm>
          <a:prstGeom prst="rect">
            <a:avLst/>
          </a:prstGeom>
          <a:solidFill>
            <a:srgbClr val="E5EAF2"/>
          </a:solidFill>
          <a:ln w="12700">
            <a:solidFill>
              <a:srgbClr val="E5EA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77056" y="5111496"/>
            <a:ext cx="4965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Turned live scenarios into a repeatable walkthrough and presenter script.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9290304" y="2395728"/>
            <a:ext cx="2258568" cy="3630168"/>
          </a:xfrm>
          <a:prstGeom prst="roundRect">
            <a:avLst>
              <a:gd name="adj" fmla="val 7287"/>
            </a:avLst>
          </a:prstGeom>
          <a:solidFill>
            <a:srgbClr val="EFF0FF"/>
          </a:solidFill>
          <a:ln w="10160">
            <a:solidFill>
              <a:srgbClr val="E0E4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564624" y="2706624"/>
            <a:ext cx="420624" cy="420624"/>
          </a:xfrm>
          <a:prstGeom prst="ellipse">
            <a:avLst/>
          </a:prstGeom>
          <a:solidFill>
            <a:srgbClr val="5253D7"/>
          </a:solidFill>
          <a:ln w="12700">
            <a:solidFill>
              <a:srgbClr val="5253D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705442" y="2784348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665208" y="2953512"/>
            <a:ext cx="219456" cy="1097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564624" y="3401568"/>
            <a:ext cx="1764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1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</a:t>
            </a:r>
            <a:endParaRPr lang="en-US" sz="2010" dirty="0"/>
          </a:p>
          <a:p>
            <a:pPr algn="l" indent="0" marL="0">
              <a:buNone/>
            </a:pPr>
            <a:r>
              <a:rPr lang="en-US" sz="201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judgement</a:t>
            </a:r>
            <a:endParaRPr lang="en-US" sz="2010" dirty="0"/>
          </a:p>
        </p:txBody>
      </p:sp>
      <p:sp>
        <p:nvSpPr>
          <p:cNvPr id="40" name="Shape 38"/>
          <p:cNvSpPr/>
          <p:nvPr/>
        </p:nvSpPr>
        <p:spPr>
          <a:xfrm>
            <a:off x="9564624" y="4352544"/>
            <a:ext cx="1691640" cy="0"/>
          </a:xfrm>
          <a:prstGeom prst="line">
            <a:avLst/>
          </a:prstGeom>
          <a:noFill/>
          <a:ln w="11430">
            <a:solidFill>
              <a:srgbClr val="D6DDF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564624" y="4526280"/>
            <a:ext cx="169164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6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team retained final product decisions and validated the observed behaviour.</a:t>
            </a:r>
            <a:endParaRPr lang="en-US" sz="13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0292"/>
          </a:xfrm>
          <a:prstGeom prst="rect">
            <a:avLst/>
          </a:prstGeom>
          <a:solidFill>
            <a:srgbClr val="5253D7"/>
          </a:solidFill>
          <a:ln w="12700">
            <a:solidFill>
              <a:srgbClr val="5253D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93192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10" b="1" spc="120" kern="0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REFLECTION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640080" y="740664"/>
            <a:ext cx="10954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5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learned</a:t>
            </a:r>
            <a:endParaRPr lang="en-US" sz="2950" dirty="0"/>
          </a:p>
        </p:txBody>
      </p:sp>
      <p:sp>
        <p:nvSpPr>
          <p:cNvPr id="5" name="Text 3"/>
          <p:cNvSpPr/>
          <p:nvPr/>
        </p:nvSpPr>
        <p:spPr>
          <a:xfrm>
            <a:off x="640080" y="1399032"/>
            <a:ext cx="10844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1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Relay made the central trade-off visible: useful answers must also be trustworthy.</a:t>
            </a:r>
            <a:endParaRPr lang="en-US" sz="1410" dirty="0"/>
          </a:p>
        </p:txBody>
      </p:sp>
      <p:sp>
        <p:nvSpPr>
          <p:cNvPr id="6" name="Shape 4"/>
          <p:cNvSpPr/>
          <p:nvPr/>
        </p:nvSpPr>
        <p:spPr>
          <a:xfrm>
            <a:off x="640080" y="6437376"/>
            <a:ext cx="10908792" cy="0"/>
          </a:xfrm>
          <a:prstGeom prst="line">
            <a:avLst/>
          </a:prstGeom>
          <a:noFill/>
          <a:ln w="10160">
            <a:solidFill>
              <a:srgbClr val="E5EA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6528816"/>
            <a:ext cx="5852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relay</a:t>
            </a:r>
            <a:endParaRPr lang="en-US" sz="1040" dirty="0"/>
          </a:p>
        </p:txBody>
      </p:sp>
      <p:sp>
        <p:nvSpPr>
          <p:cNvPr id="8" name="Text 6"/>
          <p:cNvSpPr/>
          <p:nvPr/>
        </p:nvSpPr>
        <p:spPr>
          <a:xfrm>
            <a:off x="1307592" y="652881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 Tencent Hackathon demo</a:t>
            </a:r>
            <a:endParaRPr lang="en-US" sz="970" dirty="0"/>
          </a:p>
        </p:txBody>
      </p:sp>
      <p:sp>
        <p:nvSpPr>
          <p:cNvPr id="9" name="Text 7"/>
          <p:cNvSpPr/>
          <p:nvPr/>
        </p:nvSpPr>
        <p:spPr>
          <a:xfrm>
            <a:off x="11036808" y="651967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057400"/>
            <a:ext cx="10908792" cy="1307592"/>
          </a:xfrm>
          <a:prstGeom prst="roundRect">
            <a:avLst>
              <a:gd name="adj" fmla="val 14685"/>
            </a:avLst>
          </a:prstGeom>
          <a:solidFill>
            <a:srgbClr val="EFF0FF"/>
          </a:solidFill>
          <a:ln w="10160">
            <a:solidFill>
              <a:srgbClr val="E0E4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6112" y="2313432"/>
            <a:ext cx="64922" cy="786384"/>
          </a:xfrm>
          <a:prstGeom prst="rect">
            <a:avLst/>
          </a:prstGeom>
          <a:solidFill>
            <a:srgbClr val="5253D7"/>
          </a:solidFill>
          <a:ln w="12700">
            <a:solidFill>
              <a:srgbClr val="5253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4440" y="2276856"/>
            <a:ext cx="9921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1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Authorisation cannot be a filter after search.</a:t>
            </a:r>
            <a:endParaRPr lang="en-US" sz="2410" dirty="0"/>
          </a:p>
          <a:p>
            <a:pPr algn="l" indent="0" marL="0">
              <a:buNone/>
            </a:pPr>
            <a:r>
              <a:rPr lang="en-US" sz="2410" b="1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has to be part of the retrieval system itself.</a:t>
            </a:r>
            <a:endParaRPr lang="en-US" sz="241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3520440" cy="1618488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3959352"/>
            <a:ext cx="73152" cy="228600"/>
          </a:xfrm>
          <a:prstGeom prst="rect">
            <a:avLst/>
          </a:prstGeom>
          <a:solidFill>
            <a:srgbClr val="5253D7"/>
          </a:solidFill>
          <a:ln w="12700">
            <a:solidFill>
              <a:srgbClr val="5253D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986784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10" b="1" spc="67" kern="0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</a:t>
            </a:r>
            <a:endParaRPr lang="en-US" sz="1110" dirty="0"/>
          </a:p>
        </p:txBody>
      </p:sp>
      <p:sp>
        <p:nvSpPr>
          <p:cNvPr id="16" name="Text 14"/>
          <p:cNvSpPr/>
          <p:nvPr/>
        </p:nvSpPr>
        <p:spPr>
          <a:xfrm>
            <a:off x="841248" y="44165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Citations make answers easier to verify and safer to share.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334256" y="3657600"/>
            <a:ext cx="3520440" cy="1618488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35424" y="3959352"/>
            <a:ext cx="73152" cy="228600"/>
          </a:xfrm>
          <a:prstGeom prst="rect">
            <a:avLst/>
          </a:prstGeom>
          <a:solidFill>
            <a:srgbClr val="0B927D"/>
          </a:solidFill>
          <a:ln w="12700">
            <a:solidFill>
              <a:srgbClr val="0B927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45736" y="3986784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10" b="1" spc="67" kern="0" dirty="0">
                <a:solidFill>
                  <a:srgbClr val="0B92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ENGINEERING</a:t>
            </a:r>
            <a:endParaRPr lang="en-US" sz="1110" dirty="0"/>
          </a:p>
        </p:txBody>
      </p:sp>
      <p:sp>
        <p:nvSpPr>
          <p:cNvPr id="20" name="Text 18"/>
          <p:cNvSpPr/>
          <p:nvPr/>
        </p:nvSpPr>
        <p:spPr>
          <a:xfrm>
            <a:off x="4535424" y="44165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permission checks protect against stale access and leakage.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028432" y="3657600"/>
            <a:ext cx="3520440" cy="1618488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0160">
            <a:solidFill>
              <a:srgbClr val="E5EA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0" y="3959352"/>
            <a:ext cx="73152" cy="228600"/>
          </a:xfrm>
          <a:prstGeom prst="rect">
            <a:avLst/>
          </a:prstGeom>
          <a:solidFill>
            <a:srgbClr val="5253D7"/>
          </a:solidFill>
          <a:ln w="12700">
            <a:solidFill>
              <a:srgbClr val="5253D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39912" y="3986784"/>
            <a:ext cx="2697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10" b="1" spc="67" kern="0" dirty="0">
                <a:solidFill>
                  <a:srgbClr val="5253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</a:t>
            </a:r>
            <a:endParaRPr lang="en-US" sz="1110" dirty="0"/>
          </a:p>
        </p:txBody>
      </p:sp>
      <p:sp>
        <p:nvSpPr>
          <p:cNvPr id="24" name="Text 22"/>
          <p:cNvSpPr/>
          <p:nvPr/>
        </p:nvSpPr>
        <p:spPr>
          <a:xfrm>
            <a:off x="8229600" y="44165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feedback turned a large brief into concrete work and repeatable scenarios.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40080" y="5559552"/>
            <a:ext cx="10908792" cy="594360"/>
          </a:xfrm>
          <a:prstGeom prst="roundRect">
            <a:avLst>
              <a:gd name="adj" fmla="val 27692"/>
            </a:avLst>
          </a:prstGeom>
          <a:solidFill>
            <a:srgbClr val="ECF9F5"/>
          </a:solidFill>
          <a:ln w="10160">
            <a:solidFill>
              <a:srgbClr val="D5EEE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575157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70" kern="0" dirty="0">
                <a:solidFill>
                  <a:srgbClr val="0B92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08760" y="5696712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720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Extend the live corpus, exercise more provider edge cases and keep measuring the permission boundary.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Relay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Relay | Permission-safe answers</dc:title>
  <dc:subject>Tencent Hackathon five-minute demo</dc:subject>
  <dc:creator>Relay</dc:creator>
  <cp:lastModifiedBy>Relay</cp:lastModifiedBy>
  <cp:revision>1</cp:revision>
  <dcterms:created xsi:type="dcterms:W3CDTF">2026-10-15T10:02:40Z</dcterms:created>
  <dcterms:modified xsi:type="dcterms:W3CDTF">2026-10-15T10:02:40Z</dcterms:modified>
</cp:coreProperties>
</file>