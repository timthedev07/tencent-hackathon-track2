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d3d114f0ab4f12" /><Relationship Type="http://schemas.openxmlformats.org/officeDocument/2006/relationships/extended-properties" Target="/docProps/app.xml" Id="Rf939554eebca4000" /><Relationship Type="http://schemas.openxmlformats.org/officeDocument/2006/relationships/officeDocument" Target="/ppt/presentation.xml" Id="R0cc21885414140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d032afb6cc40c6"/>
  </p:sldMasterIdLst>
  <p:notesMasterIdLst>
    <p:notesMasterId xmlns:r="http://schemas.openxmlformats.org/officeDocument/2006/relationships" r:id="Rd1166f6b719f4d0c"/>
  </p:notesMasterIdLst>
  <p:sldIdLst>
    <p:sldId xmlns:r="http://schemas.openxmlformats.org/officeDocument/2006/relationships" id="256" r:id="R835fa2b7159446ff"/>
    <p:sldId xmlns:r="http://schemas.openxmlformats.org/officeDocument/2006/relationships" id="257" r:id="R9037e30d4c3b4713"/>
    <p:sldId xmlns:r="http://schemas.openxmlformats.org/officeDocument/2006/relationships" id="258" r:id="Rbaa17cfea75141bb"/>
    <p:sldId xmlns:r="http://schemas.openxmlformats.org/officeDocument/2006/relationships" id="259" r:id="R1b4b2b165e5e48a0"/>
    <p:sldId xmlns:r="http://schemas.openxmlformats.org/officeDocument/2006/relationships" id="260" r:id="R39f17795b2b94f80"/>
    <p:sldId xmlns:r="http://schemas.openxmlformats.org/officeDocument/2006/relationships" id="261" r:id="R0fd64d768b9e49ed"/>
    <p:sldId xmlns:r="http://schemas.openxmlformats.org/officeDocument/2006/relationships" id="262" r:id="R1da39118b9654dfb"/>
    <p:sldId xmlns:r="http://schemas.openxmlformats.org/officeDocument/2006/relationships" id="263" r:id="R7a1714215cff49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fa1e5558484697" /><Relationship Type="http://schemas.openxmlformats.org/officeDocument/2006/relationships/slideMaster" Target="/ppt/slideMasters/slideMaster1.xml" Id="Rc1d032afb6cc40c6" /><Relationship Type="http://schemas.openxmlformats.org/officeDocument/2006/relationships/notesMaster" Target="/ppt/notesMasters/notesMaster1.xml" Id="Rd1166f6b719f4d0c" /><Relationship Type="http://schemas.openxmlformats.org/officeDocument/2006/relationships/presProps" Target="/ppt/presProps.xml" Id="R0d41e1b5c70547f3" /><Relationship Type="http://schemas.openxmlformats.org/officeDocument/2006/relationships/viewProps" Target="/ppt/viewProps.xml" Id="Refc45a99744649a8" /><Relationship Type="http://schemas.openxmlformats.org/officeDocument/2006/relationships/tableStyles" Target="/ppt/tableStyles.xml" Id="R91d2cfc6182440e6" /><Relationship Type="http://schemas.openxmlformats.org/officeDocument/2006/relationships/slide" Target="/ppt/slides/slide1.xml" Id="R835fa2b7159446ff" /><Relationship Type="http://schemas.openxmlformats.org/officeDocument/2006/relationships/slide" Target="/ppt/slides/slide2.xml" Id="R9037e30d4c3b4713" /><Relationship Type="http://schemas.openxmlformats.org/officeDocument/2006/relationships/slide" Target="/ppt/slides/slide3.xml" Id="Rbaa17cfea75141bb" /><Relationship Type="http://schemas.openxmlformats.org/officeDocument/2006/relationships/slide" Target="/ppt/slides/slide4.xml" Id="R1b4b2b165e5e48a0" /><Relationship Type="http://schemas.openxmlformats.org/officeDocument/2006/relationships/slide" Target="/ppt/slides/slide5.xml" Id="R39f17795b2b94f80" /><Relationship Type="http://schemas.openxmlformats.org/officeDocument/2006/relationships/slide" Target="/ppt/slides/slide6.xml" Id="R0fd64d768b9e49ed" /><Relationship Type="http://schemas.openxmlformats.org/officeDocument/2006/relationships/slide" Target="/ppt/slides/slide7.xml" Id="R1da39118b9654dfb" /><Relationship Type="http://schemas.openxmlformats.org/officeDocument/2006/relationships/slide" Target="/ppt/slides/slide8.xml" Id="R7a1714215cff49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537f46694b43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69c13a499b42d9" /><Relationship Type="http://schemas.openxmlformats.org/officeDocument/2006/relationships/notesMaster" Target="/ppt/notesMasters/notesMaster1.xml" Id="R01f28a6ea2d341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57404bf3134ddb" /><Relationship Type="http://schemas.openxmlformats.org/officeDocument/2006/relationships/notesMaster" Target="/ppt/notesMasters/notesMaster1.xml" Id="R9f9d3757970444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25b109b10045f1" /><Relationship Type="http://schemas.openxmlformats.org/officeDocument/2006/relationships/notesMaster" Target="/ppt/notesMasters/notesMaster1.xml" Id="Rf8db1a690ddc48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52a3d34b684aef" /><Relationship Type="http://schemas.openxmlformats.org/officeDocument/2006/relationships/notesMaster" Target="/ppt/notesMasters/notesMaster1.xml" Id="R6031042eaa8749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a1a8e5ec274748" /><Relationship Type="http://schemas.openxmlformats.org/officeDocument/2006/relationships/notesMaster" Target="/ppt/notesMasters/notesMaster1.xml" Id="R8d3ea913c87740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1243f583574574" /><Relationship Type="http://schemas.openxmlformats.org/officeDocument/2006/relationships/notesMaster" Target="/ppt/notesMasters/notesMaster1.xml" Id="Rb9f06111859447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faba72bcfa4cd9" /><Relationship Type="http://schemas.openxmlformats.org/officeDocument/2006/relationships/notesMaster" Target="/ppt/notesMasters/notesMaster1.xml" Id="Ra4070a3e429842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7a961ce8f44cc5" /><Relationship Type="http://schemas.openxmlformats.org/officeDocument/2006/relationships/notesMaster" Target="/ppt/notesMasters/notesMaster1.xml" Id="R5af92c66850645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data_population_plan.md, sections 2.2, 2.3 and 5. This slide describes the planned shared payment-outage corpus, not a live provider ACL report. Alice owns ingestion and can read the shared corpus. Bob can read the shared corpus. Carol has compliance access, but her source access depends on a separate provider grant. The diagram deliberately lists Alice and Bob beneath each source and does not imply that the compliance role grants source access.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3ec73f730a43a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378b6d99ac4ce6" /><Relationship Type="http://schemas.openxmlformats.org/officeDocument/2006/relationships/slideLayout" Target="/ppt/slideLayouts/slideLayout1.xml" Id="Rb9d4f04fbe1b436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d4f04fbe1b436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90e838c524588" /><Relationship Type="http://schemas.openxmlformats.org/officeDocument/2006/relationships/notesSlide" Target="/ppt/notesSlides/notesSlide1.xml" Id="R84253b4fd55e42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99f564aca4163" /><Relationship Type="http://schemas.openxmlformats.org/officeDocument/2006/relationships/notesSlide" Target="/ppt/notesSlides/notesSlide2.xml" Id="R60480622cfcf4f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0d58cf82843cf" /><Relationship Type="http://schemas.openxmlformats.org/officeDocument/2006/relationships/notesSlide" Target="/ppt/notesSlides/notesSlide3.xml" Id="R8bfa0f37b5e349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9f4c7842047f4" /><Relationship Type="http://schemas.openxmlformats.org/officeDocument/2006/relationships/notesSlide" Target="/ppt/notesSlides/notesSlide4.xml" Id="R01ae78f0b3e54f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8393fb3f245a7" /><Relationship Type="http://schemas.openxmlformats.org/officeDocument/2006/relationships/notesSlide" Target="/ppt/notesSlides/notesSlide5.xml" Id="R32f27e98aa4143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e1bfb4eb5460c" /><Relationship Type="http://schemas.openxmlformats.org/officeDocument/2006/relationships/notesSlide" Target="/ppt/notesSlides/notesSlide6.xml" Id="R73eb0f8b366942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672b3df4c484b" /><Relationship Type="http://schemas.openxmlformats.org/officeDocument/2006/relationships/notesSlide" Target="/ppt/notesSlides/notesSlide7.xml" Id="R9f51e7efad7f46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3d5dd8d174ad7" /><Relationship Type="http://schemas.openxmlformats.org/officeDocument/2006/relationships/notesSlide" Target="/ppt/notesSlides/notesSlide8.xml" Id="R85e96a64a2c24b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1A3B8B6-5CD2-4C8D-AFE2-538B10F4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3D7"/>
          </a:solidFill>
          <a:ln xmlns:a="http://schemas.openxmlformats.org/drawingml/2006/main" w="12700">
            <a:solidFill>
              <a:srgbClr val="5253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32EBC2C-7AA6-463B-88E7-EE6F0280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57784"/>
            <a:ext cx="356616" cy="356616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5253D7"/>
          </a:solidFill>
          <a:ln xmlns:a="http://schemas.openxmlformats.org/drawingml/2006/main" w="10160">
            <a:solidFill>
              <a:srgbClr val="5253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769B565-8D54-4D03-8188-7F8429A5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" y="643738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06DC2A1-1161-4994-AC1E-5BEFEC51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" y="643738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A3C3485-10FC-429B-B4FD-E49FDD9E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566928"/>
            <a:ext cx="14630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>
                <a:solidFill>
                  <a:srgbClr val="121B31"/>
                </a:solidFill>
                <a:latin typeface="Inter"/>
                <a:ea typeface="Inter"/>
                <a:cs typeface="Inter"/>
              </a:rPr>
              <a:t>relay</a:t>
            </a:r>
            <a:endParaRPr sz="22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E2B9D91-388B-4C87-B2A3-E9E12D0E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3504"/>
            <a:ext cx="2313432" cy="320040"/>
          </a:xfrm>
          <a:prstGeom xmlns:a="http://schemas.openxmlformats.org/drawingml/2006/main" prst="roundRect">
            <a:avLst>
              <a:gd name="adj" fmla="val 37143"/>
            </a:avLst>
          </a:prstGeom>
          <a:solidFill xmlns:a="http://schemas.openxmlformats.org/drawingml/2006/main">
            <a:srgbClr val="EFF0FF"/>
          </a:solidFill>
          <a:ln xmlns:a="http://schemas.openxmlformats.org/drawingml/2006/main" w="10160">
            <a:solidFill>
              <a:srgbClr val="EF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CA18B2-1FC1-454F-9781-DCFE00FD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617220"/>
            <a:ext cx="213055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7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TENCENT HACKATHON</a:t>
            </a:r>
            <a:endParaRPr sz="107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FE3BC43-9717-4B18-8AF7-38A1631A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481328"/>
            <a:ext cx="9144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10" b="1" spc="120">
                <a:solidFill>
                  <a:srgbClr val="0B927D"/>
                </a:solidFill>
                <a:latin typeface="Inter"/>
                <a:ea typeface="Inter"/>
                <a:cs typeface="Inter"/>
              </a:rPr>
              <a:t>SECURE ANSWERS. SOURCE PERMISSIONS.</a:t>
            </a:r>
            <a:endParaRPr sz="101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1D4AE6A-C79B-4621-9C41-75040F72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1901952"/>
            <a:ext cx="685800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385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Permission-safe answers</a:t>
            </a:r>
            <a:endParaRPr sz="3850"/>
          </a:p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385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across the enterprise</a:t>
            </a:r>
            <a:endParaRPr sz="38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41932E3-87E9-49E0-BAB8-D77BC1FA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657600"/>
            <a:ext cx="676656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3D7"/>
          </a:solidFill>
          <a:ln xmlns:a="http://schemas.openxmlformats.org/drawingml/2006/main" w="12700">
            <a:solidFill>
              <a:srgbClr val="5253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8393FED-15C4-4D69-9654-C2D1AC2F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0"/>
            <a:ext cx="635508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8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A five-minute project demo</a:t>
            </a:r>
            <a:endParaRPr sz="188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41BB61F-5A5D-498A-9237-4D83CE1C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498848"/>
            <a:ext cx="6172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20">
                <a:solidFill>
                  <a:srgbClr val="667085"/>
                </a:solidFill>
                <a:latin typeface="Inter"/>
                <a:ea typeface="Inter"/>
                <a:cs typeface="Inter"/>
              </a:rPr>
              <a:t>Cross-platform retrieval with live access checks, grounded citations and a tamper-evident audit trail.</a:t>
            </a:r>
            <a:endParaRPr sz="17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785F356-00AB-403C-A391-0C9EEE9A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536192"/>
            <a:ext cx="3639312" cy="3931920"/>
          </a:xfrm>
          <a:prstGeom xmlns:a="http://schemas.openxmlformats.org/drawingml/2006/main" prst="roundRect">
            <a:avLst>
              <a:gd name="adj" fmla="val 6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3A299F5-C132-44C4-9323-B8FDC350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828800"/>
            <a:ext cx="3035808" cy="466344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CF9F5"/>
          </a:solidFill>
          <a:ln xmlns:a="http://schemas.openxmlformats.org/drawingml/2006/main" w="10160">
            <a:solidFill>
              <a:srgbClr val="ECF9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80E9B5C-E79F-453E-A3FC-1DC768FA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965960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927D"/>
          </a:solidFill>
          <a:ln xmlns:a="http://schemas.openxmlformats.org/drawingml/2006/main" w="12700">
            <a:solidFill>
              <a:srgbClr val="0B92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C4F2D17-99FB-420B-915B-0C96B634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1947672"/>
            <a:ext cx="234086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30" b="1" spc="65">
                <a:solidFill>
                  <a:srgbClr val="0B927D"/>
                </a:solidFill>
                <a:latin typeface="Inter"/>
                <a:ea typeface="Inter"/>
                <a:cs typeface="Inter"/>
              </a:rPr>
              <a:t>SECURE RETRIEVAL ACTIVE</a:t>
            </a:r>
            <a:endParaRPr sz="113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2EBDA91-3026-42D3-B816-AD2D1E62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587752"/>
            <a:ext cx="2816352" cy="1517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Answers only use content the asking user can access.</a:t>
            </a:r>
            <a:endParaRPr sz="2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0A02809-E7BC-4862-8EC6-310D32D7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443984"/>
            <a:ext cx="28072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7AC56A1-9D41-4944-ABD2-AB99BABB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617720"/>
            <a:ext cx="28346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667085"/>
                </a:solidFill>
                <a:latin typeface="Inter"/>
                <a:ea typeface="Inter"/>
                <a:cs typeface="Inter"/>
              </a:rPr>
              <a:t>Sources remain the source of truth.</a:t>
            </a:r>
            <a:endParaRPr sz="15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770715B-A22E-4E23-AEDE-63773750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971032"/>
            <a:ext cx="10707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96B6182-241A-474B-9D0F-A0B63A75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144768"/>
            <a:ext cx="139903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70">
                <a:solidFill>
                  <a:srgbClr val="667085"/>
                </a:solidFill>
                <a:latin typeface="Inter"/>
                <a:ea typeface="Inter"/>
                <a:cs typeface="Inter"/>
              </a:rPr>
              <a:t>CONFLUENCE</a:t>
            </a:r>
            <a:endParaRPr sz="10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F71E312-4A18-428C-878E-F53F07F0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8" y="6190488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53D7"/>
          </a:solidFill>
          <a:ln xmlns:a="http://schemas.openxmlformats.org/drawingml/2006/main" w="12700">
            <a:solidFill>
              <a:srgbClr val="5253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8168CD7-D694-4B19-99EF-63037A3C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464" y="6144768"/>
            <a:ext cx="66751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70">
                <a:solidFill>
                  <a:srgbClr val="667085"/>
                </a:solidFill>
                <a:latin typeface="Inter"/>
                <a:ea typeface="Inter"/>
                <a:cs typeface="Inter"/>
              </a:rPr>
              <a:t>JIRA</a:t>
            </a:r>
            <a:endParaRPr sz="10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45979D7-55C9-48CB-8A05-7742107C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6190488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53D7"/>
          </a:solidFill>
          <a:ln xmlns:a="http://schemas.openxmlformats.org/drawingml/2006/main" w="12700">
            <a:solidFill>
              <a:srgbClr val="5253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24270B1-EAFF-4037-9B48-812D146F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6144768"/>
            <a:ext cx="81381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70">
                <a:solidFill>
                  <a:srgbClr val="667085"/>
                </a:solidFill>
                <a:latin typeface="Inter"/>
                <a:ea typeface="Inter"/>
                <a:cs typeface="Inter"/>
              </a:rPr>
              <a:t>SLACK</a:t>
            </a:r>
            <a:endParaRPr sz="10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F397E133-F847-488B-92D4-2BC61628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6190488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53D7"/>
          </a:solidFill>
          <a:ln xmlns:a="http://schemas.openxmlformats.org/drawingml/2006/main" w="12700">
            <a:solidFill>
              <a:srgbClr val="5253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3FAEC05-D9B0-4916-B786-72FB5EB7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144768"/>
            <a:ext cx="154533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70">
                <a:solidFill>
                  <a:srgbClr val="667085"/>
                </a:solidFill>
                <a:latin typeface="Inter"/>
                <a:ea typeface="Inter"/>
                <a:cs typeface="Inter"/>
              </a:rPr>
              <a:t>GOOGLE DRIVE</a:t>
            </a:r>
            <a:endParaRPr sz="10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63B433F-F0D3-4D13-8553-42A6F805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153912"/>
            <a:ext cx="4114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01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221942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0BD542D-7B97-41A3-A4ED-E43542DB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3D7"/>
          </a:solidFill>
          <a:ln xmlns:a="http://schemas.openxmlformats.org/drawingml/2006/main" w="12700">
            <a:solidFill>
              <a:srgbClr val="5253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C15C0AD-85A0-4DEC-9A3A-40D94A9E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"/>
            <a:ext cx="9144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10" b="1" spc="120">
                <a:solidFill>
                  <a:srgbClr val="5253D7"/>
                </a:solidFill>
                <a:latin typeface="Inter"/>
                <a:ea typeface="Inter"/>
                <a:cs typeface="Inter"/>
              </a:rPr>
              <a:t>PROJECT OVERVIEW</a:t>
            </a:r>
            <a:endParaRPr sz="101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6E42DC9-8202-463C-AC9D-EDDEC955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0664"/>
            <a:ext cx="1095451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5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Why Relay</a:t>
            </a:r>
            <a:endParaRPr sz="29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702BAD8-7B12-4904-B097-6B2ABB0A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99032"/>
            <a:ext cx="108447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10">
                <a:solidFill>
                  <a:srgbClr val="667085"/>
                </a:solidFill>
                <a:latin typeface="Inter"/>
                <a:ea typeface="Inter"/>
                <a:cs typeface="Inter"/>
              </a:rPr>
              <a:t>One answer across the workspace, with the source permissions intact.</a:t>
            </a:r>
            <a:endParaRPr sz="141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6DBE279-8C42-4042-A091-11D9015A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37376"/>
            <a:ext cx="109087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10C683F-595C-4338-A31C-EC2AD387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28816"/>
            <a:ext cx="5852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relay</a:t>
            </a:r>
            <a:endParaRPr sz="104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E881EE1-CCC1-4BD4-84A6-5EA9E350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6528816"/>
            <a:ext cx="27432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70">
                <a:solidFill>
                  <a:srgbClr val="94A3B8"/>
                </a:solidFill>
                <a:latin typeface="Inter"/>
                <a:ea typeface="Inter"/>
                <a:cs typeface="Inter"/>
              </a:rPr>
              <a:t>/ Tencent Hackathon demo</a:t>
            </a:r>
            <a:endParaRPr sz="97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C8E293B-D201-4A42-AF86-038C1337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6808" y="651967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02</a:t>
            </a:r>
            <a:endParaRPr sz="10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D085A9B-42E3-413F-9236-7D69B6A1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29968"/>
            <a:ext cx="5833872" cy="32918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64FFBC7-3127-488D-8DA4-D11351F2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286000"/>
            <a:ext cx="9144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10" b="1" spc="120">
                <a:solidFill>
                  <a:srgbClr val="5253D7"/>
                </a:solidFill>
                <a:latin typeface="Inter"/>
                <a:ea typeface="Inter"/>
                <a:cs typeface="Inter"/>
              </a:rPr>
              <a:t>THE PROBLEM</a:t>
            </a:r>
            <a:endParaRPr sz="101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EDE349B-8400-4BD5-B163-2EEBCE2D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715768"/>
            <a:ext cx="5394960" cy="1197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Teams lose time reconstructing</a:t>
            </a:r>
            <a:endParaRPr sz="2200"/>
          </a:p>
          <a:p xmlns:a="http://schemas.openxmlformats.org/drawingml/2006/main">
            <a:pPr marL="0" indent="0" algn="l">
              <a:buNone/>
            </a:pPr>
            <a:r>
              <a:rPr sz="220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decisions across documents,</a:t>
            </a:r>
            <a:endParaRPr sz="2200"/>
          </a:p>
          <a:p xmlns:a="http://schemas.openxmlformats.org/drawingml/2006/main">
            <a:pPr marL="0" indent="0" algn="l">
              <a:buNone/>
            </a:pPr>
            <a:r>
              <a:rPr sz="220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tickets and conversations.</a:t>
            </a:r>
            <a:endParaRPr sz="2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FB87FF8-19D8-41CA-BC4E-BFFA4C81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114800"/>
            <a:ext cx="5303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E2C9E5A-43B9-461D-A159-AB191715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315968"/>
            <a:ext cx="5303520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>
                <a:solidFill>
                  <a:srgbClr val="667085"/>
                </a:solidFill>
                <a:latin typeface="Inter"/>
                <a:ea typeface="Inter"/>
                <a:cs typeface="Inter"/>
              </a:rPr>
              <a:t>During an incident, the answer may sit across a Jira issue, Slack thread, Confluence runbook and Drive postmortem. Searching tool by tool slows response and weakens confidence.</a:t>
            </a:r>
            <a:endParaRPr sz="142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FF57168-C0F3-4670-A023-D517E98E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2029968"/>
            <a:ext cx="4846320" cy="1545336"/>
          </a:xfrm>
          <a:prstGeom xmlns:a="http://schemas.openxmlformats.org/drawingml/2006/main" prst="roundRect">
            <a:avLst>
              <a:gd name="adj" fmla="val 10651"/>
            </a:avLst>
          </a:prstGeom>
          <a:solidFill xmlns:a="http://schemas.openxmlformats.org/drawingml/2006/main">
            <a:srgbClr val="EFF0FF"/>
          </a:solidFill>
          <a:ln xmlns:a="http://schemas.openxmlformats.org/drawingml/2006/main" w="10160">
            <a:solidFill>
              <a:srgbClr val="E1E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5E34B05-844C-4149-A2A2-5AE9F3BA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2267712"/>
            <a:ext cx="459028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10" b="1" spc="120">
                <a:solidFill>
                  <a:srgbClr val="5253D7"/>
                </a:solidFill>
                <a:latin typeface="Inter"/>
                <a:ea typeface="Inter"/>
                <a:cs typeface="Inter"/>
              </a:rPr>
              <a:t>PRIMARY USERS</a:t>
            </a:r>
            <a:endParaRPr sz="101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AC43149-78C3-4A07-93E7-DCAEBCA0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624328"/>
            <a:ext cx="431596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70">
                <a:solidFill>
                  <a:srgbClr val="172033"/>
                </a:solidFill>
                <a:latin typeface="Inter"/>
                <a:ea typeface="Inter"/>
                <a:cs typeface="Inter"/>
              </a:rPr>
              <a:t>Employees who need an answer they can act on, without knowing where the evidence lives.</a:t>
            </a:r>
            <a:endParaRPr sz="157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5266229-D546-4CF9-82A4-FFCAE38F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3739896"/>
            <a:ext cx="4846320" cy="1581912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ECF9F5"/>
          </a:solidFill>
          <a:ln xmlns:a="http://schemas.openxmlformats.org/drawingml/2006/main" w="10160">
            <a:solidFill>
              <a:srgbClr val="CFE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7E4274A-732F-474F-8BB6-E51CFBF2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3968496"/>
            <a:ext cx="459028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10" b="1" spc="120">
                <a:solidFill>
                  <a:srgbClr val="0B927D"/>
                </a:solidFill>
                <a:latin typeface="Inter"/>
                <a:ea typeface="Inter"/>
                <a:cs typeface="Inter"/>
              </a:rPr>
              <a:t>TRUST REQUIREMENT</a:t>
            </a:r>
            <a:endParaRPr sz="101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16F8022-3CF4-40F3-A994-851FA6F1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325112"/>
            <a:ext cx="433425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70">
                <a:solidFill>
                  <a:srgbClr val="172033"/>
                </a:solidFill>
                <a:latin typeface="Inter"/>
                <a:ea typeface="Inter"/>
                <a:cs typeface="Inter"/>
              </a:rPr>
              <a:t>Administrators and compliance teams need to see who asked, what was used and why access was allowed.</a:t>
            </a:r>
            <a:endParaRPr sz="157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FD1F1C6-9310-4B3E-886D-B1A3E9A4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32120"/>
            <a:ext cx="10908792" cy="603504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AE9BCE5-54EF-4A6C-80E7-B52AB442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705856"/>
            <a:ext cx="14996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50">
                <a:solidFill>
                  <a:srgbClr val="5253D7"/>
                </a:solidFill>
                <a:latin typeface="Inter"/>
                <a:ea typeface="Inter"/>
                <a:cs typeface="Inter"/>
              </a:rPr>
              <a:t>RELAY CONNECTS</a:t>
            </a:r>
            <a:endParaRPr sz="11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F7063FB-B4BF-43A8-910F-5522D0F6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5632704"/>
            <a:ext cx="1490472" cy="374904"/>
          </a:xfrm>
          <a:prstGeom xmlns:a="http://schemas.openxmlformats.org/drawingml/2006/main" prst="roundRect">
            <a:avLst>
              <a:gd name="adj" fmla="val 31707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10160">
            <a:solidFill>
              <a:srgbClr val="F2F5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638F57D-8B9B-4E0F-8215-FDBA8FC5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5646420"/>
            <a:ext cx="130759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Confluence</a:t>
            </a:r>
            <a:endParaRPr sz="114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0406B2C-90B8-48D8-A6DD-8075E9D5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5632704"/>
            <a:ext cx="731520" cy="374904"/>
          </a:xfrm>
          <a:prstGeom xmlns:a="http://schemas.openxmlformats.org/drawingml/2006/main" prst="roundRect">
            <a:avLst>
              <a:gd name="adj" fmla="val 31707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10160">
            <a:solidFill>
              <a:srgbClr val="F2F5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7BC3ADB-6363-4053-8621-0EBDDB9C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5646420"/>
            <a:ext cx="5486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Jira</a:t>
            </a:r>
            <a:endParaRPr sz="114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D7F54EE3-44AF-482F-A50B-4171BE56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5632704"/>
            <a:ext cx="1042416" cy="374904"/>
          </a:xfrm>
          <a:prstGeom xmlns:a="http://schemas.openxmlformats.org/drawingml/2006/main" prst="roundRect">
            <a:avLst>
              <a:gd name="adj" fmla="val 31707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10160">
            <a:solidFill>
              <a:srgbClr val="F2F5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D1AD15D-54F5-41B2-957C-31EAB8D9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5646420"/>
            <a:ext cx="85953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Slack</a:t>
            </a:r>
            <a:endParaRPr sz="114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F9F120A6-1A99-4087-98D7-82869140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5632704"/>
            <a:ext cx="1508760" cy="374904"/>
          </a:xfrm>
          <a:prstGeom xmlns:a="http://schemas.openxmlformats.org/drawingml/2006/main" prst="roundRect">
            <a:avLst>
              <a:gd name="adj" fmla="val 31707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10160">
            <a:solidFill>
              <a:srgbClr val="F2F5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A6F2728-5BB6-4246-AB70-7A0BB348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5646420"/>
            <a:ext cx="13258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Google Drive</a:t>
            </a:r>
            <a:endParaRPr sz="114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750DDD5-3EEF-4555-B48C-EB09DC26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5715000"/>
            <a:ext cx="3017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0B927D"/>
                </a:solidFill>
                <a:latin typeface="Inter"/>
                <a:ea typeface="Inter"/>
                <a:cs typeface="Inter"/>
              </a:rPr>
              <a:t>Permissions checked at retrieval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679565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1B5A66B-89A7-4A83-9549-415BFBD8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3D7"/>
          </a:solidFill>
          <a:ln xmlns:a="http://schemas.openxmlformats.org/drawingml/2006/main" w="12700">
            <a:solidFill>
              <a:srgbClr val="5253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B0F1462-DB47-4929-804D-D595D269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"/>
            <a:ext cx="9144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10" b="1" spc="120">
                <a:solidFill>
                  <a:srgbClr val="5253D7"/>
                </a:solidFill>
                <a:latin typeface="Inter"/>
                <a:ea typeface="Inter"/>
                <a:cs typeface="Inter"/>
              </a:rPr>
              <a:t>TECHNICAL OVERVIEW</a:t>
            </a:r>
            <a:endParaRPr sz="101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B1F1D67-D5F5-40BE-9435-6D5C3B8E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0664"/>
            <a:ext cx="1095451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5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Ingestion and the knowledge index</a:t>
            </a:r>
            <a:endParaRPr sz="29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DD7FB51-73E3-4F5F-BE49-59C00696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99032"/>
            <a:ext cx="108447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10">
                <a:solidFill>
                  <a:srgbClr val="667085"/>
                </a:solidFill>
                <a:latin typeface="Inter"/>
                <a:ea typeface="Inter"/>
                <a:cs typeface="Inter"/>
              </a:rPr>
              <a:t>Retrieval-augmented generation (RAG) grounds each answer in retrieved source evidence.</a:t>
            </a:r>
            <a:endParaRPr sz="141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4759355-B5E3-4815-93FB-10CD3D10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37376"/>
            <a:ext cx="109087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800A3F7-5707-4CCD-ABDA-CB12A2F7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28816"/>
            <a:ext cx="5852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relay</a:t>
            </a:r>
            <a:endParaRPr sz="104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F7A4967-DE7C-4E6A-914E-CDF31A03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6528816"/>
            <a:ext cx="27432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70">
                <a:solidFill>
                  <a:srgbClr val="94A3B8"/>
                </a:solidFill>
                <a:latin typeface="Inter"/>
                <a:ea typeface="Inter"/>
                <a:cs typeface="Inter"/>
              </a:rPr>
              <a:t>/ Tencent Hackathon demo</a:t>
            </a:r>
            <a:endParaRPr sz="97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C97F1D6-34AB-4F6B-A011-230AEE83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6808" y="651967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03</a:t>
            </a:r>
            <a:endParaRPr sz="10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20D0875-C2C5-49F3-8602-30C399A6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400"/>
            <a:ext cx="3511296" cy="3054096"/>
          </a:xfrm>
          <a:prstGeom xmlns:a="http://schemas.openxmlformats.org/drawingml/2006/main" prst="roundRect">
            <a:avLst>
              <a:gd name="adj" fmla="val 59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D0FD8BD-EBEB-4132-B710-E16E10DA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276856"/>
            <a:ext cx="429768" cy="4297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0FF"/>
          </a:solidFill>
          <a:ln xmlns:a="http://schemas.openxmlformats.org/drawingml/2006/main" w="12700">
            <a:solidFill>
              <a:srgbClr val="EF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7E810DE-56CC-458A-8E26-38F9D3F2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340864"/>
            <a:ext cx="42976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01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074F2E0-B2F0-413D-B52E-6B8E1218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898648"/>
            <a:ext cx="310896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2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Connect and fetch</a:t>
            </a:r>
            <a:endParaRPr sz="192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EF7CAA0-36A8-4937-ACBA-25A15ABB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493008"/>
            <a:ext cx="310896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60">
                <a:solidFill>
                  <a:srgbClr val="667085"/>
                </a:solidFill>
                <a:latin typeface="Inter"/>
                <a:ea typeface="Inter"/>
                <a:cs typeface="Inter"/>
              </a:rPr>
              <a:t>Delegated OAuth links source identities. Celery workers import content and reconcile provider changes.</a:t>
            </a:r>
            <a:endParaRPr sz="146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149E1D7-925B-461B-964A-D4811503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2057400"/>
            <a:ext cx="3511296" cy="3054096"/>
          </a:xfrm>
          <a:prstGeom xmlns:a="http://schemas.openxmlformats.org/drawingml/2006/main" prst="roundRect">
            <a:avLst>
              <a:gd name="adj" fmla="val 59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A848936-79B5-4789-8B18-B58DFAD5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2276856"/>
            <a:ext cx="429768" cy="4297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0FF"/>
          </a:solidFill>
          <a:ln xmlns:a="http://schemas.openxmlformats.org/drawingml/2006/main" w="12700">
            <a:solidFill>
              <a:srgbClr val="EF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AA06DD8-5CFA-4052-8666-5D1A49F7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2340864"/>
            <a:ext cx="42976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02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9AE96C-6862-4E9F-86E1-61A06F90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2898648"/>
            <a:ext cx="310896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2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Prepare evidence</a:t>
            </a:r>
            <a:endParaRPr sz="192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CCB137B-BC07-4C89-8532-42C5ADF5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3493008"/>
            <a:ext cx="310896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60">
                <a:solidFill>
                  <a:srgbClr val="667085"/>
                </a:solidFill>
                <a:latin typeface="Inter"/>
                <a:ea typeface="Inter"/>
                <a:cs typeface="Inter"/>
              </a:rPr>
              <a:t>Normalise source content, resolve access-control metadata and split text into searchable chunks.</a:t>
            </a:r>
            <a:endParaRPr sz="146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1F737B6-723B-4DAD-AD42-D8B41A6B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576" y="2057400"/>
            <a:ext cx="3511296" cy="3054096"/>
          </a:xfrm>
          <a:prstGeom xmlns:a="http://schemas.openxmlformats.org/drawingml/2006/main" prst="roundRect">
            <a:avLst>
              <a:gd name="adj" fmla="val 59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C104FE1E-E5AE-4414-A18E-AB8E7E9C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276856"/>
            <a:ext cx="429768" cy="4297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0FF"/>
          </a:solidFill>
          <a:ln xmlns:a="http://schemas.openxmlformats.org/drawingml/2006/main" w="12700">
            <a:solidFill>
              <a:srgbClr val="EF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1214B2D-A62E-4963-8939-75FC2424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340864"/>
            <a:ext cx="42976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03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FAFD916-0798-4B3D-99E8-BA294393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898648"/>
            <a:ext cx="310896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2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Index and activate</a:t>
            </a:r>
            <a:endParaRPr sz="192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7893489-9271-4EB9-AF6D-D2DA2264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3493008"/>
            <a:ext cx="310896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60">
                <a:solidFill>
                  <a:srgbClr val="667085"/>
                </a:solidFill>
                <a:latin typeface="Inter"/>
                <a:ea typeface="Inter"/>
                <a:cs typeface="Inter"/>
              </a:rPr>
              <a:t>Store embeddings and full-text indexes in PostgreSQL with pgvector. Activate a version only when ready.</a:t>
            </a:r>
            <a:endParaRPr sz="146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5E38A73-763C-4239-A734-9FDA15F2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94960"/>
            <a:ext cx="10908792" cy="768096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CF9F5"/>
          </a:solidFill>
          <a:ln xmlns:a="http://schemas.openxmlformats.org/drawingml/2006/main" w="10160">
            <a:solidFill>
              <a:srgbClr val="D3EBE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62320EBF-398F-4A94-B3A5-50884887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63270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927D"/>
          </a:solidFill>
          <a:ln xmlns:a="http://schemas.openxmlformats.org/drawingml/2006/main" w="12700">
            <a:solidFill>
              <a:srgbClr val="0B92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5222C1E-BBED-40C7-8BB5-92385103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3" y="5773522"/>
            <a:ext cx="52121" cy="512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407E83A-DA1F-4FB1-9C79-1B15560C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5541264"/>
            <a:ext cx="27706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 b="1" spc="50">
                <a:solidFill>
                  <a:srgbClr val="0B927D"/>
                </a:solidFill>
                <a:latin typeface="Inter"/>
                <a:ea typeface="Inter"/>
                <a:cs typeface="Inter"/>
              </a:rPr>
              <a:t>FRESHNESS + PROVENANCE</a:t>
            </a:r>
            <a:endParaRPr sz="108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5BC6029-B92B-4ADF-9042-A17A5D0C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5788152"/>
            <a:ext cx="9784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40">
                <a:solidFill>
                  <a:srgbClr val="172033"/>
                </a:solidFill>
                <a:latin typeface="Inter"/>
                <a:ea typeface="Inter"/>
                <a:cs typeface="Inter"/>
              </a:rPr>
              <a:t>Reconciliation finds changes; immutable revisions preserve provenance. Indexed ACLs narrow candidates, but live provider checks decide access.</a:t>
            </a:r>
            <a:endParaRPr sz="1340"/>
          </a:p>
        </p:txBody>
      </p:sp>
    </p:spTree>
    <p:extLst>
      <p:ext uri="{BB962C8B-B14F-4D97-AF65-F5344CB8AC3E}">
        <p14:creationId xmlns:p14="http://schemas.microsoft.com/office/powerpoint/2010/main" val="6258557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5568EA8-C357-4D99-8787-36961E70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3D7"/>
          </a:solidFill>
          <a:ln xmlns:a="http://schemas.openxmlformats.org/drawingml/2006/main" w="12700">
            <a:solidFill>
              <a:srgbClr val="5253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ADDF965-A0AF-44BA-938C-F1485322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"/>
            <a:ext cx="9144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10" b="1" spc="120">
                <a:solidFill>
                  <a:srgbClr val="5253D7"/>
                </a:solidFill>
                <a:latin typeface="Inter"/>
                <a:ea typeface="Inter"/>
                <a:cs typeface="Inter"/>
              </a:rPr>
              <a:t>TECHNICAL OVERVIEW</a:t>
            </a:r>
            <a:endParaRPr sz="101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27FB200-DDA5-4FE6-94A7-C9CAC143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0664"/>
            <a:ext cx="1095451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5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Permission-safe retrieval and RAG</a:t>
            </a:r>
            <a:endParaRPr sz="29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9172781-F63C-4CFB-9FFD-F3F6FCF0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99032"/>
            <a:ext cx="108447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10">
                <a:solidFill>
                  <a:srgbClr val="667085"/>
                </a:solidFill>
                <a:latin typeface="Inter"/>
                <a:ea typeface="Inter"/>
                <a:cs typeface="Inter"/>
              </a:rPr>
              <a:t>Hybrid search finds evidence. Live authorisation controls what may enter the answer.</a:t>
            </a:r>
            <a:endParaRPr sz="141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82991C7-9E46-43A4-AB9A-19B94E2D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37376"/>
            <a:ext cx="109087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1EAB6F2-C203-4F37-BE30-25038937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28816"/>
            <a:ext cx="5852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relay</a:t>
            </a:r>
            <a:endParaRPr sz="104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1A4E8F6-5E2A-44FD-AD5F-FCCA871C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6528816"/>
            <a:ext cx="27432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70">
                <a:solidFill>
                  <a:srgbClr val="94A3B8"/>
                </a:solidFill>
                <a:latin typeface="Inter"/>
                <a:ea typeface="Inter"/>
                <a:cs typeface="Inter"/>
              </a:rPr>
              <a:t>/ Tencent Hackathon demo</a:t>
            </a:r>
            <a:endParaRPr sz="97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C66538D-294F-4A39-A285-FC263B28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6808" y="651967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04</a:t>
            </a:r>
            <a:endParaRPr sz="10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F836A2D-F04D-4024-974C-F510E211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39112"/>
            <a:ext cx="2020824" cy="2990088"/>
          </a:xfrm>
          <a:prstGeom xmlns:a="http://schemas.openxmlformats.org/drawingml/2006/main" prst="roundRect">
            <a:avLst>
              <a:gd name="adj" fmla="val 8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88B791C-7DD0-4A6B-95EA-DB548C12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240280"/>
            <a:ext cx="521208" cy="338328"/>
          </a:xfrm>
          <a:prstGeom xmlns:a="http://schemas.openxmlformats.org/drawingml/2006/main" prst="roundRect">
            <a:avLst>
              <a:gd name="adj" fmla="val 35135"/>
            </a:avLst>
          </a:prstGeom>
          <a:solidFill xmlns:a="http://schemas.openxmlformats.org/drawingml/2006/main">
            <a:srgbClr val="EFF0FF"/>
          </a:solidFill>
          <a:ln xmlns:a="http://schemas.openxmlformats.org/drawingml/2006/main" w="10160">
            <a:solidFill>
              <a:srgbClr val="EF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E632BC9-6A8A-41EF-A299-7E83633D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253996"/>
            <a:ext cx="3383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1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01</a:t>
            </a:r>
            <a:endParaRPr sz="111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B504D69-C59D-4947-BE99-631493CC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770632"/>
            <a:ext cx="1673352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9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Hybrid search</a:t>
            </a:r>
            <a:endParaRPr sz="169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3A85914-6912-4B70-9AA5-7E5D0F49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3483864"/>
            <a:ext cx="1673352" cy="1289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75">
                <a:solidFill>
                  <a:srgbClr val="667085"/>
                </a:solidFill>
                <a:latin typeface="Inter"/>
                <a:ea typeface="Inter"/>
                <a:cs typeface="Inter"/>
              </a:rPr>
              <a:t>Vector similarity and full-text search. RRF merges candidate ranks.</a:t>
            </a:r>
            <a:endParaRPr sz="1375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2434438-6E11-4394-A7D6-2ABB2CC3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72" y="2039112"/>
            <a:ext cx="2020824" cy="2990088"/>
          </a:xfrm>
          <a:prstGeom xmlns:a="http://schemas.openxmlformats.org/drawingml/2006/main" prst="roundRect">
            <a:avLst>
              <a:gd name="adj" fmla="val 8145"/>
            </a:avLst>
          </a:prstGeom>
          <a:solidFill xmlns:a="http://schemas.openxmlformats.org/drawingml/2006/main">
            <a:srgbClr val="F0FBF7"/>
          </a:solidFill>
          <a:ln xmlns:a="http://schemas.openxmlformats.org/drawingml/2006/main" w="10160">
            <a:solidFill>
              <a:srgbClr val="97D6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3395D4D-8FB8-45B8-8F66-EEE5EDBE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2240280"/>
            <a:ext cx="521208" cy="338328"/>
          </a:xfrm>
          <a:prstGeom xmlns:a="http://schemas.openxmlformats.org/drawingml/2006/main" prst="roundRect">
            <a:avLst>
              <a:gd name="adj" fmla="val 35135"/>
            </a:avLst>
          </a:prstGeom>
          <a:solidFill xmlns:a="http://schemas.openxmlformats.org/drawingml/2006/main">
            <a:srgbClr val="0B927D"/>
          </a:solidFill>
          <a:ln xmlns:a="http://schemas.openxmlformats.org/drawingml/2006/main" w="10160">
            <a:solidFill>
              <a:srgbClr val="0B92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9E70D1E-0A6A-415E-861E-5C000054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2253996"/>
            <a:ext cx="3383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1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02</a:t>
            </a:r>
            <a:endParaRPr sz="111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EA809B3-1AF3-4502-ACF3-8785BD85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2770632"/>
            <a:ext cx="1673352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9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Live access</a:t>
            </a:r>
            <a:endParaRPr sz="169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E1DF105-C25D-44AD-89C1-A5F1EEF9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3483864"/>
            <a:ext cx="1673352" cy="1289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75">
                <a:solidFill>
                  <a:srgbClr val="667085"/>
                </a:solidFill>
                <a:latin typeface="Inter"/>
                <a:ea typeface="Inter"/>
                <a:cs typeface="Inter"/>
              </a:rPr>
              <a:t>Tenant-scoped identity; delegated provider checks. Uncertain access is denied.</a:t>
            </a:r>
            <a:endParaRPr sz="1375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ADE68B1-EE17-4ABD-A5C5-9A09328D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2039112"/>
            <a:ext cx="2020824" cy="2990088"/>
          </a:xfrm>
          <a:prstGeom xmlns:a="http://schemas.openxmlformats.org/drawingml/2006/main" prst="roundRect">
            <a:avLst>
              <a:gd name="adj" fmla="val 8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B0BE278-0869-450F-B1B5-E5C06021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40280"/>
            <a:ext cx="521208" cy="338328"/>
          </a:xfrm>
          <a:prstGeom xmlns:a="http://schemas.openxmlformats.org/drawingml/2006/main" prst="roundRect">
            <a:avLst>
              <a:gd name="adj" fmla="val 35135"/>
            </a:avLst>
          </a:prstGeom>
          <a:solidFill xmlns:a="http://schemas.openxmlformats.org/drawingml/2006/main">
            <a:srgbClr val="EFF0FF"/>
          </a:solidFill>
          <a:ln xmlns:a="http://schemas.openxmlformats.org/drawingml/2006/main" w="10160">
            <a:solidFill>
              <a:srgbClr val="EF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7188C9E-612A-421B-9C21-F84D4AD8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253996"/>
            <a:ext cx="3383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1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03</a:t>
            </a:r>
            <a:endParaRPr sz="111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580F254-EA87-4B72-9C98-95B66D23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70632"/>
            <a:ext cx="1673352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9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Context</a:t>
            </a:r>
            <a:endParaRPr sz="169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8837E16-5842-4C35-AF5B-C9793699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83864"/>
            <a:ext cx="1673352" cy="1289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75">
                <a:solidFill>
                  <a:srgbClr val="667085"/>
                </a:solidFill>
                <a:latin typeface="Inter"/>
                <a:ea typeface="Inter"/>
                <a:cs typeface="Inter"/>
              </a:rPr>
              <a:t>Load permitted text, rerank, then compile evidence IDs within a token budget.</a:t>
            </a:r>
            <a:endParaRPr sz="1375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DEBEA59-56AC-46F6-840F-E32097D5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6" y="2039112"/>
            <a:ext cx="2020824" cy="2990088"/>
          </a:xfrm>
          <a:prstGeom xmlns:a="http://schemas.openxmlformats.org/drawingml/2006/main" prst="roundRect">
            <a:avLst>
              <a:gd name="adj" fmla="val 8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E09330B-AA63-4F92-A61A-594FCF3F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240280"/>
            <a:ext cx="521208" cy="338328"/>
          </a:xfrm>
          <a:prstGeom xmlns:a="http://schemas.openxmlformats.org/drawingml/2006/main" prst="roundRect">
            <a:avLst>
              <a:gd name="adj" fmla="val 35135"/>
            </a:avLst>
          </a:prstGeom>
          <a:solidFill xmlns:a="http://schemas.openxmlformats.org/drawingml/2006/main">
            <a:srgbClr val="EFF0FF"/>
          </a:solidFill>
          <a:ln xmlns:a="http://schemas.openxmlformats.org/drawingml/2006/main" w="10160">
            <a:solidFill>
              <a:srgbClr val="EF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84ECF6B-C9CD-4606-A94B-BCAC967E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2" y="2253996"/>
            <a:ext cx="3383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1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04</a:t>
            </a:r>
            <a:endParaRPr sz="111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B32522C-D8DD-4111-AFAE-C7F5111B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770632"/>
            <a:ext cx="1673352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9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Generate</a:t>
            </a:r>
            <a:endParaRPr sz="169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F744241-05CA-447F-8E84-ACC2B4E5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3483864"/>
            <a:ext cx="1673352" cy="1289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75">
                <a:solidFill>
                  <a:srgbClr val="667085"/>
                </a:solidFill>
                <a:latin typeface="Inter"/>
                <a:ea typeface="Inter"/>
                <a:cs typeface="Inter"/>
              </a:rPr>
              <a:t>Treat source text as untrusted data. Attach evidence IDs to answer claims.</a:t>
            </a:r>
            <a:endParaRPr sz="1375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C0F2218-183B-4829-B145-76E3A21F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8" y="2039112"/>
            <a:ext cx="2020824" cy="2990088"/>
          </a:xfrm>
          <a:prstGeom xmlns:a="http://schemas.openxmlformats.org/drawingml/2006/main" prst="roundRect">
            <a:avLst>
              <a:gd name="adj" fmla="val 8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9EC21E06-7FF8-466D-A57F-5D97FADE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240280"/>
            <a:ext cx="521208" cy="338328"/>
          </a:xfrm>
          <a:prstGeom xmlns:a="http://schemas.openxmlformats.org/drawingml/2006/main" prst="roundRect">
            <a:avLst>
              <a:gd name="adj" fmla="val 35135"/>
            </a:avLst>
          </a:prstGeom>
          <a:solidFill xmlns:a="http://schemas.openxmlformats.org/drawingml/2006/main">
            <a:srgbClr val="EFF0FF"/>
          </a:solidFill>
          <a:ln xmlns:a="http://schemas.openxmlformats.org/drawingml/2006/main" w="10160">
            <a:solidFill>
              <a:srgbClr val="EF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7665F14-5ACB-4C61-B4E1-BF87537C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224" y="2253996"/>
            <a:ext cx="3383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1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05</a:t>
            </a:r>
            <a:endParaRPr sz="111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65BFFADB-7C0B-47C8-9F9A-05B2ABEE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70632"/>
            <a:ext cx="1673352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9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Verify + audit</a:t>
            </a:r>
            <a:endParaRPr sz="169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32C90367-0CA8-46A4-B16F-FF4FD100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483864"/>
            <a:ext cx="1673352" cy="1289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75">
                <a:solidFill>
                  <a:srgbClr val="667085"/>
                </a:solidFill>
                <a:latin typeface="Inter"/>
                <a:ea typeface="Inter"/>
                <a:cs typeface="Inter"/>
              </a:rPr>
              <a:t>Validate references, repair once, then use an extractive fallback if needed.</a:t>
            </a:r>
            <a:endParaRPr sz="1375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836ECAE8-2779-413C-B7CA-E64B9EE2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66944"/>
            <a:ext cx="10908792" cy="923544"/>
          </a:xfrm>
          <a:prstGeom xmlns:a="http://schemas.openxmlformats.org/drawingml/2006/main" prst="roundRect">
            <a:avLst>
              <a:gd name="adj" fmla="val 17822"/>
            </a:avLst>
          </a:prstGeom>
          <a:solidFill xmlns:a="http://schemas.openxmlformats.org/drawingml/2006/main">
            <a:srgbClr val="EFF0FF"/>
          </a:solidFill>
          <a:ln xmlns:a="http://schemas.openxmlformats.org/drawingml/2006/main" w="10160">
            <a:solidFill>
              <a:srgbClr val="E0E5F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6AAC96BA-DBCD-4A0C-9EA7-B62EFFAB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5449824"/>
            <a:ext cx="14630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F"/>
          </a:solidFill>
          <a:ln xmlns:a="http://schemas.openxmlformats.org/drawingml/2006/main" w="12700">
            <a:solidFill>
              <a:srgbClr val="D1D9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4633440-1C5D-41F2-A4C2-5505B361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422392"/>
            <a:ext cx="9144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10" b="1" spc="120">
                <a:solidFill>
                  <a:srgbClr val="5253D7"/>
                </a:solidFill>
                <a:latin typeface="Inter"/>
                <a:ea typeface="Inter"/>
                <a:cs typeface="Inter"/>
              </a:rPr>
              <a:t>KEEP RESTRICTED TEXT OUT</a:t>
            </a:r>
            <a:endParaRPr sz="101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C705D12E-49E2-4185-BBFC-CC81677B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733288"/>
            <a:ext cx="490118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20">
                <a:solidFill>
                  <a:srgbClr val="172033"/>
                </a:solidFill>
                <a:latin typeface="Inter"/>
                <a:ea typeface="Inter"/>
                <a:cs typeface="Inter"/>
              </a:rPr>
              <a:t>No unauthorised text enters reranking, model context, logs or the browser.</a:t>
            </a:r>
            <a:endParaRPr sz="132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2195E9B8-6566-4143-B807-24B9D97D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5422392"/>
            <a:ext cx="520293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10" b="1" spc="120">
                <a:solidFill>
                  <a:srgbClr val="0B927D"/>
                </a:solidFill>
                <a:latin typeface="Inter"/>
                <a:ea typeface="Inter"/>
                <a:cs typeface="Inter"/>
              </a:rPr>
              <a:t>AUDIT BEFORE RELEASE</a:t>
            </a:r>
            <a:endParaRPr sz="101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412724C7-7FAD-458F-872E-1DE48CE9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5733288"/>
            <a:ext cx="481888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10">
                <a:solidFill>
                  <a:srgbClr val="172033"/>
                </a:solidFill>
                <a:latin typeface="Inter"/>
                <a:ea typeface="Inter"/>
                <a:cs typeface="Inter"/>
              </a:rPr>
              <a:t>Commit SHA-256-chained audit before release; recheck citations when opened. References are not factual proof.</a:t>
            </a:r>
            <a:endParaRPr sz="1310"/>
          </a:p>
        </p:txBody>
      </p:sp>
    </p:spTree>
    <p:extLst>
      <p:ext uri="{BB962C8B-B14F-4D97-AF65-F5344CB8AC3E}">
        <p14:creationId xmlns:p14="http://schemas.microsoft.com/office/powerpoint/2010/main" val="127106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4AB8A90-F06B-478B-BAD5-7668FE46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3D7"/>
          </a:solidFill>
          <a:ln xmlns:a="http://schemas.openxmlformats.org/drawingml/2006/main" w="12700">
            <a:solidFill>
              <a:srgbClr val="5253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E550117-03E7-4FF6-8C80-941EFB72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"/>
            <a:ext cx="9144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10" b="1" spc="120">
                <a:solidFill>
                  <a:srgbClr val="5253D7"/>
                </a:solidFill>
                <a:latin typeface="Inter"/>
                <a:ea typeface="Inter"/>
                <a:cs typeface="Inter"/>
              </a:rPr>
              <a:t>WALKTHROUGH DEMO</a:t>
            </a:r>
            <a:endParaRPr sz="101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3CA4E00-352D-406F-ADFD-9D9B898F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0664"/>
            <a:ext cx="1095451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5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Payment-outage evidence &amp; access</a:t>
            </a:r>
            <a:endParaRPr sz="29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E38655A-DE4F-4B2B-B3F4-B5D7D4C9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99032"/>
            <a:ext cx="108447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10">
                <a:solidFill>
                  <a:srgbClr val="667085"/>
                </a:solidFill>
                <a:latin typeface="Inter"/>
                <a:ea typeface="Inter"/>
                <a:cs typeface="Inter"/>
              </a:rPr>
              <a:t>Who can read each source in the payment-outage demo</a:t>
            </a:r>
            <a:endParaRPr sz="141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5C916BC-0786-44DA-992B-A8FDC11E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37376"/>
            <a:ext cx="109087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F8EDEE4-C275-4830-994E-3EC8D6BD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28816"/>
            <a:ext cx="5852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relay</a:t>
            </a:r>
            <a:endParaRPr sz="104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43364D4-3A44-4634-A9E0-8D749669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6528816"/>
            <a:ext cx="27432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70">
                <a:solidFill>
                  <a:srgbClr val="94A3B8"/>
                </a:solidFill>
                <a:latin typeface="Inter"/>
                <a:ea typeface="Inter"/>
                <a:cs typeface="Inter"/>
              </a:rPr>
              <a:t>/ Tencent Hackathon demo</a:t>
            </a:r>
            <a:endParaRPr sz="97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44FACED-B7B1-4822-ADF6-94C6A1FD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6808" y="651967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05</a:t>
            </a:r>
            <a:endParaRPr sz="1000"/>
          </a:p>
        </p:txBody>
      </p:sp>
      <p:sp>
        <p:nvSpPr>
          <p:cNvPr id="10" name="Atlassian provider group">
            <a:extLst xmlns:a="http://schemas.openxmlformats.org/drawingml/2006/main">
              <a:ext uri="{FF2B5EF4-FFF2-40B4-BE49-F238E27FC236}">
                <a16:creationId xmlns:a16="http://schemas.microsoft.com/office/drawing/2014/main" id="{BCFFE5A3-07ED-436F-B9B8-945CF239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95500"/>
            <a:ext cx="533781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4CE1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554CE1"/>
                </a:solidFill>
                <a:latin typeface="Inter"/>
                <a:ea typeface="Inter"/>
                <a:cs typeface="Inter"/>
              </a:rPr>
              <a:t>ATLASSIAN CLOUD</a:t>
            </a:r>
          </a:p>
        </p:txBody>
      </p:sp>
      <p:sp>
        <p:nvSpPr>
          <p:cNvPr id="11" name="Slack provider group">
            <a:extLst xmlns:a="http://schemas.openxmlformats.org/drawingml/2006/main">
              <a:ext uri="{FF2B5EF4-FFF2-40B4-BE49-F238E27FC236}">
                <a16:creationId xmlns:a16="http://schemas.microsoft.com/office/drawing/2014/main" id="{B9946491-D603-4E22-A97B-0980AD41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490" y="2095500"/>
            <a:ext cx="255460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F83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08F83"/>
                </a:solidFill>
                <a:latin typeface="Inter"/>
                <a:ea typeface="Inter"/>
                <a:cs typeface="Inter"/>
              </a:rPr>
              <a:t>SLACK</a:t>
            </a:r>
          </a:p>
        </p:txBody>
      </p:sp>
      <p:sp>
        <p:nvSpPr>
          <p:cNvPr id="12" name="Drive provider group">
            <a:extLst xmlns:a="http://schemas.openxmlformats.org/drawingml/2006/main">
              <a:ext uri="{FF2B5EF4-FFF2-40B4-BE49-F238E27FC236}">
                <a16:creationId xmlns:a16="http://schemas.microsoft.com/office/drawing/2014/main" id="{C11C03D3-5A3E-48CE-848E-D4AAE152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9695" y="2095500"/>
            <a:ext cx="255460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8044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28044"/>
                </a:solidFill>
                <a:latin typeface="Inter"/>
                <a:ea typeface="Inter"/>
                <a:cs typeface="Inter"/>
              </a:rPr>
              <a:t>GOOGLE DRIVE</a:t>
            </a:r>
          </a:p>
        </p:txBody>
      </p:sp>
      <p:sp>
        <p:nvSpPr>
          <p:cNvPr id="13" name="Jira source">
            <a:extLst xmlns:a="http://schemas.openxmlformats.org/drawingml/2006/main">
              <a:ext uri="{FF2B5EF4-FFF2-40B4-BE49-F238E27FC236}">
                <a16:creationId xmlns:a16="http://schemas.microsoft.com/office/drawing/2014/main" id="{0240CD74-146A-4720-ADA1-AFED4A39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00300"/>
            <a:ext cx="2554605" cy="2857500"/>
          </a:xfrm>
          <a:prstGeom xmlns:a="http://schemas.openxmlformats.org/drawingml/2006/main" prst="roundRect">
            <a:avLst>
              <a:gd name="adj" fmla="val 37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F"/>
            </a:solidFill>
          </a:ln>
        </p:spPr>
      </p:sp>
      <p:sp>
        <p:nvSpPr>
          <p:cNvPr id="14" name="Jira heading">
            <a:extLst xmlns:a="http://schemas.openxmlformats.org/drawingml/2006/main">
              <a:ext uri="{FF2B5EF4-FFF2-40B4-BE49-F238E27FC236}">
                <a16:creationId xmlns:a16="http://schemas.microsoft.com/office/drawing/2014/main" id="{3624310B-EE8D-4335-AC37-E618D4A2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" y="2590800"/>
            <a:ext cx="217360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54CE1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554CE1"/>
                </a:solidFill>
                <a:latin typeface="Inter"/>
                <a:ea typeface="Inter"/>
                <a:cs typeface="Inter"/>
              </a:rPr>
              <a:t>Jira</a:t>
            </a:r>
          </a:p>
        </p:txBody>
      </p:sp>
      <p:sp>
        <p:nvSpPr>
          <p:cNvPr id="15" name="Jira evidence title">
            <a:extLst xmlns:a="http://schemas.openxmlformats.org/drawingml/2006/main">
              <a:ext uri="{FF2B5EF4-FFF2-40B4-BE49-F238E27FC236}">
                <a16:creationId xmlns:a16="http://schemas.microsoft.com/office/drawing/2014/main" id="{B20D9337-D4FB-48E6-8693-AEE5CFE3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" y="3009900"/>
            <a:ext cx="217360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234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82234"/>
                </a:solidFill>
                <a:latin typeface="Inter"/>
                <a:ea typeface="Inter"/>
                <a:cs typeface="Inter"/>
              </a:rPr>
              <a:t>KAN-1 and KAN-2</a:t>
            </a:r>
          </a:p>
        </p:txBody>
      </p:sp>
      <p:sp>
        <p:nvSpPr>
          <p:cNvPr id="16" name="Jira evidence summary">
            <a:extLst xmlns:a="http://schemas.openxmlformats.org/drawingml/2006/main">
              <a:ext uri="{FF2B5EF4-FFF2-40B4-BE49-F238E27FC236}">
                <a16:creationId xmlns:a16="http://schemas.microsoft.com/office/drawing/2014/main" id="{17173CE0-5D86-47B0-B217-44274C33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" y="3581400"/>
            <a:ext cx="217360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38D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5738D"/>
                </a:solidFill>
                <a:latin typeface="Inter"/>
                <a:ea typeface="Inter"/>
                <a:cs typeface="Inter"/>
              </a:rPr>
              <a:t>Cause: uncapped retries.</a:t>
            </a:r>
          </a:p>
          <a:p xmlns:a="http://schemas.openxmlformats.org/drawingml/2006/main">
            <a:pPr algn="l">
              <a:defRPr sz="1275" b="0">
                <a:solidFill>
                  <a:srgbClr val="65738D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5738D"/>
                </a:solidFill>
                <a:latin typeface="Inter"/>
                <a:ea typeface="Inter"/>
                <a:cs typeface="Inter"/>
              </a:rPr>
              <a:t>Follow-up: cap retries,</a:t>
            </a:r>
          </a:p>
          <a:p xmlns:a="http://schemas.openxmlformats.org/drawingml/2006/main">
            <a:pPr algn="l">
              <a:defRPr sz="1275" b="0">
                <a:solidFill>
                  <a:srgbClr val="65738D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5738D"/>
                </a:solidFill>
                <a:latin typeface="Inter"/>
                <a:ea typeface="Inter"/>
                <a:cs typeface="Inter"/>
              </a:rPr>
              <a:t>add jitter and alerting.</a:t>
            </a:r>
          </a:p>
        </p:txBody>
      </p:sp>
      <p:sp>
        <p:nvSpPr>
          <p:cNvPr id="17" name="Jira readers label">
            <a:extLst xmlns:a="http://schemas.openxmlformats.org/drawingml/2006/main">
              <a:ext uri="{FF2B5EF4-FFF2-40B4-BE49-F238E27FC236}">
                <a16:creationId xmlns:a16="http://schemas.microsoft.com/office/drawing/2014/main" id="{80BE5ADC-6CD2-407B-90F5-E55DC6B5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" y="4362450"/>
            <a:ext cx="217360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54CE1"/>
                </a:solidFill>
                <a:latin typeface="Inter"/>
                <a:ea typeface="Inter"/>
                <a:cs typeface="Inter"/>
              </a:defRPr>
            </a:pPr>
            <a:r>
              <a:rPr sz="863" b="1">
                <a:solidFill>
                  <a:srgbClr val="554CE1"/>
                </a:solidFill>
                <a:latin typeface="Inter"/>
                <a:ea typeface="Inter"/>
                <a:cs typeface="Inter"/>
              </a:rPr>
              <a:t>PEOPLE WITH ACCESS</a:t>
            </a:r>
          </a:p>
        </p:txBody>
      </p:sp>
      <p:sp>
        <p:nvSpPr>
          <p:cNvPr id="18" name="Jira Alice access">
            <a:extLst xmlns:a="http://schemas.openxmlformats.org/drawingml/2006/main">
              <a:ext uri="{FF2B5EF4-FFF2-40B4-BE49-F238E27FC236}">
                <a16:creationId xmlns:a16="http://schemas.microsoft.com/office/drawing/2014/main" id="{D8446E0E-DDBE-4E4D-8E55-28CACF2F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" y="46386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2234"/>
                </a:solidFill>
                <a:latin typeface="Inter"/>
                <a:ea typeface="Inter"/>
                <a:cs typeface="Inter"/>
              </a:rPr>
              <a:t>Alice</a:t>
            </a:r>
          </a:p>
        </p:txBody>
      </p:sp>
      <p:sp>
        <p:nvSpPr>
          <p:cNvPr id="19" name="Jira Alice level">
            <a:extLst xmlns:a="http://schemas.openxmlformats.org/drawingml/2006/main">
              <a:ext uri="{FF2B5EF4-FFF2-40B4-BE49-F238E27FC236}">
                <a16:creationId xmlns:a16="http://schemas.microsoft.com/office/drawing/2014/main" id="{A77A5948-6E37-4563-8A97-E965DCBB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" y="46577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38D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5738D"/>
                </a:solidFill>
                <a:latin typeface="Inter"/>
                <a:ea typeface="Inter"/>
                <a:cs typeface="Inter"/>
              </a:rPr>
              <a:t>Read access</a:t>
            </a:r>
          </a:p>
        </p:txBody>
      </p:sp>
      <p:sp>
        <p:nvSpPr>
          <p:cNvPr id="20" name="Jira Bob access">
            <a:extLst xmlns:a="http://schemas.openxmlformats.org/drawingml/2006/main">
              <a:ext uri="{FF2B5EF4-FFF2-40B4-BE49-F238E27FC236}">
                <a16:creationId xmlns:a16="http://schemas.microsoft.com/office/drawing/2014/main" id="{54FA579C-6C25-4FAF-8102-0661CF61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" y="49339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2234"/>
                </a:solidFill>
                <a:latin typeface="Inter"/>
                <a:ea typeface="Inter"/>
                <a:cs typeface="Inter"/>
              </a:rPr>
              <a:t>Bob</a:t>
            </a:r>
          </a:p>
        </p:txBody>
      </p:sp>
      <p:sp>
        <p:nvSpPr>
          <p:cNvPr id="21" name="Jira Bob level">
            <a:extLst xmlns:a="http://schemas.openxmlformats.org/drawingml/2006/main">
              <a:ext uri="{FF2B5EF4-FFF2-40B4-BE49-F238E27FC236}">
                <a16:creationId xmlns:a16="http://schemas.microsoft.com/office/drawing/2014/main" id="{A0963529-7AA6-4E46-B954-8090FDCC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" y="49530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38D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5738D"/>
                </a:solidFill>
                <a:latin typeface="Inter"/>
                <a:ea typeface="Inter"/>
                <a:cs typeface="Inter"/>
              </a:rPr>
              <a:t>Read access</a:t>
            </a:r>
          </a:p>
        </p:txBody>
      </p:sp>
      <p:sp>
        <p:nvSpPr>
          <p:cNvPr id="22" name="Confluence source">
            <a:extLst xmlns:a="http://schemas.openxmlformats.org/drawingml/2006/main">
              <a:ext uri="{FF2B5EF4-FFF2-40B4-BE49-F238E27FC236}">
                <a16:creationId xmlns:a16="http://schemas.microsoft.com/office/drawing/2014/main" id="{253C3D1D-37D9-4259-9BB1-20DC3E39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285" y="2400300"/>
            <a:ext cx="2554605" cy="2857500"/>
          </a:xfrm>
          <a:prstGeom xmlns:a="http://schemas.openxmlformats.org/drawingml/2006/main" prst="roundRect">
            <a:avLst>
              <a:gd name="adj" fmla="val 37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F"/>
            </a:solidFill>
          </a:ln>
        </p:spPr>
      </p:sp>
      <p:sp>
        <p:nvSpPr>
          <p:cNvPr id="23" name="Confluence heading">
            <a:extLst xmlns:a="http://schemas.openxmlformats.org/drawingml/2006/main">
              <a:ext uri="{FF2B5EF4-FFF2-40B4-BE49-F238E27FC236}">
                <a16:creationId xmlns:a16="http://schemas.microsoft.com/office/drawing/2014/main" id="{8ED847D1-6A4E-4833-BD56-AEC5FEA1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785" y="2590800"/>
            <a:ext cx="217360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54CE1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554CE1"/>
                </a:solidFill>
                <a:latin typeface="Inter"/>
                <a:ea typeface="Inter"/>
                <a:cs typeface="Inter"/>
              </a:rPr>
              <a:t>Confluence</a:t>
            </a:r>
          </a:p>
        </p:txBody>
      </p:sp>
      <p:sp>
        <p:nvSpPr>
          <p:cNvPr id="24" name="Confluence evidence title">
            <a:extLst xmlns:a="http://schemas.openxmlformats.org/drawingml/2006/main">
              <a:ext uri="{FF2B5EF4-FFF2-40B4-BE49-F238E27FC236}">
                <a16:creationId xmlns:a16="http://schemas.microsoft.com/office/drawing/2014/main" id="{16857101-82AD-4766-8E38-194AB43B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785" y="3009900"/>
            <a:ext cx="217360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234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82234"/>
                </a:solidFill>
                <a:latin typeface="Inter"/>
                <a:ea typeface="Inter"/>
                <a:cs typeface="Inter"/>
              </a:rPr>
              <a:t>Payment Gateway</a:t>
            </a:r>
          </a:p>
          <a:p xmlns:a="http://schemas.openxmlformats.org/drawingml/2006/main">
            <a:pPr algn="l">
              <a:defRPr sz="1275" b="1">
                <a:solidFill>
                  <a:srgbClr val="182234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82234"/>
                </a:solidFill>
                <a:latin typeface="Inter"/>
                <a:ea typeface="Inter"/>
                <a:cs typeface="Inter"/>
              </a:rPr>
              <a:t>Incident Runbook</a:t>
            </a:r>
          </a:p>
        </p:txBody>
      </p:sp>
      <p:sp>
        <p:nvSpPr>
          <p:cNvPr id="25" name="Confluence evidence summary">
            <a:extLst xmlns:a="http://schemas.openxmlformats.org/drawingml/2006/main">
              <a:ext uri="{FF2B5EF4-FFF2-40B4-BE49-F238E27FC236}">
                <a16:creationId xmlns:a16="http://schemas.microsoft.com/office/drawing/2014/main" id="{34FCC6F4-6927-48AE-B782-5D37E9AC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785" y="3581400"/>
            <a:ext cx="217360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38D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5738D"/>
                </a:solidFill>
                <a:latin typeface="Inter"/>
                <a:ea typeface="Inter"/>
                <a:cs typeface="Inter"/>
              </a:rPr>
              <a:t>Cap retries, drain the pool</a:t>
            </a:r>
          </a:p>
          <a:p xmlns:a="http://schemas.openxmlformats.org/drawingml/2006/main">
            <a:pPr algn="l">
              <a:defRPr sz="1275" b="0">
                <a:solidFill>
                  <a:srgbClr val="65738D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5738D"/>
                </a:solidFill>
                <a:latin typeface="Inter"/>
                <a:ea typeface="Inter"/>
                <a:cs typeface="Inter"/>
              </a:rPr>
              <a:t>and check replica lag</a:t>
            </a:r>
          </a:p>
          <a:p xmlns:a="http://schemas.openxmlformats.org/drawingml/2006/main">
            <a:pPr algn="l">
              <a:defRPr sz="1275" b="0">
                <a:solidFill>
                  <a:srgbClr val="65738D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5738D"/>
                </a:solidFill>
                <a:latin typeface="Inter"/>
                <a:ea typeface="Inter"/>
                <a:cs typeface="Inter"/>
              </a:rPr>
              <a:t>before failover.</a:t>
            </a:r>
          </a:p>
        </p:txBody>
      </p:sp>
      <p:sp>
        <p:nvSpPr>
          <p:cNvPr id="26" name="Confluence readers label">
            <a:extLst xmlns:a="http://schemas.openxmlformats.org/drawingml/2006/main">
              <a:ext uri="{FF2B5EF4-FFF2-40B4-BE49-F238E27FC236}">
                <a16:creationId xmlns:a16="http://schemas.microsoft.com/office/drawing/2014/main" id="{F30E884B-6964-497C-88A9-3EC00677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785" y="4362450"/>
            <a:ext cx="217360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54CE1"/>
                </a:solidFill>
                <a:latin typeface="Inter"/>
                <a:ea typeface="Inter"/>
                <a:cs typeface="Inter"/>
              </a:defRPr>
            </a:pPr>
            <a:r>
              <a:rPr sz="863" b="1">
                <a:solidFill>
                  <a:srgbClr val="554CE1"/>
                </a:solidFill>
                <a:latin typeface="Inter"/>
                <a:ea typeface="Inter"/>
                <a:cs typeface="Inter"/>
              </a:rPr>
              <a:t>PEOPLE WITH ACCESS</a:t>
            </a:r>
          </a:p>
        </p:txBody>
      </p:sp>
      <p:sp>
        <p:nvSpPr>
          <p:cNvPr id="27" name="Confluence Alice access">
            <a:extLst xmlns:a="http://schemas.openxmlformats.org/drawingml/2006/main">
              <a:ext uri="{FF2B5EF4-FFF2-40B4-BE49-F238E27FC236}">
                <a16:creationId xmlns:a16="http://schemas.microsoft.com/office/drawing/2014/main" id="{CC012A85-98B9-4E2A-B9AB-63CF527E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785" y="46386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2234"/>
                </a:solidFill>
                <a:latin typeface="Inter"/>
                <a:ea typeface="Inter"/>
                <a:cs typeface="Inter"/>
              </a:rPr>
              <a:t>Alice</a:t>
            </a:r>
          </a:p>
        </p:txBody>
      </p:sp>
      <p:sp>
        <p:nvSpPr>
          <p:cNvPr id="28" name="Confluence Alice level">
            <a:extLst xmlns:a="http://schemas.openxmlformats.org/drawingml/2006/main">
              <a:ext uri="{FF2B5EF4-FFF2-40B4-BE49-F238E27FC236}">
                <a16:creationId xmlns:a16="http://schemas.microsoft.com/office/drawing/2014/main" id="{B952D75F-29CB-45CA-8176-41472462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935" y="46577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38D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5738D"/>
                </a:solidFill>
                <a:latin typeface="Inter"/>
                <a:ea typeface="Inter"/>
                <a:cs typeface="Inter"/>
              </a:rPr>
              <a:t>Read access</a:t>
            </a:r>
          </a:p>
        </p:txBody>
      </p:sp>
      <p:sp>
        <p:nvSpPr>
          <p:cNvPr id="29" name="Confluence Bob access">
            <a:extLst xmlns:a="http://schemas.openxmlformats.org/drawingml/2006/main">
              <a:ext uri="{FF2B5EF4-FFF2-40B4-BE49-F238E27FC236}">
                <a16:creationId xmlns:a16="http://schemas.microsoft.com/office/drawing/2014/main" id="{5CDBBEF0-64AF-4EE2-A749-83B3523F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785" y="49339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2234"/>
                </a:solidFill>
                <a:latin typeface="Inter"/>
                <a:ea typeface="Inter"/>
                <a:cs typeface="Inter"/>
              </a:rPr>
              <a:t>Bob</a:t>
            </a:r>
          </a:p>
        </p:txBody>
      </p:sp>
      <p:sp>
        <p:nvSpPr>
          <p:cNvPr id="30" name="Confluence Bob level">
            <a:extLst xmlns:a="http://schemas.openxmlformats.org/drawingml/2006/main">
              <a:ext uri="{FF2B5EF4-FFF2-40B4-BE49-F238E27FC236}">
                <a16:creationId xmlns:a16="http://schemas.microsoft.com/office/drawing/2014/main" id="{AA8D8E56-B3AB-4CDE-8479-47C31FD4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935" y="49530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38D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5738D"/>
                </a:solidFill>
                <a:latin typeface="Inter"/>
                <a:ea typeface="Inter"/>
                <a:cs typeface="Inter"/>
              </a:rPr>
              <a:t>Read access</a:t>
            </a:r>
          </a:p>
        </p:txBody>
      </p:sp>
      <p:sp>
        <p:nvSpPr>
          <p:cNvPr id="31" name="Slack source">
            <a:extLst xmlns:a="http://schemas.openxmlformats.org/drawingml/2006/main">
              <a:ext uri="{FF2B5EF4-FFF2-40B4-BE49-F238E27FC236}">
                <a16:creationId xmlns:a16="http://schemas.microsoft.com/office/drawing/2014/main" id="{481973FA-4095-4762-889A-8191072A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490" y="2400300"/>
            <a:ext cx="2554605" cy="2857500"/>
          </a:xfrm>
          <a:prstGeom xmlns:a="http://schemas.openxmlformats.org/drawingml/2006/main" prst="roundRect">
            <a:avLst>
              <a:gd name="adj" fmla="val 37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F"/>
            </a:solidFill>
          </a:ln>
        </p:spPr>
      </p:sp>
      <p:sp>
        <p:nvSpPr>
          <p:cNvPr id="32" name="Slack heading">
            <a:extLst xmlns:a="http://schemas.openxmlformats.org/drawingml/2006/main">
              <a:ext uri="{FF2B5EF4-FFF2-40B4-BE49-F238E27FC236}">
                <a16:creationId xmlns:a16="http://schemas.microsoft.com/office/drawing/2014/main" id="{BC9F0D47-ED96-4B40-B137-D8F65C7A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990" y="2590800"/>
            <a:ext cx="217360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83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008F83"/>
                </a:solidFill>
                <a:latin typeface="Inter"/>
                <a:ea typeface="Inter"/>
                <a:cs typeface="Inter"/>
              </a:rPr>
              <a:t>Slack</a:t>
            </a:r>
          </a:p>
        </p:txBody>
      </p:sp>
      <p:sp>
        <p:nvSpPr>
          <p:cNvPr id="33" name="Slack evidence title">
            <a:extLst xmlns:a="http://schemas.openxmlformats.org/drawingml/2006/main">
              <a:ext uri="{FF2B5EF4-FFF2-40B4-BE49-F238E27FC236}">
                <a16:creationId xmlns:a16="http://schemas.microsoft.com/office/drawing/2014/main" id="{9341503B-144A-49DB-BCBD-C1344F08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990" y="3009900"/>
            <a:ext cx="217360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234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82234"/>
                </a:solidFill>
                <a:latin typeface="Inter"/>
                <a:ea typeface="Inter"/>
                <a:cs typeface="Inter"/>
              </a:rPr>
              <a:t>#payment-incident</a:t>
            </a:r>
          </a:p>
        </p:txBody>
      </p:sp>
      <p:sp>
        <p:nvSpPr>
          <p:cNvPr id="34" name="Slack evidence summary">
            <a:extLst xmlns:a="http://schemas.openxmlformats.org/drawingml/2006/main">
              <a:ext uri="{FF2B5EF4-FFF2-40B4-BE49-F238E27FC236}">
                <a16:creationId xmlns:a16="http://schemas.microsoft.com/office/drawing/2014/main" id="{36D83845-B123-46A4-9622-87539193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990" y="3581400"/>
            <a:ext cx="217360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38D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5738D"/>
                </a:solidFill>
                <a:latin typeface="Inter"/>
                <a:ea typeface="Inter"/>
                <a:cs typeface="Inter"/>
              </a:rPr>
              <a:t>Agreed mitigation:</a:t>
            </a:r>
          </a:p>
          <a:p xmlns:a="http://schemas.openxmlformats.org/drawingml/2006/main">
            <a:pPr algn="l">
              <a:defRPr sz="1275" b="0">
                <a:solidFill>
                  <a:srgbClr val="65738D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5738D"/>
                </a:solidFill>
                <a:latin typeface="Inter"/>
                <a:ea typeface="Inter"/>
                <a:cs typeface="Inter"/>
              </a:rPr>
              <a:t>retry cap, jitter and</a:t>
            </a:r>
          </a:p>
          <a:p xmlns:a="http://schemas.openxmlformats.org/drawingml/2006/main">
            <a:pPr algn="l">
              <a:defRPr sz="1275" b="0">
                <a:solidFill>
                  <a:srgbClr val="65738D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5738D"/>
                </a:solidFill>
                <a:latin typeface="Inter"/>
                <a:ea typeface="Inter"/>
                <a:cs typeface="Inter"/>
              </a:rPr>
              <a:t>database-pool monitoring.</a:t>
            </a:r>
          </a:p>
        </p:txBody>
      </p:sp>
      <p:sp>
        <p:nvSpPr>
          <p:cNvPr id="35" name="Slack readers label">
            <a:extLst xmlns:a="http://schemas.openxmlformats.org/drawingml/2006/main">
              <a:ext uri="{FF2B5EF4-FFF2-40B4-BE49-F238E27FC236}">
                <a16:creationId xmlns:a16="http://schemas.microsoft.com/office/drawing/2014/main" id="{732766EA-78CE-4DD2-9149-685C6228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990" y="4362450"/>
            <a:ext cx="217360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08F83"/>
                </a:solidFill>
                <a:latin typeface="Inter"/>
                <a:ea typeface="Inter"/>
                <a:cs typeface="Inter"/>
              </a:defRPr>
            </a:pPr>
            <a:r>
              <a:rPr sz="863" b="1">
                <a:solidFill>
                  <a:srgbClr val="008F83"/>
                </a:solidFill>
                <a:latin typeface="Inter"/>
                <a:ea typeface="Inter"/>
                <a:cs typeface="Inter"/>
              </a:rPr>
              <a:t>PEOPLE WITH ACCESS</a:t>
            </a:r>
          </a:p>
        </p:txBody>
      </p:sp>
      <p:sp>
        <p:nvSpPr>
          <p:cNvPr id="36" name="Slack Alice access">
            <a:extLst xmlns:a="http://schemas.openxmlformats.org/drawingml/2006/main">
              <a:ext uri="{FF2B5EF4-FFF2-40B4-BE49-F238E27FC236}">
                <a16:creationId xmlns:a16="http://schemas.microsoft.com/office/drawing/2014/main" id="{8C99C0C3-20CA-4739-A92B-61C09A7F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990" y="46386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2234"/>
                </a:solidFill>
                <a:latin typeface="Inter"/>
                <a:ea typeface="Inter"/>
                <a:cs typeface="Inter"/>
              </a:rPr>
              <a:t>Alice</a:t>
            </a:r>
          </a:p>
        </p:txBody>
      </p:sp>
      <p:sp>
        <p:nvSpPr>
          <p:cNvPr id="37" name="Slack Alice level">
            <a:extLst xmlns:a="http://schemas.openxmlformats.org/drawingml/2006/main">
              <a:ext uri="{FF2B5EF4-FFF2-40B4-BE49-F238E27FC236}">
                <a16:creationId xmlns:a16="http://schemas.microsoft.com/office/drawing/2014/main" id="{DAE05DB9-0698-46A3-95E8-2DE918F5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46577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38D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5738D"/>
                </a:solidFill>
                <a:latin typeface="Inter"/>
                <a:ea typeface="Inter"/>
                <a:cs typeface="Inter"/>
              </a:rPr>
              <a:t>Read access</a:t>
            </a:r>
          </a:p>
        </p:txBody>
      </p:sp>
      <p:sp>
        <p:nvSpPr>
          <p:cNvPr id="38" name="Slack Bob access">
            <a:extLst xmlns:a="http://schemas.openxmlformats.org/drawingml/2006/main">
              <a:ext uri="{FF2B5EF4-FFF2-40B4-BE49-F238E27FC236}">
                <a16:creationId xmlns:a16="http://schemas.microsoft.com/office/drawing/2014/main" id="{E8DD96E5-D5D1-4BD5-AE0D-3D189FC6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990" y="49339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2234"/>
                </a:solidFill>
                <a:latin typeface="Inter"/>
                <a:ea typeface="Inter"/>
                <a:cs typeface="Inter"/>
              </a:rPr>
              <a:t>Bob</a:t>
            </a:r>
          </a:p>
        </p:txBody>
      </p:sp>
      <p:sp>
        <p:nvSpPr>
          <p:cNvPr id="39" name="Slack Bob level">
            <a:extLst xmlns:a="http://schemas.openxmlformats.org/drawingml/2006/main">
              <a:ext uri="{FF2B5EF4-FFF2-40B4-BE49-F238E27FC236}">
                <a16:creationId xmlns:a16="http://schemas.microsoft.com/office/drawing/2014/main" id="{B40DC929-D04C-485C-8B82-0995D72F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49530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38D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5738D"/>
                </a:solidFill>
                <a:latin typeface="Inter"/>
                <a:ea typeface="Inter"/>
                <a:cs typeface="Inter"/>
              </a:rPr>
              <a:t>Read access</a:t>
            </a:r>
          </a:p>
        </p:txBody>
      </p:sp>
      <p:sp>
        <p:nvSpPr>
          <p:cNvPr id="40" name="Google Drive source">
            <a:extLst xmlns:a="http://schemas.openxmlformats.org/drawingml/2006/main">
              <a:ext uri="{FF2B5EF4-FFF2-40B4-BE49-F238E27FC236}">
                <a16:creationId xmlns:a16="http://schemas.microsoft.com/office/drawing/2014/main" id="{994E67D2-20FF-48F4-B067-15053F0F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9695" y="2400300"/>
            <a:ext cx="2554605" cy="2857500"/>
          </a:xfrm>
          <a:prstGeom xmlns:a="http://schemas.openxmlformats.org/drawingml/2006/main" prst="roundRect">
            <a:avLst>
              <a:gd name="adj" fmla="val 37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F"/>
            </a:solidFill>
          </a:ln>
        </p:spPr>
      </p:sp>
      <p:sp>
        <p:nvSpPr>
          <p:cNvPr id="41" name="Google Drive heading">
            <a:extLst xmlns:a="http://schemas.openxmlformats.org/drawingml/2006/main">
              <a:ext uri="{FF2B5EF4-FFF2-40B4-BE49-F238E27FC236}">
                <a16:creationId xmlns:a16="http://schemas.microsoft.com/office/drawing/2014/main" id="{10145517-82E9-4159-9948-7CABC962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195" y="2590800"/>
            <a:ext cx="217360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8044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28044"/>
                </a:solidFill>
                <a:latin typeface="Inter"/>
                <a:ea typeface="Inter"/>
                <a:cs typeface="Inter"/>
              </a:rPr>
              <a:t>Google Drive</a:t>
            </a:r>
          </a:p>
        </p:txBody>
      </p:sp>
      <p:sp>
        <p:nvSpPr>
          <p:cNvPr id="42" name="Google Drive evidence title">
            <a:extLst xmlns:a="http://schemas.openxmlformats.org/drawingml/2006/main">
              <a:ext uri="{FF2B5EF4-FFF2-40B4-BE49-F238E27FC236}">
                <a16:creationId xmlns:a16="http://schemas.microsoft.com/office/drawing/2014/main" id="{39A3A44F-8389-415F-B9B3-43754517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195" y="3009900"/>
            <a:ext cx="217360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234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82234"/>
                </a:solidFill>
                <a:latin typeface="Inter"/>
                <a:ea typeface="Inter"/>
                <a:cs typeface="Inter"/>
              </a:rPr>
              <a:t>Q3 Payment Gateway</a:t>
            </a:r>
          </a:p>
          <a:p xmlns:a="http://schemas.openxmlformats.org/drawingml/2006/main">
            <a:pPr algn="l">
              <a:defRPr sz="1275" b="1">
                <a:solidFill>
                  <a:srgbClr val="182234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82234"/>
                </a:solidFill>
                <a:latin typeface="Inter"/>
                <a:ea typeface="Inter"/>
                <a:cs typeface="Inter"/>
              </a:rPr>
              <a:t>Post-mortem</a:t>
            </a:r>
          </a:p>
        </p:txBody>
      </p:sp>
      <p:sp>
        <p:nvSpPr>
          <p:cNvPr id="43" name="Google Drive evidence summary">
            <a:extLst xmlns:a="http://schemas.openxmlformats.org/drawingml/2006/main">
              <a:ext uri="{FF2B5EF4-FFF2-40B4-BE49-F238E27FC236}">
                <a16:creationId xmlns:a16="http://schemas.microsoft.com/office/drawing/2014/main" id="{85E040C5-F33B-4730-9D6E-40C83264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195" y="3581400"/>
            <a:ext cx="217360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38D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5738D"/>
                </a:solidFill>
                <a:latin typeface="Inter"/>
                <a:ea typeface="Inter"/>
                <a:cs typeface="Inter"/>
              </a:rPr>
              <a:t>Incident impact:</a:t>
            </a:r>
          </a:p>
          <a:p xmlns:a="http://schemas.openxmlformats.org/drawingml/2006/main">
            <a:pPr algn="l">
              <a:defRPr sz="1275" b="0">
                <a:solidFill>
                  <a:srgbClr val="65738D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5738D"/>
                </a:solidFill>
                <a:latin typeface="Inter"/>
                <a:ea typeface="Inter"/>
                <a:cs typeface="Inter"/>
              </a:rPr>
              <a:t>428 failed checkout</a:t>
            </a:r>
          </a:p>
          <a:p xmlns:a="http://schemas.openxmlformats.org/drawingml/2006/main">
            <a:pPr algn="l">
              <a:defRPr sz="1275" b="0">
                <a:solidFill>
                  <a:srgbClr val="65738D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5738D"/>
                </a:solidFill>
                <a:latin typeface="Inter"/>
                <a:ea typeface="Inter"/>
                <a:cs typeface="Inter"/>
              </a:rPr>
              <a:t>attempts.</a:t>
            </a:r>
          </a:p>
        </p:txBody>
      </p:sp>
      <p:sp>
        <p:nvSpPr>
          <p:cNvPr id="44" name="Google Drive readers label">
            <a:extLst xmlns:a="http://schemas.openxmlformats.org/drawingml/2006/main">
              <a:ext uri="{FF2B5EF4-FFF2-40B4-BE49-F238E27FC236}">
                <a16:creationId xmlns:a16="http://schemas.microsoft.com/office/drawing/2014/main" id="{EC39BFFC-6FAA-400B-9A8F-8C046EFB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195" y="4362450"/>
            <a:ext cx="217360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28044"/>
                </a:solidFill>
                <a:latin typeface="Inter"/>
                <a:ea typeface="Inter"/>
                <a:cs typeface="Inter"/>
              </a:defRPr>
            </a:pPr>
            <a:r>
              <a:rPr sz="863" b="1">
                <a:solidFill>
                  <a:srgbClr val="128044"/>
                </a:solidFill>
                <a:latin typeface="Inter"/>
                <a:ea typeface="Inter"/>
                <a:cs typeface="Inter"/>
              </a:rPr>
              <a:t>PEOPLE WITH ACCESS</a:t>
            </a:r>
          </a:p>
        </p:txBody>
      </p:sp>
      <p:sp>
        <p:nvSpPr>
          <p:cNvPr id="45" name="Google Drive Alice access">
            <a:extLst xmlns:a="http://schemas.openxmlformats.org/drawingml/2006/main">
              <a:ext uri="{FF2B5EF4-FFF2-40B4-BE49-F238E27FC236}">
                <a16:creationId xmlns:a16="http://schemas.microsoft.com/office/drawing/2014/main" id="{568FAB6E-6FD4-4BB2-BF60-09B6493E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195" y="46386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2234"/>
                </a:solidFill>
                <a:latin typeface="Inter"/>
                <a:ea typeface="Inter"/>
                <a:cs typeface="Inter"/>
              </a:rPr>
              <a:t>Alice</a:t>
            </a:r>
          </a:p>
        </p:txBody>
      </p:sp>
      <p:sp>
        <p:nvSpPr>
          <p:cNvPr id="46" name="Google Drive Alice level">
            <a:extLst xmlns:a="http://schemas.openxmlformats.org/drawingml/2006/main">
              <a:ext uri="{FF2B5EF4-FFF2-40B4-BE49-F238E27FC236}">
                <a16:creationId xmlns:a16="http://schemas.microsoft.com/office/drawing/2014/main" id="{691D0FEC-6713-4943-A287-04CC0EE2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9345" y="46577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38D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5738D"/>
                </a:solidFill>
                <a:latin typeface="Inter"/>
                <a:ea typeface="Inter"/>
                <a:cs typeface="Inter"/>
              </a:rPr>
              <a:t>Read access</a:t>
            </a:r>
          </a:p>
        </p:txBody>
      </p:sp>
      <p:sp>
        <p:nvSpPr>
          <p:cNvPr id="47" name="Google Drive Bob access">
            <a:extLst xmlns:a="http://schemas.openxmlformats.org/drawingml/2006/main">
              <a:ext uri="{FF2B5EF4-FFF2-40B4-BE49-F238E27FC236}">
                <a16:creationId xmlns:a16="http://schemas.microsoft.com/office/drawing/2014/main" id="{E6B667EE-526F-4DA0-A5F6-F692AB40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195" y="49339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2234"/>
                </a:solidFill>
                <a:latin typeface="Inter"/>
                <a:ea typeface="Inter"/>
                <a:cs typeface="Inter"/>
              </a:rPr>
              <a:t>Bob</a:t>
            </a:r>
          </a:p>
        </p:txBody>
      </p:sp>
      <p:sp>
        <p:nvSpPr>
          <p:cNvPr id="48" name="Google Drive Bob level">
            <a:extLst xmlns:a="http://schemas.openxmlformats.org/drawingml/2006/main">
              <a:ext uri="{FF2B5EF4-FFF2-40B4-BE49-F238E27FC236}">
                <a16:creationId xmlns:a16="http://schemas.microsoft.com/office/drawing/2014/main" id="{E52F33C6-B5B0-4C42-B9EF-8928A221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9345" y="49530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38D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5738D"/>
                </a:solidFill>
                <a:latin typeface="Inter"/>
                <a:ea typeface="Inter"/>
                <a:cs typeface="Inter"/>
              </a:rPr>
              <a:t>Read access</a:t>
            </a:r>
          </a:p>
        </p:txBody>
      </p:sp>
      <p:sp>
        <p:nvSpPr>
          <p:cNvPr id="49" name="Live checks heading">
            <a:extLst xmlns:a="http://schemas.openxmlformats.org/drawingml/2006/main">
              <a:ext uri="{FF2B5EF4-FFF2-40B4-BE49-F238E27FC236}">
                <a16:creationId xmlns:a16="http://schemas.microsoft.com/office/drawing/2014/main" id="{646EF5EC-9E34-40CD-A944-A181C541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14975"/>
            <a:ext cx="512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4CE1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554CE1"/>
                </a:solidFill>
                <a:latin typeface="Inter"/>
                <a:ea typeface="Inter"/>
                <a:cs typeface="Inter"/>
              </a:rPr>
              <a:t>LIVE SOURCE CHECKS</a:t>
            </a:r>
          </a:p>
        </p:txBody>
      </p:sp>
      <p:sp>
        <p:nvSpPr>
          <p:cNvPr id="50" name="Live checks explanation">
            <a:extLst xmlns:a="http://schemas.openxmlformats.org/drawingml/2006/main">
              <a:ext uri="{FF2B5EF4-FFF2-40B4-BE49-F238E27FC236}">
                <a16:creationId xmlns:a16="http://schemas.microsoft.com/office/drawing/2014/main" id="{E29F943C-0738-4AC6-9C17-3C6B1A3B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91200"/>
            <a:ext cx="512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38D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5738D"/>
                </a:solidFill>
                <a:latin typeface="Inter"/>
                <a:ea typeface="Inter"/>
                <a:cs typeface="Inter"/>
              </a:rPr>
              <a:t>Relay rechecks the asking user’s provider access</a:t>
            </a:r>
          </a:p>
          <a:p xmlns:a="http://schemas.openxmlformats.org/drawingml/2006/main">
            <a:pPr algn="l">
              <a:defRPr sz="1275" b="0">
                <a:solidFill>
                  <a:srgbClr val="65738D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5738D"/>
                </a:solidFill>
                <a:latin typeface="Inter"/>
                <a:ea typeface="Inter"/>
                <a:cs typeface="Inter"/>
              </a:rPr>
              <a:t>for every query and when a citation opens.</a:t>
            </a:r>
          </a:p>
        </p:txBody>
      </p:sp>
      <p:sp>
        <p:nvSpPr>
          <p:cNvPr id="51" name="Compliance heading">
            <a:extLst xmlns:a="http://schemas.openxmlformats.org/drawingml/2006/main">
              <a:ext uri="{FF2B5EF4-FFF2-40B4-BE49-F238E27FC236}">
                <a16:creationId xmlns:a16="http://schemas.microsoft.com/office/drawing/2014/main" id="{E79C36C4-9906-484C-952B-FF44841F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490" y="5514975"/>
            <a:ext cx="533781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4CE1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554CE1"/>
                </a:solidFill>
                <a:latin typeface="Inter"/>
                <a:ea typeface="Inter"/>
                <a:cs typeface="Inter"/>
              </a:rPr>
              <a:t>CAROL’S COMPLIANCE ACCESS</a:t>
            </a:r>
          </a:p>
        </p:txBody>
      </p:sp>
      <p:sp>
        <p:nvSpPr>
          <p:cNvPr id="52" name="Compliance explanation">
            <a:extLst xmlns:a="http://schemas.openxmlformats.org/drawingml/2006/main">
              <a:ext uri="{FF2B5EF4-FFF2-40B4-BE49-F238E27FC236}">
                <a16:creationId xmlns:a16="http://schemas.microsoft.com/office/drawing/2014/main" id="{66C7768F-C2A0-48B5-A203-E57B65D4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490" y="5791200"/>
            <a:ext cx="533781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38D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5738D"/>
                </a:solidFill>
                <a:latin typeface="Inter"/>
                <a:ea typeface="Inter"/>
                <a:cs typeface="Inter"/>
              </a:rPr>
              <a:t>Carol can view the audit. Reading source content</a:t>
            </a:r>
          </a:p>
          <a:p xmlns:a="http://schemas.openxmlformats.org/drawingml/2006/main">
            <a:pPr algn="l">
              <a:defRPr sz="1275" b="0">
                <a:solidFill>
                  <a:srgbClr val="65738D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5738D"/>
                </a:solidFill>
                <a:latin typeface="Inter"/>
                <a:ea typeface="Inter"/>
                <a:cs typeface="Inter"/>
              </a:rPr>
              <a:t>still requires a separate provider grant.</a:t>
            </a:r>
          </a:p>
        </p:txBody>
      </p:sp>
    </p:spTree>
    <p:extLst>
      <p:ext uri="{BB962C8B-B14F-4D97-AF65-F5344CB8AC3E}">
        <p14:creationId xmlns:p14="http://schemas.microsoft.com/office/powerpoint/2010/main" val="8314836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A277496-3831-4A17-B175-6769F6F6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3D7"/>
          </a:solidFill>
          <a:ln xmlns:a="http://schemas.openxmlformats.org/drawingml/2006/main" w="12700">
            <a:solidFill>
              <a:srgbClr val="5253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6406547-D7A0-4C5C-AB7E-836A25EA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"/>
            <a:ext cx="9144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10" b="1" spc="120">
                <a:solidFill>
                  <a:srgbClr val="5253D7"/>
                </a:solidFill>
                <a:latin typeface="Inter"/>
                <a:ea typeface="Inter"/>
                <a:cs typeface="Inter"/>
              </a:rPr>
              <a:t>AGENT WORKFLOW</a:t>
            </a:r>
            <a:endParaRPr sz="101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3B5441E-1A02-4F68-B54D-5307F2FA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0664"/>
            <a:ext cx="1095451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5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WorkBuddy shaped the plan</a:t>
            </a:r>
            <a:endParaRPr sz="29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3090B35-6726-4C2A-A499-C94C2C75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99032"/>
            <a:ext cx="108447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10">
                <a:solidFill>
                  <a:srgbClr val="667085"/>
                </a:solidFill>
                <a:latin typeface="Inter"/>
                <a:ea typeface="Inter"/>
                <a:cs typeface="Inter"/>
              </a:rPr>
              <a:t>The planning agent turned a broad challenge into a demonstrable, testable proposal.</a:t>
            </a:r>
            <a:endParaRPr sz="141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534A4FA-29E7-44A7-A160-D01E7CDA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37376"/>
            <a:ext cx="109087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862869C-1919-4CC0-8B0E-4D9247B9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28816"/>
            <a:ext cx="5852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relay</a:t>
            </a:r>
            <a:endParaRPr sz="104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E48A593-AC20-4583-A4C6-D2473A0D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6528816"/>
            <a:ext cx="27432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70">
                <a:solidFill>
                  <a:srgbClr val="94A3B8"/>
                </a:solidFill>
                <a:latin typeface="Inter"/>
                <a:ea typeface="Inter"/>
                <a:cs typeface="Inter"/>
              </a:rPr>
              <a:t>/ Tencent Hackathon demo</a:t>
            </a:r>
            <a:endParaRPr sz="97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5FFEF0D-6017-4B1F-9D3D-19D30D04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6808" y="651967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06</a:t>
            </a:r>
            <a:endParaRPr sz="10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463EE31-A4C2-4969-A3AF-A0DF6229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31136"/>
            <a:ext cx="2596896" cy="2697480"/>
          </a:xfrm>
          <a:prstGeom xmlns:a="http://schemas.openxmlformats.org/drawingml/2006/main" prst="roundRect">
            <a:avLst>
              <a:gd name="adj" fmla="val 63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372E473-69A8-44AD-99C4-56F18FE8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468880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0FF"/>
          </a:solidFill>
          <a:ln xmlns:a="http://schemas.openxmlformats.org/drawingml/2006/main" w="12700">
            <a:solidFill>
              <a:srgbClr val="EF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0F0ACA3-D733-4FD8-B23F-E7C4774C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560320"/>
            <a:ext cx="4114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01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618B81C-BE32-4B67-B6FA-9ECF30F1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063240"/>
            <a:ext cx="21945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Initial idea</a:t>
            </a:r>
            <a:endParaRPr sz="174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61F4B3D-AE1A-4532-86AC-BC037A25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621024"/>
            <a:ext cx="2194560" cy="1033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67085"/>
                </a:solidFill>
                <a:latin typeface="Inter"/>
                <a:ea typeface="Inter"/>
                <a:cs typeface="Inter"/>
              </a:rPr>
              <a:t>A unified enterprise assistant that could answer across the tools teams already use.</a:t>
            </a:r>
            <a:endParaRPr sz="14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CA63DE5-3365-444D-89AC-FDDCBCEE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2231136"/>
            <a:ext cx="2596896" cy="2697480"/>
          </a:xfrm>
          <a:prstGeom xmlns:a="http://schemas.openxmlformats.org/drawingml/2006/main" prst="roundRect">
            <a:avLst>
              <a:gd name="adj" fmla="val 63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CDB95B5-C1C7-447E-B605-07443A81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468880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0FF"/>
          </a:solidFill>
          <a:ln xmlns:a="http://schemas.openxmlformats.org/drawingml/2006/main" w="12700">
            <a:solidFill>
              <a:srgbClr val="EF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F4CC526-830B-4398-A3B7-6166ECF3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560320"/>
            <a:ext cx="4114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02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3A33EB2-422C-474C-B911-5A51814A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063240"/>
            <a:ext cx="21945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First proposal</a:t>
            </a:r>
            <a:endParaRPr sz="174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971EFFA-35B5-42C7-9F54-94C4F3EB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621024"/>
            <a:ext cx="2194560" cy="1033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67085"/>
                </a:solidFill>
                <a:latin typeface="Inter"/>
                <a:ea typeface="Inter"/>
                <a:cs typeface="Inter"/>
              </a:rPr>
              <a:t>We drafted the use case, target users, security promise and demo scope with WorkBuddy.</a:t>
            </a:r>
            <a:endParaRPr sz="14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E48A12C-EACA-447B-B251-9236D099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231136"/>
            <a:ext cx="2596896" cy="2697480"/>
          </a:xfrm>
          <a:prstGeom xmlns:a="http://schemas.openxmlformats.org/drawingml/2006/main" prst="roundRect">
            <a:avLst>
              <a:gd name="adj" fmla="val 63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3A55DED-A757-4FFC-884E-A7D3F806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468880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0FF"/>
          </a:solidFill>
          <a:ln xmlns:a="http://schemas.openxmlformats.org/drawingml/2006/main" w="12700">
            <a:solidFill>
              <a:srgbClr val="EF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892DC53-5AD4-42D9-803B-4776FC3F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560320"/>
            <a:ext cx="4114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03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66D24B3-B768-4188-9DB6-868FC4CA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063240"/>
            <a:ext cx="21945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Iterative critique</a:t>
            </a:r>
            <a:endParaRPr sz="174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45C8F54-9B97-4C04-8317-63C52DC6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621024"/>
            <a:ext cx="2194560" cy="1033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67085"/>
                </a:solidFill>
                <a:latin typeface="Inter"/>
                <a:ea typeface="Inter"/>
                <a:cs typeface="Inter"/>
              </a:rPr>
              <a:t>We asked WorkBuddy to challenge assumptions, clarify the access boundary and expose failure modes.</a:t>
            </a:r>
            <a:endParaRPr sz="14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17F0297-898C-4D2C-B273-21351095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2231136"/>
            <a:ext cx="2596896" cy="2697480"/>
          </a:xfrm>
          <a:prstGeom xmlns:a="http://schemas.openxmlformats.org/drawingml/2006/main" prst="roundRect">
            <a:avLst>
              <a:gd name="adj" fmla="val 63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24F1EAF-D5B9-4287-B960-D6AAAD86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468880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9F5"/>
          </a:solidFill>
          <a:ln xmlns:a="http://schemas.openxmlformats.org/drawingml/2006/main" w="12700">
            <a:solidFill>
              <a:srgbClr val="ECF9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D265603-5D82-42AB-AF76-B02FCE77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560320"/>
            <a:ext cx="4114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B927D"/>
                </a:solidFill>
                <a:latin typeface="Inter"/>
                <a:ea typeface="Inter"/>
                <a:cs typeface="Inter"/>
              </a:rPr>
              <a:t>04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C148B84-10CC-43B1-A695-C96083EF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3063240"/>
            <a:ext cx="21945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Testable plan</a:t>
            </a:r>
            <a:endParaRPr sz="174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27894FE-DC95-4C81-A52F-FD569D32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3621024"/>
            <a:ext cx="2194560" cy="1033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67085"/>
                </a:solidFill>
                <a:latin typeface="Inter"/>
                <a:ea typeface="Inter"/>
                <a:cs typeface="Inter"/>
              </a:rPr>
              <a:t>We refined the work into cross-source retrieval, denial, revocation, freshness and audit scenarios.</a:t>
            </a:r>
            <a:endParaRPr sz="14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8FAB31E5-4E58-4B7C-BC92-2F3CEB08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85232"/>
            <a:ext cx="10908792" cy="832104"/>
          </a:xfrm>
          <a:prstGeom xmlns:a="http://schemas.openxmlformats.org/drawingml/2006/main" prst="roundRect">
            <a:avLst>
              <a:gd name="adj" fmla="val 19780"/>
            </a:avLst>
          </a:prstGeom>
          <a:solidFill xmlns:a="http://schemas.openxmlformats.org/drawingml/2006/main">
            <a:srgbClr val="EFF0FF"/>
          </a:solidFill>
          <a:ln xmlns:a="http://schemas.openxmlformats.org/drawingml/2006/main" w="10160">
            <a:solidFill>
              <a:srgbClr val="E1E5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B8B933D-5710-419B-A15C-04EE36E8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458968"/>
            <a:ext cx="9144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10" b="1" spc="120">
                <a:solidFill>
                  <a:srgbClr val="5253D7"/>
                </a:solidFill>
                <a:latin typeface="Inter"/>
                <a:ea typeface="Inter"/>
                <a:cs typeface="Inter"/>
              </a:rPr>
              <a:t>THE OUTCOME · FROM AI SEARCH TO TRUSTWORTHY RETRIEVAL</a:t>
            </a:r>
            <a:endParaRPr sz="101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6ACB8EF-F213-44F7-8699-33AF1FDF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760720"/>
            <a:ext cx="10241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Every answer must remain inside the asking user’s permission boundary.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3192668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26BD378-D1A6-4C56-9DDE-329F0E8D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3D7"/>
          </a:solidFill>
          <a:ln xmlns:a="http://schemas.openxmlformats.org/drawingml/2006/main" w="12700">
            <a:solidFill>
              <a:srgbClr val="5253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0EC4CF-67D0-4432-9F91-31EA4886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"/>
            <a:ext cx="9144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10" b="1" spc="120">
                <a:solidFill>
                  <a:srgbClr val="5253D7"/>
                </a:solidFill>
                <a:latin typeface="Inter"/>
                <a:ea typeface="Inter"/>
                <a:cs typeface="Inter"/>
              </a:rPr>
              <a:t>AGENT WORKFLOW</a:t>
            </a:r>
            <a:endParaRPr sz="101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2A1BCC8-5642-46ED-B172-5ACCA29B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0664"/>
            <a:ext cx="1095451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5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CodeBuddy in the build loop</a:t>
            </a:r>
            <a:endParaRPr sz="29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177D78B-32F0-4EEA-BD7C-1848E2B7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99032"/>
            <a:ext cx="108447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10">
                <a:solidFill>
                  <a:srgbClr val="667085"/>
                </a:solidFill>
                <a:latin typeface="Inter"/>
                <a:ea typeface="Inter"/>
                <a:cs typeface="Inter"/>
              </a:rPr>
              <a:t>CodeBuddy supported a disciplined engineering rhythm from specification to demo.</a:t>
            </a:r>
            <a:endParaRPr sz="141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01424BC-FCD3-40DC-9F6E-D283E3D2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37376"/>
            <a:ext cx="109087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072C4A3-B434-4813-8DB3-CB474981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28816"/>
            <a:ext cx="5852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relay</a:t>
            </a:r>
            <a:endParaRPr sz="104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4669BE8-A8C3-4560-BB3C-9FB9D9AF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6528816"/>
            <a:ext cx="27432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70">
                <a:solidFill>
                  <a:srgbClr val="94A3B8"/>
                </a:solidFill>
                <a:latin typeface="Inter"/>
                <a:ea typeface="Inter"/>
                <a:cs typeface="Inter"/>
              </a:rPr>
              <a:t>/ Tencent Hackathon demo</a:t>
            </a:r>
            <a:endParaRPr sz="97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7A79A7F-49D3-440D-B881-58CB74FA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6808" y="651967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07</a:t>
            </a:r>
            <a:endParaRPr sz="10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6E3CD4B-9A59-4AB7-BAE2-DE97AE5C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984248"/>
            <a:ext cx="9144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10" b="1" spc="120">
                <a:solidFill>
                  <a:srgbClr val="5253D7"/>
                </a:solidFill>
                <a:latin typeface="Inter"/>
                <a:ea typeface="Inter"/>
                <a:cs typeface="Inter"/>
              </a:rPr>
              <a:t>FROM SPECIFICATION TO WORKING DEMO</a:t>
            </a:r>
            <a:endParaRPr sz="101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FCD7EB5-4FE0-451C-B5DC-A69F771E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95728"/>
            <a:ext cx="8439912" cy="749808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8982A38-B22D-4274-AD50-839466CD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606040"/>
            <a:ext cx="338328" cy="3383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0FF"/>
          </a:solidFill>
          <a:ln xmlns:a="http://schemas.openxmlformats.org/drawingml/2006/main" w="12700">
            <a:solidFill>
              <a:srgbClr val="EF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B5B0C7C-F447-493D-A9B4-D4181327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706624"/>
            <a:ext cx="33832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6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01</a:t>
            </a:r>
            <a:endParaRPr sz="106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C123D98-5D16-42F6-A601-144DD5EF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8608"/>
            <a:ext cx="22128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Read the specification</a:t>
            </a:r>
            <a:endParaRPr sz="15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5E01035-28CA-4557-AFDE-188F24C2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2569464"/>
            <a:ext cx="16459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1270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C4F79FA-66D5-4D9E-963D-39E467F7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2532888"/>
            <a:ext cx="496519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67085"/>
                </a:solidFill>
                <a:latin typeface="Inter"/>
                <a:ea typeface="Inter"/>
                <a:cs typeface="Inter"/>
              </a:rPr>
              <a:t>Mapped security requirements to frontend, API, worker and audit responsibilities.</a:t>
            </a:r>
            <a:endParaRPr sz="13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A83EA07-368C-4CE1-AAF0-88715831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55264"/>
            <a:ext cx="8439912" cy="749808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D68805B-ECFB-45C3-A646-F524D7DF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465576"/>
            <a:ext cx="338328" cy="3383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0FF"/>
          </a:solidFill>
          <a:ln xmlns:a="http://schemas.openxmlformats.org/drawingml/2006/main" w="12700">
            <a:solidFill>
              <a:srgbClr val="EF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295A723-4017-4CB9-AF92-2958509E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566160"/>
            <a:ext cx="33832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6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02</a:t>
            </a:r>
            <a:endParaRPr sz="106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4897073-C3E8-43E7-8AA4-3C068CD5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38144"/>
            <a:ext cx="22128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Implement in slices</a:t>
            </a:r>
            <a:endParaRPr sz="15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3757B9C-1731-404E-A269-0BFB0713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3429000"/>
            <a:ext cx="16459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1270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9AE0ACF-C2E8-4EBC-9081-352B8DC1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3392424"/>
            <a:ext cx="496519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67085"/>
                </a:solidFill>
                <a:latin typeface="Inter"/>
                <a:ea typeface="Inter"/>
                <a:cs typeface="Inter"/>
              </a:rPr>
              <a:t>Drafted and refined focused changes instead of tackling the entire system at once.</a:t>
            </a:r>
            <a:endParaRPr sz="13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279D0A3-6E25-402E-9B44-6D1D4012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0"/>
            <a:ext cx="8439912" cy="749808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C060983-16E5-4E09-B168-AE2522A5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38328" cy="3383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0FF"/>
          </a:solidFill>
          <a:ln xmlns:a="http://schemas.openxmlformats.org/drawingml/2006/main" w="12700">
            <a:solidFill>
              <a:srgbClr val="EF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840B235-D2F7-4E32-8894-46F629B8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425696"/>
            <a:ext cx="33832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6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03</a:t>
            </a:r>
            <a:endParaRPr sz="106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267A229-1E2A-41B2-9B2A-14641D88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97680"/>
            <a:ext cx="22128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Review and debug</a:t>
            </a:r>
            <a:endParaRPr sz="15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D4B3556-497B-49A6-AF71-A25739F7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4288536"/>
            <a:ext cx="16459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1270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BD0584B-7683-4263-A9E2-C78AC61B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4251960"/>
            <a:ext cx="496519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67085"/>
                </a:solidFill>
                <a:latin typeface="Inter"/>
                <a:ea typeface="Inter"/>
                <a:cs typeface="Inter"/>
              </a:rPr>
              <a:t>Used targeted tests and code review to check query stages, citations and fail-closed behaviour.</a:t>
            </a:r>
            <a:endParaRPr sz="13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F6A75376-8B07-40D3-A836-22E7A9A5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74336"/>
            <a:ext cx="8439912" cy="749808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28A977B6-FC0F-4780-BFF5-B4849CF4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5184648"/>
            <a:ext cx="338328" cy="3383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0FF"/>
          </a:solidFill>
          <a:ln xmlns:a="http://schemas.openxmlformats.org/drawingml/2006/main" w="12700">
            <a:solidFill>
              <a:srgbClr val="EF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3AF719C2-93AD-4BCD-9E8E-766E8C57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5285232"/>
            <a:ext cx="33832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60" b="1">
                <a:solidFill>
                  <a:srgbClr val="5253D7"/>
                </a:solidFill>
                <a:latin typeface="Inter"/>
                <a:ea typeface="Inter"/>
                <a:cs typeface="Inter"/>
              </a:rPr>
              <a:t>04</a:t>
            </a:r>
            <a:endParaRPr sz="106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EC92A4E-77E8-4313-982B-BFD2AA5D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57216"/>
            <a:ext cx="22128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Prepare the demo</a:t>
            </a:r>
            <a:endParaRPr sz="15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7AFEF2E3-46AB-4A1B-965A-3B5F0A43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5148072"/>
            <a:ext cx="16459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1270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5255C817-2D3E-4F28-B3B4-F9D68C73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5111496"/>
            <a:ext cx="496519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67085"/>
                </a:solidFill>
                <a:latin typeface="Inter"/>
                <a:ea typeface="Inter"/>
                <a:cs typeface="Inter"/>
              </a:rPr>
              <a:t>Turned live scenarios into a repeatable walkthrough and presenter script.</a:t>
            </a:r>
            <a:endParaRPr sz="13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70020416-660E-487B-8F56-D83932F2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395728"/>
            <a:ext cx="2258568" cy="3630168"/>
          </a:xfrm>
          <a:prstGeom xmlns:a="http://schemas.openxmlformats.org/drawingml/2006/main" prst="roundRect">
            <a:avLst>
              <a:gd name="adj" fmla="val 7287"/>
            </a:avLst>
          </a:prstGeom>
          <a:solidFill xmlns:a="http://schemas.openxmlformats.org/drawingml/2006/main">
            <a:srgbClr val="EFF0FF"/>
          </a:solidFill>
          <a:ln xmlns:a="http://schemas.openxmlformats.org/drawingml/2006/main" w="10160">
            <a:solidFill>
              <a:srgbClr val="E0E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A722E26C-0D33-4FC3-A870-CE259CEE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270662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53D7"/>
          </a:solidFill>
          <a:ln xmlns:a="http://schemas.openxmlformats.org/drawingml/2006/main" w="12700">
            <a:solidFill>
              <a:srgbClr val="5253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00DA1106-2099-425D-972A-3A64B88D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442" y="278434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875D7A11-CC39-4860-874B-127781FB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208" y="2953512"/>
            <a:ext cx="219456" cy="10972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D641DDAE-D74F-49E0-B86F-4DB87D1F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3401568"/>
            <a:ext cx="17647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1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Human</a:t>
            </a:r>
            <a:endParaRPr sz="2010"/>
          </a:p>
          <a:p xmlns:a="http://schemas.openxmlformats.org/drawingml/2006/main">
            <a:pPr marL="0" indent="0" algn="l">
              <a:buNone/>
            </a:pPr>
            <a:r>
              <a:rPr sz="201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judgement</a:t>
            </a:r>
            <a:endParaRPr sz="201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81DEE18E-B21C-4A01-85E0-F3FD6D75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4352544"/>
            <a:ext cx="1691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DA93F8CD-D40D-4CB2-83C8-CD658665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4526280"/>
            <a:ext cx="1691640" cy="1252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60">
                <a:solidFill>
                  <a:srgbClr val="667085"/>
                </a:solidFill>
                <a:latin typeface="Inter"/>
                <a:ea typeface="Inter"/>
                <a:cs typeface="Inter"/>
              </a:rPr>
              <a:t>The team retained final product decisions and validated the observed behaviour.</a:t>
            </a:r>
            <a:endParaRPr sz="1360"/>
          </a:p>
        </p:txBody>
      </p:sp>
    </p:spTree>
    <p:extLst>
      <p:ext uri="{BB962C8B-B14F-4D97-AF65-F5344CB8AC3E}">
        <p14:creationId xmlns:p14="http://schemas.microsoft.com/office/powerpoint/2010/main" val="8101190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87AB5B5-B72F-4649-9425-034C5BC5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3D7"/>
          </a:solidFill>
          <a:ln xmlns:a="http://schemas.openxmlformats.org/drawingml/2006/main" w="12700">
            <a:solidFill>
              <a:srgbClr val="5253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E67DDC1-89DB-45A5-B4BA-C5B5C13B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"/>
            <a:ext cx="9144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10" b="1" spc="120">
                <a:solidFill>
                  <a:srgbClr val="5253D7"/>
                </a:solidFill>
                <a:latin typeface="Inter"/>
                <a:ea typeface="Inter"/>
                <a:cs typeface="Inter"/>
              </a:rPr>
              <a:t>REFLECTION</a:t>
            </a:r>
            <a:endParaRPr sz="101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4DB5577-1CDD-40E3-9CE3-4BB8B476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0664"/>
            <a:ext cx="1095451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5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What we learned</a:t>
            </a:r>
            <a:endParaRPr sz="29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6A9936D-B9EE-4B35-A207-C698F95A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99032"/>
            <a:ext cx="108447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10">
                <a:solidFill>
                  <a:srgbClr val="667085"/>
                </a:solidFill>
                <a:latin typeface="Inter"/>
                <a:ea typeface="Inter"/>
                <a:cs typeface="Inter"/>
              </a:rPr>
              <a:t>Relay made the central trade-off visible: useful answers must also be trustworthy.</a:t>
            </a:r>
            <a:endParaRPr sz="141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25BA982-EEF7-4429-B593-9F64CC41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37376"/>
            <a:ext cx="109087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C103540-2582-41DE-8FA1-BD7B2BD6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28816"/>
            <a:ext cx="5852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relay</a:t>
            </a:r>
            <a:endParaRPr sz="104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DA84613-840F-4BBE-8BA9-1CB4DC3C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6528816"/>
            <a:ext cx="27432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70">
                <a:solidFill>
                  <a:srgbClr val="94A3B8"/>
                </a:solidFill>
                <a:latin typeface="Inter"/>
                <a:ea typeface="Inter"/>
                <a:cs typeface="Inter"/>
              </a:rPr>
              <a:t>/ Tencent Hackathon demo</a:t>
            </a:r>
            <a:endParaRPr sz="97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0AD1EA8-633F-4948-A48B-BF879049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6808" y="651967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08</a:t>
            </a:r>
            <a:endParaRPr sz="10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857EC53-D750-481C-B0D9-E03C8130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400"/>
            <a:ext cx="10908792" cy="1307592"/>
          </a:xfrm>
          <a:prstGeom xmlns:a="http://schemas.openxmlformats.org/drawingml/2006/main" prst="roundRect">
            <a:avLst>
              <a:gd name="adj" fmla="val 14685"/>
            </a:avLst>
          </a:prstGeom>
          <a:solidFill xmlns:a="http://schemas.openxmlformats.org/drawingml/2006/main">
            <a:srgbClr val="EFF0FF"/>
          </a:solidFill>
          <a:ln xmlns:a="http://schemas.openxmlformats.org/drawingml/2006/main" w="10160">
            <a:solidFill>
              <a:srgbClr val="E0E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4C52ADC-0156-4655-BDE4-E1DD4739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313432"/>
            <a:ext cx="64922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3D7"/>
          </a:solidFill>
          <a:ln xmlns:a="http://schemas.openxmlformats.org/drawingml/2006/main" w="12700">
            <a:solidFill>
              <a:srgbClr val="5253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2DE61F5-6DC9-4EC2-85A1-97A23807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276856"/>
            <a:ext cx="992124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1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Authorisation cannot be a filter after search.</a:t>
            </a:r>
            <a:endParaRPr sz="2410"/>
          </a:p>
          <a:p xmlns:a="http://schemas.openxmlformats.org/drawingml/2006/main">
            <a:pPr marL="0" indent="0" algn="l">
              <a:buNone/>
            </a:pPr>
            <a:r>
              <a:rPr sz="2410" b="1">
                <a:solidFill>
                  <a:srgbClr val="172033"/>
                </a:solidFill>
                <a:latin typeface="Inter"/>
                <a:ea typeface="Inter"/>
                <a:cs typeface="Inter"/>
              </a:rPr>
              <a:t>It has to be part of the retrieval system itself.</a:t>
            </a:r>
            <a:endParaRPr sz="241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62F7783-F83A-488E-92A5-C6FDB214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0"/>
            <a:ext cx="3520440" cy="1618488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849417A-E4C1-4514-9828-D64C8783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959352"/>
            <a:ext cx="7315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3D7"/>
          </a:solidFill>
          <a:ln xmlns:a="http://schemas.openxmlformats.org/drawingml/2006/main" w="12700">
            <a:solidFill>
              <a:srgbClr val="5253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1A81BD2-AF52-4FDC-9F8E-D7197075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986784"/>
            <a:ext cx="2697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10" b="1" spc="67">
                <a:solidFill>
                  <a:srgbClr val="5253D7"/>
                </a:solidFill>
                <a:latin typeface="Inter"/>
                <a:ea typeface="Inter"/>
                <a:cs typeface="Inter"/>
              </a:rPr>
              <a:t>PRODUCT</a:t>
            </a:r>
            <a:endParaRPr sz="111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5D4095B-4CEE-45A6-B4B5-73A5754C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416552"/>
            <a:ext cx="31089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172033"/>
                </a:solidFill>
                <a:latin typeface="Inter"/>
                <a:ea typeface="Inter"/>
                <a:cs typeface="Inter"/>
              </a:rPr>
              <a:t>Citations make answers easier to verify and safer to share.</a:t>
            </a:r>
            <a:endParaRPr sz="15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53068D8-EF58-4442-ABA7-882AAED1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3657600"/>
            <a:ext cx="3520440" cy="1618488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B4CE38B-9379-4FB1-9643-2D68D6D0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3959352"/>
            <a:ext cx="7315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27D"/>
          </a:solidFill>
          <a:ln xmlns:a="http://schemas.openxmlformats.org/drawingml/2006/main" w="12700">
            <a:solidFill>
              <a:srgbClr val="0B92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91E5D05-6963-454B-B4D1-6D436100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3986784"/>
            <a:ext cx="2697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10" b="1" spc="67">
                <a:solidFill>
                  <a:srgbClr val="0B927D"/>
                </a:solidFill>
                <a:latin typeface="Inter"/>
                <a:ea typeface="Inter"/>
                <a:cs typeface="Inter"/>
              </a:rPr>
              <a:t>ENGINEERING</a:t>
            </a:r>
            <a:endParaRPr sz="111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497E5D0-A5DB-455B-AF86-260A6C24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4416552"/>
            <a:ext cx="31089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172033"/>
                </a:solidFill>
                <a:latin typeface="Inter"/>
                <a:ea typeface="Inter"/>
                <a:cs typeface="Inter"/>
              </a:rPr>
              <a:t>Live permission checks protect against stale access and leakage.</a:t>
            </a:r>
            <a:endParaRPr sz="15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EC9DFDF-95AF-47BE-AA5F-8BDA62F1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3657600"/>
            <a:ext cx="3520440" cy="1618488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A125400-0E14-4924-B000-7FE49308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59352"/>
            <a:ext cx="7315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3D7"/>
          </a:solidFill>
          <a:ln xmlns:a="http://schemas.openxmlformats.org/drawingml/2006/main" w="12700">
            <a:solidFill>
              <a:srgbClr val="5253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F598256-E872-4A5E-9D65-8FC26F06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3986784"/>
            <a:ext cx="2697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10" b="1" spc="67">
                <a:solidFill>
                  <a:srgbClr val="5253D7"/>
                </a:solidFill>
                <a:latin typeface="Inter"/>
                <a:ea typeface="Inter"/>
                <a:cs typeface="Inter"/>
              </a:rPr>
              <a:t>PROCESS</a:t>
            </a:r>
            <a:endParaRPr sz="111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B2B3732-7E18-4D58-BCA7-585229D5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16552"/>
            <a:ext cx="31089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172033"/>
                </a:solidFill>
                <a:latin typeface="Inter"/>
                <a:ea typeface="Inter"/>
                <a:cs typeface="Inter"/>
              </a:rPr>
              <a:t>Agent feedback turned a large brief into concrete work and repeatable scenarios.</a:t>
            </a:r>
            <a:endParaRPr sz="15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05314FE-2A8A-4E33-94AC-92FCC019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59552"/>
            <a:ext cx="10908792" cy="594360"/>
          </a:xfrm>
          <a:prstGeom xmlns:a="http://schemas.openxmlformats.org/drawingml/2006/main" prst="roundRect">
            <a:avLst>
              <a:gd name="adj" fmla="val 27692"/>
            </a:avLst>
          </a:prstGeom>
          <a:solidFill xmlns:a="http://schemas.openxmlformats.org/drawingml/2006/main">
            <a:srgbClr val="ECF9F5"/>
          </a:solidFill>
          <a:ln xmlns:a="http://schemas.openxmlformats.org/drawingml/2006/main" w="10160">
            <a:solidFill>
              <a:srgbClr val="D5EE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109F8BA-8DB8-4F3F-9A5A-77F94E73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751576"/>
            <a:ext cx="56692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70">
                <a:solidFill>
                  <a:srgbClr val="0B927D"/>
                </a:solidFill>
                <a:latin typeface="Inter"/>
                <a:ea typeface="Inter"/>
                <a:cs typeface="Inter"/>
              </a:rPr>
              <a:t>NEXT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6FC89A0-8E14-463E-8E40-F377B343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96712"/>
            <a:ext cx="9784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172033"/>
                </a:solidFill>
                <a:latin typeface="Inter"/>
                <a:ea typeface="Inter"/>
                <a:cs typeface="Inter"/>
              </a:rPr>
              <a:t>Extend the live corpus, exercise more provider edge cases and keep measuring the permission boundary.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88654862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2026-10-15T13:00:04.3790000Z</dcterms:created>
  <dcterms:modified xsi:type="dcterms:W3CDTF">2026-10-15T13:00:04.3790000Z</dcterms:modified>
</coreProperties>
</file>