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A3B8B6-5CD2-4C8D-AFE2-538B10F401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5253D7"/>
          </a:solidFill>
          <a:ln w="12700">
            <a:solidFill>
              <a:srgbClr val="525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32EBC2C-7AA6-463B-88E7-EE6F02803D1E}"/>
              </a:ext>
            </a:extLst>
          </p:cNvPr>
          <p:cNvSpPr>
            <a:spLocks noGrp="1"/>
          </p:cNvSpPr>
          <p:nvPr/>
        </p:nvSpPr>
        <p:spPr>
          <a:xfrm>
            <a:off x="667512" y="557784"/>
            <a:ext cx="356616" cy="356616"/>
          </a:xfrm>
          <a:prstGeom prst="roundRect">
            <a:avLst>
              <a:gd name="adj" fmla="val 25641"/>
            </a:avLst>
          </a:prstGeom>
          <a:solidFill>
            <a:srgbClr val="5253D7"/>
          </a:solidFill>
          <a:ln w="10160">
            <a:solidFill>
              <a:srgbClr val="525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769B565-8D54-4D03-8188-7F8429A556B5}"/>
              </a:ext>
            </a:extLst>
          </p:cNvPr>
          <p:cNvSpPr>
            <a:spLocks noGrp="1"/>
          </p:cNvSpPr>
          <p:nvPr/>
        </p:nvSpPr>
        <p:spPr>
          <a:xfrm>
            <a:off x="763524" y="64373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06DC2A1-1161-4994-AC1E-5BEFEC51FD3E}"/>
              </a:ext>
            </a:extLst>
          </p:cNvPr>
          <p:cNvSpPr>
            <a:spLocks noGrp="1"/>
          </p:cNvSpPr>
          <p:nvPr/>
        </p:nvSpPr>
        <p:spPr>
          <a:xfrm>
            <a:off x="918972" y="643738"/>
            <a:ext cx="50292" cy="502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A3C3485-10FC-429B-B4FD-E49FDD9EEA63}"/>
              </a:ext>
            </a:extLst>
          </p:cNvPr>
          <p:cNvSpPr>
            <a:spLocks noGrp="1"/>
          </p:cNvSpPr>
          <p:nvPr/>
        </p:nvSpPr>
        <p:spPr>
          <a:xfrm>
            <a:off x="1133856" y="566928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200" b="1">
                <a:solidFill>
                  <a:srgbClr val="121B31"/>
                </a:solidFill>
                <a:latin typeface="Inter"/>
                <a:ea typeface="Inter"/>
                <a:cs typeface="Inter"/>
              </a:rPr>
              <a:t>relay</a:t>
            </a:r>
            <a:endParaRPr sz="2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E2B9D91-388B-4C87-B2A3-E9E12D0EFAC9}"/>
              </a:ext>
            </a:extLst>
          </p:cNvPr>
          <p:cNvSpPr>
            <a:spLocks noGrp="1"/>
          </p:cNvSpPr>
          <p:nvPr/>
        </p:nvSpPr>
        <p:spPr>
          <a:xfrm>
            <a:off x="9144000" y="603504"/>
            <a:ext cx="2313432" cy="320040"/>
          </a:xfrm>
          <a:prstGeom prst="roundRect">
            <a:avLst>
              <a:gd name="adj" fmla="val 37143"/>
            </a:avLst>
          </a:prstGeom>
          <a:solidFill>
            <a:srgbClr val="EFF0FF"/>
          </a:solidFill>
          <a:ln w="10160">
            <a:solidFill>
              <a:srgbClr val="EFF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6CA18B2-1FC1-454F-9781-DCFE00FD9EA0}"/>
              </a:ext>
            </a:extLst>
          </p:cNvPr>
          <p:cNvSpPr>
            <a:spLocks noGrp="1"/>
          </p:cNvSpPr>
          <p:nvPr/>
        </p:nvSpPr>
        <p:spPr>
          <a:xfrm>
            <a:off x="9235440" y="617220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7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TENCENT HACKATHON</a:t>
            </a:r>
            <a:endParaRPr sz="107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FE3BC43-9717-4B18-8AF7-38A1631AF00D}"/>
              </a:ext>
            </a:extLst>
          </p:cNvPr>
          <p:cNvSpPr>
            <a:spLocks noGrp="1"/>
          </p:cNvSpPr>
          <p:nvPr/>
        </p:nvSpPr>
        <p:spPr>
          <a:xfrm>
            <a:off x="749808" y="1481328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10" b="1" spc="120">
                <a:solidFill>
                  <a:srgbClr val="0B927D"/>
                </a:solidFill>
                <a:latin typeface="Inter"/>
                <a:ea typeface="Inter"/>
                <a:cs typeface="Inter"/>
              </a:rPr>
              <a:t>SECURE ANSWERS. SOURCE PERMISSIONS.</a:t>
            </a:r>
            <a:endParaRPr sz="101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1D4AE6A-C79B-4621-9C41-75040F72FD5E}"/>
              </a:ext>
            </a:extLst>
          </p:cNvPr>
          <p:cNvSpPr>
            <a:spLocks noGrp="1"/>
          </p:cNvSpPr>
          <p:nvPr/>
        </p:nvSpPr>
        <p:spPr>
          <a:xfrm>
            <a:off x="722376" y="1901952"/>
            <a:ext cx="685800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sz="38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Permission-safe answers</a:t>
            </a:r>
            <a:endParaRPr sz="3850"/>
          </a:p>
          <a:p>
            <a:pPr marL="0" indent="0" algn="l">
              <a:lnSpc>
                <a:spcPct val="105000"/>
              </a:lnSpc>
              <a:buNone/>
            </a:pPr>
            <a:r>
              <a:rPr sz="38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across the enterprise</a:t>
            </a:r>
            <a:endParaRPr sz="38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41932E3-87E9-49E0-BAB8-D77BC1FAB983}"/>
              </a:ext>
            </a:extLst>
          </p:cNvPr>
          <p:cNvSpPr>
            <a:spLocks noGrp="1"/>
          </p:cNvSpPr>
          <p:nvPr/>
        </p:nvSpPr>
        <p:spPr>
          <a:xfrm>
            <a:off x="758952" y="3657600"/>
            <a:ext cx="676656" cy="68580"/>
          </a:xfrm>
          <a:prstGeom prst="rect">
            <a:avLst/>
          </a:prstGeom>
          <a:solidFill>
            <a:srgbClr val="5253D7"/>
          </a:solidFill>
          <a:ln w="12700">
            <a:solidFill>
              <a:srgbClr val="525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8393FED-15C4-4D69-9654-C2D1AC2F812B}"/>
              </a:ext>
            </a:extLst>
          </p:cNvPr>
          <p:cNvSpPr>
            <a:spLocks noGrp="1"/>
          </p:cNvSpPr>
          <p:nvPr/>
        </p:nvSpPr>
        <p:spPr>
          <a:xfrm>
            <a:off x="749808" y="3931920"/>
            <a:ext cx="635508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88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A five-minute project demo</a:t>
            </a:r>
            <a:endParaRPr sz="188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41BB61F-5A5D-498A-9237-4D83CE1C4E9F}"/>
              </a:ext>
            </a:extLst>
          </p:cNvPr>
          <p:cNvSpPr>
            <a:spLocks noGrp="1"/>
          </p:cNvSpPr>
          <p:nvPr/>
        </p:nvSpPr>
        <p:spPr>
          <a:xfrm>
            <a:off x="749808" y="4498848"/>
            <a:ext cx="61722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720">
                <a:solidFill>
                  <a:srgbClr val="667085"/>
                </a:solidFill>
                <a:latin typeface="Inter"/>
                <a:ea typeface="Inter"/>
                <a:cs typeface="Inter"/>
              </a:rPr>
              <a:t>Cross-platform retrieval with live access checks, grounded citations and a tamper-evident audit trail.</a:t>
            </a:r>
            <a:endParaRPr sz="172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785F356-00AB-403C-A391-0C9EEE9AFB0D}"/>
              </a:ext>
            </a:extLst>
          </p:cNvPr>
          <p:cNvSpPr>
            <a:spLocks noGrp="1"/>
          </p:cNvSpPr>
          <p:nvPr/>
        </p:nvSpPr>
        <p:spPr>
          <a:xfrm>
            <a:off x="7818120" y="1536192"/>
            <a:ext cx="3639312" cy="3931920"/>
          </a:xfrm>
          <a:prstGeom prst="roundRect">
            <a:avLst>
              <a:gd name="adj" fmla="val 6030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3A299F5-C132-44C4-9323-B8FDC35008FB}"/>
              </a:ext>
            </a:extLst>
          </p:cNvPr>
          <p:cNvSpPr>
            <a:spLocks noGrp="1"/>
          </p:cNvSpPr>
          <p:nvPr/>
        </p:nvSpPr>
        <p:spPr>
          <a:xfrm>
            <a:off x="8119872" y="1828800"/>
            <a:ext cx="3035808" cy="466344"/>
          </a:xfrm>
          <a:prstGeom prst="roundRect">
            <a:avLst>
              <a:gd name="adj" fmla="val 33333"/>
            </a:avLst>
          </a:prstGeom>
          <a:solidFill>
            <a:srgbClr val="ECF9F5"/>
          </a:solidFill>
          <a:ln w="10160">
            <a:solidFill>
              <a:srgbClr val="ECF9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80E9B5C-E79F-453E-A3FC-1DC768FA779A}"/>
              </a:ext>
            </a:extLst>
          </p:cNvPr>
          <p:cNvSpPr>
            <a:spLocks noGrp="1"/>
          </p:cNvSpPr>
          <p:nvPr/>
        </p:nvSpPr>
        <p:spPr>
          <a:xfrm>
            <a:off x="8284464" y="1965960"/>
            <a:ext cx="118872" cy="118872"/>
          </a:xfrm>
          <a:prstGeom prst="ellipse">
            <a:avLst/>
          </a:prstGeom>
          <a:solidFill>
            <a:srgbClr val="0B927D"/>
          </a:solidFill>
          <a:ln w="12700">
            <a:solidFill>
              <a:srgbClr val="0B92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C4F2D17-99FB-420B-915B-0C96B634FD6A}"/>
              </a:ext>
            </a:extLst>
          </p:cNvPr>
          <p:cNvSpPr>
            <a:spLocks noGrp="1"/>
          </p:cNvSpPr>
          <p:nvPr/>
        </p:nvSpPr>
        <p:spPr>
          <a:xfrm>
            <a:off x="8522208" y="1947672"/>
            <a:ext cx="2340864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30" b="1" spc="65">
                <a:solidFill>
                  <a:srgbClr val="0B927D"/>
                </a:solidFill>
                <a:latin typeface="Inter"/>
                <a:ea typeface="Inter"/>
                <a:cs typeface="Inter"/>
              </a:rPr>
              <a:t>SECURE RETRIEVAL ACTIVE</a:t>
            </a:r>
            <a:endParaRPr sz="113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2EBDA91-3026-42D3-B816-AD2D1E6243C1}"/>
              </a:ext>
            </a:extLst>
          </p:cNvPr>
          <p:cNvSpPr>
            <a:spLocks noGrp="1"/>
          </p:cNvSpPr>
          <p:nvPr/>
        </p:nvSpPr>
        <p:spPr>
          <a:xfrm>
            <a:off x="8183880" y="2587752"/>
            <a:ext cx="2816352" cy="15179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4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Answers only use content the asking user can access.</a:t>
            </a:r>
            <a:endParaRPr sz="24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0A02809-E7BC-4862-8EC6-310D32D77DD2}"/>
              </a:ext>
            </a:extLst>
          </p:cNvPr>
          <p:cNvSpPr>
            <a:spLocks noGrp="1"/>
          </p:cNvSpPr>
          <p:nvPr/>
        </p:nvSpPr>
        <p:spPr>
          <a:xfrm>
            <a:off x="8183880" y="4443984"/>
            <a:ext cx="2807208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7AC56A1-9D41-4944-ABD2-AB99BABB24B1}"/>
              </a:ext>
            </a:extLst>
          </p:cNvPr>
          <p:cNvSpPr>
            <a:spLocks noGrp="1"/>
          </p:cNvSpPr>
          <p:nvPr/>
        </p:nvSpPr>
        <p:spPr>
          <a:xfrm>
            <a:off x="8183880" y="4617720"/>
            <a:ext cx="2834640" cy="49377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500">
                <a:solidFill>
                  <a:srgbClr val="667085"/>
                </a:solidFill>
                <a:latin typeface="Inter"/>
                <a:ea typeface="Inter"/>
                <a:cs typeface="Inter"/>
              </a:rPr>
              <a:t>Sources remain the source of truth.</a:t>
            </a:r>
            <a:endParaRPr sz="15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770715B-A22E-4E23-AEDE-637737507259}"/>
              </a:ext>
            </a:extLst>
          </p:cNvPr>
          <p:cNvSpPr>
            <a:spLocks noGrp="1"/>
          </p:cNvSpPr>
          <p:nvPr/>
        </p:nvSpPr>
        <p:spPr>
          <a:xfrm>
            <a:off x="749808" y="5971032"/>
            <a:ext cx="10707624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96B6182-241A-474B-9D0F-A0B63A75F919}"/>
              </a:ext>
            </a:extLst>
          </p:cNvPr>
          <p:cNvSpPr>
            <a:spLocks noGrp="1"/>
          </p:cNvSpPr>
          <p:nvPr/>
        </p:nvSpPr>
        <p:spPr>
          <a:xfrm>
            <a:off x="749808" y="6144768"/>
            <a:ext cx="1399032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50" b="1" spc="70">
                <a:solidFill>
                  <a:srgbClr val="667085"/>
                </a:solidFill>
                <a:latin typeface="Inter"/>
                <a:ea typeface="Inter"/>
                <a:cs typeface="Inter"/>
              </a:rPr>
              <a:t>CONFLUENCE</a:t>
            </a:r>
            <a:endParaRPr sz="105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F71E312-4A18-428C-878E-F53F07F0AD20}"/>
              </a:ext>
            </a:extLst>
          </p:cNvPr>
          <p:cNvSpPr>
            <a:spLocks noGrp="1"/>
          </p:cNvSpPr>
          <p:nvPr/>
        </p:nvSpPr>
        <p:spPr>
          <a:xfrm>
            <a:off x="2350008" y="6190488"/>
            <a:ext cx="64008" cy="64008"/>
          </a:xfrm>
          <a:prstGeom prst="ellipse">
            <a:avLst/>
          </a:prstGeom>
          <a:solidFill>
            <a:srgbClr val="5253D7"/>
          </a:solidFill>
          <a:ln w="12700">
            <a:solidFill>
              <a:srgbClr val="525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8168CD7-D694-4B19-99EF-63037A3CBC58}"/>
              </a:ext>
            </a:extLst>
          </p:cNvPr>
          <p:cNvSpPr>
            <a:spLocks noGrp="1"/>
          </p:cNvSpPr>
          <p:nvPr/>
        </p:nvSpPr>
        <p:spPr>
          <a:xfrm>
            <a:off x="2569464" y="6144768"/>
            <a:ext cx="667512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50" b="1" spc="70">
                <a:solidFill>
                  <a:srgbClr val="667085"/>
                </a:solidFill>
                <a:latin typeface="Inter"/>
                <a:ea typeface="Inter"/>
                <a:cs typeface="Inter"/>
              </a:rPr>
              <a:t>JIRA</a:t>
            </a:r>
            <a:endParaRPr sz="105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45979D7-55C9-48CB-8A05-7742107C928C}"/>
              </a:ext>
            </a:extLst>
          </p:cNvPr>
          <p:cNvSpPr>
            <a:spLocks noGrp="1"/>
          </p:cNvSpPr>
          <p:nvPr/>
        </p:nvSpPr>
        <p:spPr>
          <a:xfrm>
            <a:off x="3383280" y="6190488"/>
            <a:ext cx="64008" cy="64008"/>
          </a:xfrm>
          <a:prstGeom prst="ellipse">
            <a:avLst/>
          </a:prstGeom>
          <a:solidFill>
            <a:srgbClr val="5253D7"/>
          </a:solidFill>
          <a:ln w="12700">
            <a:solidFill>
              <a:srgbClr val="525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24270B1-EAFF-4037-9B48-812D146F887C}"/>
              </a:ext>
            </a:extLst>
          </p:cNvPr>
          <p:cNvSpPr>
            <a:spLocks noGrp="1"/>
          </p:cNvSpPr>
          <p:nvPr/>
        </p:nvSpPr>
        <p:spPr>
          <a:xfrm>
            <a:off x="3602736" y="6144768"/>
            <a:ext cx="81381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50" b="1" spc="70">
                <a:solidFill>
                  <a:srgbClr val="667085"/>
                </a:solidFill>
                <a:latin typeface="Inter"/>
                <a:ea typeface="Inter"/>
                <a:cs typeface="Inter"/>
              </a:rPr>
              <a:t>SLACK</a:t>
            </a:r>
            <a:endParaRPr sz="105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397E133-F847-488B-92D4-2BC61628EA8B}"/>
              </a:ext>
            </a:extLst>
          </p:cNvPr>
          <p:cNvSpPr>
            <a:spLocks noGrp="1"/>
          </p:cNvSpPr>
          <p:nvPr/>
        </p:nvSpPr>
        <p:spPr>
          <a:xfrm>
            <a:off x="4617720" y="6190488"/>
            <a:ext cx="64008" cy="64008"/>
          </a:xfrm>
          <a:prstGeom prst="ellipse">
            <a:avLst/>
          </a:prstGeom>
          <a:solidFill>
            <a:srgbClr val="5253D7"/>
          </a:solidFill>
          <a:ln w="12700">
            <a:solidFill>
              <a:srgbClr val="525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3FAEC05-D9B0-4916-B786-72FB5EB75F77}"/>
              </a:ext>
            </a:extLst>
          </p:cNvPr>
          <p:cNvSpPr>
            <a:spLocks noGrp="1"/>
          </p:cNvSpPr>
          <p:nvPr/>
        </p:nvSpPr>
        <p:spPr>
          <a:xfrm>
            <a:off x="4837176" y="6144768"/>
            <a:ext cx="154533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50" b="1" spc="70">
                <a:solidFill>
                  <a:srgbClr val="667085"/>
                </a:solidFill>
                <a:latin typeface="Inter"/>
                <a:ea typeface="Inter"/>
                <a:cs typeface="Inter"/>
              </a:rPr>
              <a:t>GOOGLE DRIVE</a:t>
            </a:r>
            <a:endParaRPr sz="105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63B433F-F0D3-4D13-8553-42A6F8051604}"/>
              </a:ext>
            </a:extLst>
          </p:cNvPr>
          <p:cNvSpPr>
            <a:spLocks noGrp="1"/>
          </p:cNvSpPr>
          <p:nvPr/>
        </p:nvSpPr>
        <p:spPr>
          <a:xfrm>
            <a:off x="11027664" y="6153912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01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22194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BD542D-7B97-41A3-A4ED-E43542DBBC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5253D7"/>
          </a:solidFill>
          <a:ln w="12700">
            <a:solidFill>
              <a:srgbClr val="525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15C0AD-85A0-4DEC-9A3A-40D94A9EF06D}"/>
              </a:ext>
            </a:extLst>
          </p:cNvPr>
          <p:cNvSpPr>
            <a:spLocks noGrp="1"/>
          </p:cNvSpPr>
          <p:nvPr/>
        </p:nvSpPr>
        <p:spPr>
          <a:xfrm>
            <a:off x="640080" y="393192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PROJECT OVERVIEW</a:t>
            </a:r>
            <a:endParaRPr sz="101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E42DC9-8202-463C-AC9D-EDDEC9558836}"/>
              </a:ext>
            </a:extLst>
          </p:cNvPr>
          <p:cNvSpPr>
            <a:spLocks noGrp="1"/>
          </p:cNvSpPr>
          <p:nvPr/>
        </p:nvSpPr>
        <p:spPr>
          <a:xfrm>
            <a:off x="640080" y="740664"/>
            <a:ext cx="10954512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9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Why Relay</a:t>
            </a:r>
            <a:endParaRPr sz="29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702BAD8-7B12-4904-B097-6B2ABB0A04D7}"/>
              </a:ext>
            </a:extLst>
          </p:cNvPr>
          <p:cNvSpPr>
            <a:spLocks noGrp="1"/>
          </p:cNvSpPr>
          <p:nvPr/>
        </p:nvSpPr>
        <p:spPr>
          <a:xfrm>
            <a:off x="640080" y="1399032"/>
            <a:ext cx="108447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410">
                <a:solidFill>
                  <a:srgbClr val="667085"/>
                </a:solidFill>
                <a:latin typeface="Inter"/>
                <a:ea typeface="Inter"/>
                <a:cs typeface="Inter"/>
              </a:rPr>
              <a:t>One answer across the workspace, with the source permissions intact.</a:t>
            </a:r>
            <a:endParaRPr sz="141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6DBE279-8C42-4042-A091-11D9015A22CF}"/>
              </a:ext>
            </a:extLst>
          </p:cNvPr>
          <p:cNvSpPr>
            <a:spLocks noGrp="1"/>
          </p:cNvSpPr>
          <p:nvPr/>
        </p:nvSpPr>
        <p:spPr>
          <a:xfrm>
            <a:off x="640080" y="6437376"/>
            <a:ext cx="10908792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0C683F-595C-4338-A31C-EC2AD387C2D1}"/>
              </a:ext>
            </a:extLst>
          </p:cNvPr>
          <p:cNvSpPr>
            <a:spLocks noGrp="1"/>
          </p:cNvSpPr>
          <p:nvPr/>
        </p:nvSpPr>
        <p:spPr>
          <a:xfrm>
            <a:off x="640080" y="6528816"/>
            <a:ext cx="585216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relay</a:t>
            </a:r>
            <a:endParaRPr sz="104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E881EE1-CCC1-4BD4-84A6-5EA9E350EECA}"/>
              </a:ext>
            </a:extLst>
          </p:cNvPr>
          <p:cNvSpPr>
            <a:spLocks noGrp="1"/>
          </p:cNvSpPr>
          <p:nvPr/>
        </p:nvSpPr>
        <p:spPr>
          <a:xfrm>
            <a:off x="1307592" y="6528816"/>
            <a:ext cx="2743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70">
                <a:solidFill>
                  <a:srgbClr val="94A3B8"/>
                </a:solidFill>
                <a:latin typeface="Inter"/>
                <a:ea typeface="Inter"/>
                <a:cs typeface="Inter"/>
              </a:rPr>
              <a:t>/ Tencent Hackathon demo</a:t>
            </a:r>
            <a:endParaRPr sz="97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C8E293B-D201-4A42-AF86-038C13374DF2}"/>
              </a:ext>
            </a:extLst>
          </p:cNvPr>
          <p:cNvSpPr>
            <a:spLocks noGrp="1"/>
          </p:cNvSpPr>
          <p:nvPr/>
        </p:nvSpPr>
        <p:spPr>
          <a:xfrm>
            <a:off x="11036808" y="651967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02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D085A9B-42E3-413F-9236-7D69B6A10D16}"/>
              </a:ext>
            </a:extLst>
          </p:cNvPr>
          <p:cNvSpPr>
            <a:spLocks noGrp="1"/>
          </p:cNvSpPr>
          <p:nvPr/>
        </p:nvSpPr>
        <p:spPr>
          <a:xfrm>
            <a:off x="640080" y="2029968"/>
            <a:ext cx="5833872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64FFBC7-3127-488D-8DA4-D11351F2E9CE}"/>
              </a:ext>
            </a:extLst>
          </p:cNvPr>
          <p:cNvSpPr>
            <a:spLocks noGrp="1"/>
          </p:cNvSpPr>
          <p:nvPr/>
        </p:nvSpPr>
        <p:spPr>
          <a:xfrm>
            <a:off x="886968" y="22860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THE PROBLEM</a:t>
            </a:r>
            <a:endParaRPr sz="101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EDE349B-8400-4BD5-B163-2EEBCE2D20F5}"/>
              </a:ext>
            </a:extLst>
          </p:cNvPr>
          <p:cNvSpPr>
            <a:spLocks noGrp="1"/>
          </p:cNvSpPr>
          <p:nvPr/>
        </p:nvSpPr>
        <p:spPr>
          <a:xfrm>
            <a:off x="877824" y="2715768"/>
            <a:ext cx="5394960" cy="11978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2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Teams lose time reconstructing</a:t>
            </a:r>
            <a:endParaRPr sz="2200"/>
          </a:p>
          <a:p>
            <a:pPr marL="0" indent="0" algn="l">
              <a:buNone/>
            </a:pPr>
            <a:r>
              <a:rPr sz="22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decisions across documents,</a:t>
            </a:r>
            <a:endParaRPr sz="2200"/>
          </a:p>
          <a:p>
            <a:pPr marL="0" indent="0" algn="l">
              <a:buNone/>
            </a:pPr>
            <a:r>
              <a:rPr sz="22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tickets and conversations.</a:t>
            </a:r>
            <a:endParaRPr sz="22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FB87FF8-19D8-41CA-BC4E-BFFA4C81D1FD}"/>
              </a:ext>
            </a:extLst>
          </p:cNvPr>
          <p:cNvSpPr>
            <a:spLocks noGrp="1"/>
          </p:cNvSpPr>
          <p:nvPr/>
        </p:nvSpPr>
        <p:spPr>
          <a:xfrm>
            <a:off x="896112" y="4114800"/>
            <a:ext cx="5303520" cy="0"/>
          </a:xfrm>
          <a:prstGeom prst="line">
            <a:avLst/>
          </a:prstGeom>
          <a:noFill/>
          <a:ln w="1143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E2C9E5A-43B9-461D-A159-AB191715EBF8}"/>
              </a:ext>
            </a:extLst>
          </p:cNvPr>
          <p:cNvSpPr>
            <a:spLocks noGrp="1"/>
          </p:cNvSpPr>
          <p:nvPr/>
        </p:nvSpPr>
        <p:spPr>
          <a:xfrm>
            <a:off x="886968" y="4315968"/>
            <a:ext cx="5303520" cy="8138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420">
                <a:solidFill>
                  <a:srgbClr val="667085"/>
                </a:solidFill>
                <a:latin typeface="Inter"/>
                <a:ea typeface="Inter"/>
                <a:cs typeface="Inter"/>
              </a:rPr>
              <a:t>During an incident, the answer may sit across a Jira issue, Slack thread, Confluence runbook and Drive postmortem. Searching tool by tool slows response and weakens confidence.</a:t>
            </a:r>
            <a:endParaRPr sz="142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FF57168-C0F3-4670-A023-D517E98E7708}"/>
              </a:ext>
            </a:extLst>
          </p:cNvPr>
          <p:cNvSpPr>
            <a:spLocks noGrp="1"/>
          </p:cNvSpPr>
          <p:nvPr/>
        </p:nvSpPr>
        <p:spPr>
          <a:xfrm>
            <a:off x="6702552" y="2029968"/>
            <a:ext cx="4846320" cy="1545336"/>
          </a:xfrm>
          <a:prstGeom prst="roundRect">
            <a:avLst>
              <a:gd name="adj" fmla="val 10651"/>
            </a:avLst>
          </a:prstGeom>
          <a:solidFill>
            <a:srgbClr val="EFF0FF"/>
          </a:solidFill>
          <a:ln w="10160">
            <a:solidFill>
              <a:srgbClr val="E1E5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5E34B05-844C-4149-A2A2-5AE9F3BAC966}"/>
              </a:ext>
            </a:extLst>
          </p:cNvPr>
          <p:cNvSpPr>
            <a:spLocks noGrp="1"/>
          </p:cNvSpPr>
          <p:nvPr/>
        </p:nvSpPr>
        <p:spPr>
          <a:xfrm>
            <a:off x="6958584" y="2267712"/>
            <a:ext cx="4590288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PRIMARY USERS</a:t>
            </a:r>
            <a:endParaRPr sz="101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AC43149-78C3-4A07-93E7-DCAEBCA0AA9A}"/>
              </a:ext>
            </a:extLst>
          </p:cNvPr>
          <p:cNvSpPr>
            <a:spLocks noGrp="1"/>
          </p:cNvSpPr>
          <p:nvPr/>
        </p:nvSpPr>
        <p:spPr>
          <a:xfrm>
            <a:off x="6949440" y="2624328"/>
            <a:ext cx="4315968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570">
                <a:solidFill>
                  <a:srgbClr val="172033"/>
                </a:solidFill>
                <a:latin typeface="Inter"/>
                <a:ea typeface="Inter"/>
                <a:cs typeface="Inter"/>
              </a:rPr>
              <a:t>Employees who need an answer they can act on, without knowing where the evidence lives.</a:t>
            </a:r>
            <a:endParaRPr sz="157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5266229-D546-4CF9-82A4-FFCAE38F02F2}"/>
              </a:ext>
            </a:extLst>
          </p:cNvPr>
          <p:cNvSpPr>
            <a:spLocks noGrp="1"/>
          </p:cNvSpPr>
          <p:nvPr/>
        </p:nvSpPr>
        <p:spPr>
          <a:xfrm>
            <a:off x="6702552" y="3739896"/>
            <a:ext cx="4846320" cy="1581912"/>
          </a:xfrm>
          <a:prstGeom prst="roundRect">
            <a:avLst>
              <a:gd name="adj" fmla="val 10405"/>
            </a:avLst>
          </a:prstGeom>
          <a:solidFill>
            <a:srgbClr val="ECF9F5"/>
          </a:solidFill>
          <a:ln w="10160">
            <a:solidFill>
              <a:srgbClr val="CFE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7E4274A-732F-474F-8BB6-E51CFBF20AA6}"/>
              </a:ext>
            </a:extLst>
          </p:cNvPr>
          <p:cNvSpPr>
            <a:spLocks noGrp="1"/>
          </p:cNvSpPr>
          <p:nvPr/>
        </p:nvSpPr>
        <p:spPr>
          <a:xfrm>
            <a:off x="6958584" y="3968496"/>
            <a:ext cx="4590288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10" b="1" spc="120">
                <a:solidFill>
                  <a:srgbClr val="0B927D"/>
                </a:solidFill>
                <a:latin typeface="Inter"/>
                <a:ea typeface="Inter"/>
                <a:cs typeface="Inter"/>
              </a:rPr>
              <a:t>TRUST REQUIREMENT</a:t>
            </a:r>
            <a:endParaRPr sz="101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16F8022-3CF4-40F3-A994-851FA6F16173}"/>
              </a:ext>
            </a:extLst>
          </p:cNvPr>
          <p:cNvSpPr>
            <a:spLocks noGrp="1"/>
          </p:cNvSpPr>
          <p:nvPr/>
        </p:nvSpPr>
        <p:spPr>
          <a:xfrm>
            <a:off x="6949440" y="4325112"/>
            <a:ext cx="4334256" cy="7040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570">
                <a:solidFill>
                  <a:srgbClr val="172033"/>
                </a:solidFill>
                <a:latin typeface="Inter"/>
                <a:ea typeface="Inter"/>
                <a:cs typeface="Inter"/>
              </a:rPr>
              <a:t>Administrators and compliance teams need to see who asked, what was used and why access was allowed.</a:t>
            </a:r>
            <a:endParaRPr sz="157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FD1F1C6-9310-4B3E-886D-B1A3E9A45E0E}"/>
              </a:ext>
            </a:extLst>
          </p:cNvPr>
          <p:cNvSpPr>
            <a:spLocks noGrp="1"/>
          </p:cNvSpPr>
          <p:nvPr/>
        </p:nvSpPr>
        <p:spPr>
          <a:xfrm>
            <a:off x="640080" y="5532120"/>
            <a:ext cx="10908792" cy="60350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AE9BCE5-54EF-4A6C-80E7-B52AB442EE1F}"/>
              </a:ext>
            </a:extLst>
          </p:cNvPr>
          <p:cNvSpPr>
            <a:spLocks noGrp="1"/>
          </p:cNvSpPr>
          <p:nvPr/>
        </p:nvSpPr>
        <p:spPr>
          <a:xfrm>
            <a:off x="859536" y="5705856"/>
            <a:ext cx="1499616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00" b="1" spc="50">
                <a:solidFill>
                  <a:srgbClr val="5253D7"/>
                </a:solidFill>
                <a:latin typeface="Inter"/>
                <a:ea typeface="Inter"/>
                <a:cs typeface="Inter"/>
              </a:rPr>
              <a:t>RELAY CONNECTS</a:t>
            </a:r>
            <a:endParaRPr sz="11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F7063FB-B4BF-43A8-910F-5522D0F677D5}"/>
              </a:ext>
            </a:extLst>
          </p:cNvPr>
          <p:cNvSpPr>
            <a:spLocks noGrp="1"/>
          </p:cNvSpPr>
          <p:nvPr/>
        </p:nvSpPr>
        <p:spPr>
          <a:xfrm>
            <a:off x="2395728" y="5632704"/>
            <a:ext cx="1490472" cy="374904"/>
          </a:xfrm>
          <a:prstGeom prst="roundRect">
            <a:avLst>
              <a:gd name="adj" fmla="val 31707"/>
            </a:avLst>
          </a:prstGeom>
          <a:solidFill>
            <a:srgbClr val="F2F5FA"/>
          </a:solidFill>
          <a:ln w="1016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638F57D-8B9B-4E0F-8215-FDBA8FC57232}"/>
              </a:ext>
            </a:extLst>
          </p:cNvPr>
          <p:cNvSpPr>
            <a:spLocks noGrp="1"/>
          </p:cNvSpPr>
          <p:nvPr/>
        </p:nvSpPr>
        <p:spPr>
          <a:xfrm>
            <a:off x="2487168" y="5646420"/>
            <a:ext cx="130759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Confluence</a:t>
            </a:r>
            <a:endParaRPr sz="114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0406B2C-90B8-48D8-A6DD-8075E9D5EF20}"/>
              </a:ext>
            </a:extLst>
          </p:cNvPr>
          <p:cNvSpPr>
            <a:spLocks noGrp="1"/>
          </p:cNvSpPr>
          <p:nvPr/>
        </p:nvSpPr>
        <p:spPr>
          <a:xfrm>
            <a:off x="4069080" y="5632704"/>
            <a:ext cx="731520" cy="374904"/>
          </a:xfrm>
          <a:prstGeom prst="roundRect">
            <a:avLst>
              <a:gd name="adj" fmla="val 31707"/>
            </a:avLst>
          </a:prstGeom>
          <a:solidFill>
            <a:srgbClr val="F2F5FA"/>
          </a:solidFill>
          <a:ln w="1016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7BC3ADB-6363-4053-8621-0EBDDB9C7AAD}"/>
              </a:ext>
            </a:extLst>
          </p:cNvPr>
          <p:cNvSpPr>
            <a:spLocks noGrp="1"/>
          </p:cNvSpPr>
          <p:nvPr/>
        </p:nvSpPr>
        <p:spPr>
          <a:xfrm>
            <a:off x="4160520" y="5646420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Jira</a:t>
            </a:r>
            <a:endParaRPr sz="114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7F54EE3-44AF-482F-A50B-4171BE56793D}"/>
              </a:ext>
            </a:extLst>
          </p:cNvPr>
          <p:cNvSpPr>
            <a:spLocks noGrp="1"/>
          </p:cNvSpPr>
          <p:nvPr/>
        </p:nvSpPr>
        <p:spPr>
          <a:xfrm>
            <a:off x="5047488" y="5632704"/>
            <a:ext cx="1042416" cy="374904"/>
          </a:xfrm>
          <a:prstGeom prst="roundRect">
            <a:avLst>
              <a:gd name="adj" fmla="val 31707"/>
            </a:avLst>
          </a:prstGeom>
          <a:solidFill>
            <a:srgbClr val="F2F5FA"/>
          </a:solidFill>
          <a:ln w="1016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D1AD15D-54F5-41B2-957C-31EAB8D96B9A}"/>
              </a:ext>
            </a:extLst>
          </p:cNvPr>
          <p:cNvSpPr>
            <a:spLocks noGrp="1"/>
          </p:cNvSpPr>
          <p:nvPr/>
        </p:nvSpPr>
        <p:spPr>
          <a:xfrm>
            <a:off x="5138928" y="5646420"/>
            <a:ext cx="859536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Slack</a:t>
            </a:r>
            <a:endParaRPr sz="114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9F120A6-1A99-4087-98D7-82869140CAE3}"/>
              </a:ext>
            </a:extLst>
          </p:cNvPr>
          <p:cNvSpPr>
            <a:spLocks noGrp="1"/>
          </p:cNvSpPr>
          <p:nvPr/>
        </p:nvSpPr>
        <p:spPr>
          <a:xfrm>
            <a:off x="6364224" y="5632704"/>
            <a:ext cx="1508760" cy="374904"/>
          </a:xfrm>
          <a:prstGeom prst="roundRect">
            <a:avLst>
              <a:gd name="adj" fmla="val 31707"/>
            </a:avLst>
          </a:prstGeom>
          <a:solidFill>
            <a:srgbClr val="F2F5FA"/>
          </a:solidFill>
          <a:ln w="1016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A6F2728-5BB6-4246-AB70-7A0BB3486F01}"/>
              </a:ext>
            </a:extLst>
          </p:cNvPr>
          <p:cNvSpPr>
            <a:spLocks noGrp="1"/>
          </p:cNvSpPr>
          <p:nvPr/>
        </p:nvSpPr>
        <p:spPr>
          <a:xfrm>
            <a:off x="6455664" y="5646420"/>
            <a:ext cx="132588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Google Drive</a:t>
            </a:r>
            <a:endParaRPr sz="114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750DDD5-3EEF-4555-B48C-EB09DC260112}"/>
              </a:ext>
            </a:extLst>
          </p:cNvPr>
          <p:cNvSpPr>
            <a:spLocks noGrp="1"/>
          </p:cNvSpPr>
          <p:nvPr/>
        </p:nvSpPr>
        <p:spPr>
          <a:xfrm>
            <a:off x="8247888" y="5715000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0B927D"/>
                </a:solidFill>
                <a:latin typeface="Inter"/>
                <a:ea typeface="Inter"/>
                <a:cs typeface="Inter"/>
              </a:rPr>
              <a:t>Permissions checked at retrieval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67956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B5A66B-89A7-4A83-9549-415BFBD802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5253D7"/>
          </a:solidFill>
          <a:ln w="12700">
            <a:solidFill>
              <a:srgbClr val="525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0F1462-DB47-4929-804D-D595D269BFD6}"/>
              </a:ext>
            </a:extLst>
          </p:cNvPr>
          <p:cNvSpPr>
            <a:spLocks noGrp="1"/>
          </p:cNvSpPr>
          <p:nvPr/>
        </p:nvSpPr>
        <p:spPr>
          <a:xfrm>
            <a:off x="640080" y="393192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TECHNICAL OVERVIEW</a:t>
            </a:r>
            <a:endParaRPr sz="101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B1F1D67-D5F5-40BE-9435-6D5C3B8E42B3}"/>
              </a:ext>
            </a:extLst>
          </p:cNvPr>
          <p:cNvSpPr>
            <a:spLocks noGrp="1"/>
          </p:cNvSpPr>
          <p:nvPr/>
        </p:nvSpPr>
        <p:spPr>
          <a:xfrm>
            <a:off x="640080" y="740664"/>
            <a:ext cx="10954512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9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Ingestion and the knowledge index</a:t>
            </a:r>
            <a:endParaRPr sz="29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D7FB51-73E3-4F5F-BE49-59C006960755}"/>
              </a:ext>
            </a:extLst>
          </p:cNvPr>
          <p:cNvSpPr>
            <a:spLocks noGrp="1"/>
          </p:cNvSpPr>
          <p:nvPr/>
        </p:nvSpPr>
        <p:spPr>
          <a:xfrm>
            <a:off x="640080" y="1399032"/>
            <a:ext cx="108447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410">
                <a:solidFill>
                  <a:srgbClr val="667085"/>
                </a:solidFill>
                <a:latin typeface="Inter"/>
                <a:ea typeface="Inter"/>
                <a:cs typeface="Inter"/>
              </a:rPr>
              <a:t>Retrieval-augmented generation (RAG) grounds each answer in retrieved source evidence.</a:t>
            </a:r>
            <a:endParaRPr sz="141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4759355-B5E3-4815-93FB-10CD3D108B25}"/>
              </a:ext>
            </a:extLst>
          </p:cNvPr>
          <p:cNvSpPr>
            <a:spLocks noGrp="1"/>
          </p:cNvSpPr>
          <p:nvPr/>
        </p:nvSpPr>
        <p:spPr>
          <a:xfrm>
            <a:off x="640080" y="6437376"/>
            <a:ext cx="10908792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800A3F7-5707-4CCD-ABDA-CB12A2F7BABC}"/>
              </a:ext>
            </a:extLst>
          </p:cNvPr>
          <p:cNvSpPr>
            <a:spLocks noGrp="1"/>
          </p:cNvSpPr>
          <p:nvPr/>
        </p:nvSpPr>
        <p:spPr>
          <a:xfrm>
            <a:off x="640080" y="6528816"/>
            <a:ext cx="585216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relay</a:t>
            </a:r>
            <a:endParaRPr sz="104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F7A4967-DE7C-4E6A-914E-CDF31A034A00}"/>
              </a:ext>
            </a:extLst>
          </p:cNvPr>
          <p:cNvSpPr>
            <a:spLocks noGrp="1"/>
          </p:cNvSpPr>
          <p:nvPr/>
        </p:nvSpPr>
        <p:spPr>
          <a:xfrm>
            <a:off x="1307592" y="6528816"/>
            <a:ext cx="2743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70">
                <a:solidFill>
                  <a:srgbClr val="94A3B8"/>
                </a:solidFill>
                <a:latin typeface="Inter"/>
                <a:ea typeface="Inter"/>
                <a:cs typeface="Inter"/>
              </a:rPr>
              <a:t>/ Tencent Hackathon demo</a:t>
            </a:r>
            <a:endParaRPr sz="97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C97F1D6-34AB-4F6B-A011-230AEE833307}"/>
              </a:ext>
            </a:extLst>
          </p:cNvPr>
          <p:cNvSpPr>
            <a:spLocks noGrp="1"/>
          </p:cNvSpPr>
          <p:nvPr/>
        </p:nvSpPr>
        <p:spPr>
          <a:xfrm>
            <a:off x="11036808" y="651967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03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20D0875-C2C5-49F3-8602-30C399A6E2A7}"/>
              </a:ext>
            </a:extLst>
          </p:cNvPr>
          <p:cNvSpPr>
            <a:spLocks noGrp="1"/>
          </p:cNvSpPr>
          <p:nvPr/>
        </p:nvSpPr>
        <p:spPr>
          <a:xfrm>
            <a:off x="640080" y="2057400"/>
            <a:ext cx="3511296" cy="3054096"/>
          </a:xfrm>
          <a:prstGeom prst="roundRect">
            <a:avLst>
              <a:gd name="adj" fmla="val 5988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D0FD8BD-EBEB-4132-B710-E16E10DAE873}"/>
              </a:ext>
            </a:extLst>
          </p:cNvPr>
          <p:cNvSpPr>
            <a:spLocks noGrp="1"/>
          </p:cNvSpPr>
          <p:nvPr/>
        </p:nvSpPr>
        <p:spPr>
          <a:xfrm>
            <a:off x="841248" y="2276856"/>
            <a:ext cx="429768" cy="429768"/>
          </a:xfrm>
          <a:prstGeom prst="ellipse">
            <a:avLst/>
          </a:prstGeom>
          <a:solidFill>
            <a:srgbClr val="EFF0FF"/>
          </a:solidFill>
          <a:ln w="12700">
            <a:solidFill>
              <a:srgbClr val="EFF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7E810DE-56CC-458A-8E26-38F9D3F2723B}"/>
              </a:ext>
            </a:extLst>
          </p:cNvPr>
          <p:cNvSpPr>
            <a:spLocks noGrp="1"/>
          </p:cNvSpPr>
          <p:nvPr/>
        </p:nvSpPr>
        <p:spPr>
          <a:xfrm>
            <a:off x="841248" y="2340864"/>
            <a:ext cx="429768" cy="2103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01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074F2E0-B2F0-413D-B52E-6B8E12181CE8}"/>
              </a:ext>
            </a:extLst>
          </p:cNvPr>
          <p:cNvSpPr>
            <a:spLocks noGrp="1"/>
          </p:cNvSpPr>
          <p:nvPr/>
        </p:nvSpPr>
        <p:spPr>
          <a:xfrm>
            <a:off x="841248" y="2898648"/>
            <a:ext cx="3108960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92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Connect and fetch</a:t>
            </a:r>
            <a:endParaRPr sz="192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F7CAA0-36A8-4937-ACBA-25A15ABBBEB4}"/>
              </a:ext>
            </a:extLst>
          </p:cNvPr>
          <p:cNvSpPr>
            <a:spLocks noGrp="1"/>
          </p:cNvSpPr>
          <p:nvPr/>
        </p:nvSpPr>
        <p:spPr>
          <a:xfrm>
            <a:off x="841248" y="349300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460">
                <a:solidFill>
                  <a:srgbClr val="667085"/>
                </a:solidFill>
                <a:latin typeface="Inter"/>
                <a:ea typeface="Inter"/>
                <a:cs typeface="Inter"/>
              </a:rPr>
              <a:t>Delegated OAuth links source identities. Celery workers import content and reconcile provider changes.</a:t>
            </a:r>
            <a:endParaRPr sz="146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149E1D7-925B-461B-964A-D48115034C86}"/>
              </a:ext>
            </a:extLst>
          </p:cNvPr>
          <p:cNvSpPr>
            <a:spLocks noGrp="1"/>
          </p:cNvSpPr>
          <p:nvPr/>
        </p:nvSpPr>
        <p:spPr>
          <a:xfrm>
            <a:off x="4334256" y="2057400"/>
            <a:ext cx="3511296" cy="3054096"/>
          </a:xfrm>
          <a:prstGeom prst="roundRect">
            <a:avLst>
              <a:gd name="adj" fmla="val 5988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A848936-79B5-4789-8B18-B58DFAD5CD08}"/>
              </a:ext>
            </a:extLst>
          </p:cNvPr>
          <p:cNvSpPr>
            <a:spLocks noGrp="1"/>
          </p:cNvSpPr>
          <p:nvPr/>
        </p:nvSpPr>
        <p:spPr>
          <a:xfrm>
            <a:off x="4535424" y="2276856"/>
            <a:ext cx="429768" cy="429768"/>
          </a:xfrm>
          <a:prstGeom prst="ellipse">
            <a:avLst/>
          </a:prstGeom>
          <a:solidFill>
            <a:srgbClr val="EFF0FF"/>
          </a:solidFill>
          <a:ln w="12700">
            <a:solidFill>
              <a:srgbClr val="EFF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AA06DD8-5CFA-4052-8666-5D1A49F7923A}"/>
              </a:ext>
            </a:extLst>
          </p:cNvPr>
          <p:cNvSpPr>
            <a:spLocks noGrp="1"/>
          </p:cNvSpPr>
          <p:nvPr/>
        </p:nvSpPr>
        <p:spPr>
          <a:xfrm>
            <a:off x="4535424" y="2340864"/>
            <a:ext cx="429768" cy="2103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02</a:t>
            </a:r>
            <a:endParaRPr sz="13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99AE96C-6862-4E9F-86E1-61A06F90DCAD}"/>
              </a:ext>
            </a:extLst>
          </p:cNvPr>
          <p:cNvSpPr>
            <a:spLocks noGrp="1"/>
          </p:cNvSpPr>
          <p:nvPr/>
        </p:nvSpPr>
        <p:spPr>
          <a:xfrm>
            <a:off x="4535424" y="2898648"/>
            <a:ext cx="3108960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92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Prepare evidence</a:t>
            </a:r>
            <a:endParaRPr sz="192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CCB137B-BC07-4C89-8532-42C5ADF56B19}"/>
              </a:ext>
            </a:extLst>
          </p:cNvPr>
          <p:cNvSpPr>
            <a:spLocks noGrp="1"/>
          </p:cNvSpPr>
          <p:nvPr/>
        </p:nvSpPr>
        <p:spPr>
          <a:xfrm>
            <a:off x="4535424" y="349300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460">
                <a:solidFill>
                  <a:srgbClr val="667085"/>
                </a:solidFill>
                <a:latin typeface="Inter"/>
                <a:ea typeface="Inter"/>
                <a:cs typeface="Inter"/>
              </a:rPr>
              <a:t>Normalise source content, resolve access-control metadata and split text into searchable chunks.</a:t>
            </a:r>
            <a:endParaRPr sz="146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1F737B6-723B-4DAD-AD42-D8B41A6B47CE}"/>
              </a:ext>
            </a:extLst>
          </p:cNvPr>
          <p:cNvSpPr>
            <a:spLocks noGrp="1"/>
          </p:cNvSpPr>
          <p:nvPr/>
        </p:nvSpPr>
        <p:spPr>
          <a:xfrm>
            <a:off x="8037576" y="2057400"/>
            <a:ext cx="3511296" cy="3054096"/>
          </a:xfrm>
          <a:prstGeom prst="roundRect">
            <a:avLst>
              <a:gd name="adj" fmla="val 5988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104FE1E-E5AE-4414-A18E-AB8E7E9CD6F4}"/>
              </a:ext>
            </a:extLst>
          </p:cNvPr>
          <p:cNvSpPr>
            <a:spLocks noGrp="1"/>
          </p:cNvSpPr>
          <p:nvPr/>
        </p:nvSpPr>
        <p:spPr>
          <a:xfrm>
            <a:off x="8238744" y="2276856"/>
            <a:ext cx="429768" cy="429768"/>
          </a:xfrm>
          <a:prstGeom prst="ellipse">
            <a:avLst/>
          </a:prstGeom>
          <a:solidFill>
            <a:srgbClr val="EFF0FF"/>
          </a:solidFill>
          <a:ln w="12700">
            <a:solidFill>
              <a:srgbClr val="EFF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1214B2D-A62E-4963-8939-75FC2424A291}"/>
              </a:ext>
            </a:extLst>
          </p:cNvPr>
          <p:cNvSpPr>
            <a:spLocks noGrp="1"/>
          </p:cNvSpPr>
          <p:nvPr/>
        </p:nvSpPr>
        <p:spPr>
          <a:xfrm>
            <a:off x="8238744" y="2340864"/>
            <a:ext cx="429768" cy="2103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03</a:t>
            </a:r>
            <a:endParaRPr sz="13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FAFD916-0798-4B3D-99E8-BA2943931805}"/>
              </a:ext>
            </a:extLst>
          </p:cNvPr>
          <p:cNvSpPr>
            <a:spLocks noGrp="1"/>
          </p:cNvSpPr>
          <p:nvPr/>
        </p:nvSpPr>
        <p:spPr>
          <a:xfrm>
            <a:off x="8238744" y="2898648"/>
            <a:ext cx="3108960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92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Index and activate</a:t>
            </a:r>
            <a:endParaRPr sz="192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7893489-9271-4EB9-AF6D-D2DA2264363A}"/>
              </a:ext>
            </a:extLst>
          </p:cNvPr>
          <p:cNvSpPr>
            <a:spLocks noGrp="1"/>
          </p:cNvSpPr>
          <p:nvPr/>
        </p:nvSpPr>
        <p:spPr>
          <a:xfrm>
            <a:off x="8238744" y="349300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460">
                <a:solidFill>
                  <a:srgbClr val="667085"/>
                </a:solidFill>
                <a:latin typeface="Inter"/>
                <a:ea typeface="Inter"/>
                <a:cs typeface="Inter"/>
              </a:rPr>
              <a:t>Store embeddings and full-text indexes in PostgreSQL with pgvector. Activate a version only when ready.</a:t>
            </a:r>
            <a:endParaRPr sz="146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5E38A73-763C-4239-A734-9FDA15F2F0BD}"/>
              </a:ext>
            </a:extLst>
          </p:cNvPr>
          <p:cNvSpPr>
            <a:spLocks noGrp="1"/>
          </p:cNvSpPr>
          <p:nvPr/>
        </p:nvSpPr>
        <p:spPr>
          <a:xfrm>
            <a:off x="640080" y="5394960"/>
            <a:ext cx="10908792" cy="768096"/>
          </a:xfrm>
          <a:prstGeom prst="roundRect">
            <a:avLst>
              <a:gd name="adj" fmla="val 21429"/>
            </a:avLst>
          </a:prstGeom>
          <a:solidFill>
            <a:srgbClr val="ECF9F5"/>
          </a:solidFill>
          <a:ln w="10160">
            <a:solidFill>
              <a:srgbClr val="D3E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2320EBF-398F-4A94-B3A5-5088488765F8}"/>
              </a:ext>
            </a:extLst>
          </p:cNvPr>
          <p:cNvSpPr>
            <a:spLocks noGrp="1"/>
          </p:cNvSpPr>
          <p:nvPr/>
        </p:nvSpPr>
        <p:spPr>
          <a:xfrm>
            <a:off x="841248" y="5632704"/>
            <a:ext cx="256032" cy="256032"/>
          </a:xfrm>
          <a:prstGeom prst="ellipse">
            <a:avLst/>
          </a:prstGeom>
          <a:solidFill>
            <a:srgbClr val="0B927D"/>
          </a:solidFill>
          <a:ln w="12700">
            <a:solidFill>
              <a:srgbClr val="0B92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5222C1E-BBED-40C7-8BB5-92385103FC50}"/>
              </a:ext>
            </a:extLst>
          </p:cNvPr>
          <p:cNvSpPr>
            <a:spLocks noGrp="1"/>
          </p:cNvSpPr>
          <p:nvPr/>
        </p:nvSpPr>
        <p:spPr>
          <a:xfrm>
            <a:off x="902513" y="5773522"/>
            <a:ext cx="52121" cy="5120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407E83A-DA1F-4FB1-9C79-1B15560CF464}"/>
              </a:ext>
            </a:extLst>
          </p:cNvPr>
          <p:cNvSpPr>
            <a:spLocks noGrp="1"/>
          </p:cNvSpPr>
          <p:nvPr/>
        </p:nvSpPr>
        <p:spPr>
          <a:xfrm>
            <a:off x="1243584" y="5541264"/>
            <a:ext cx="2770632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80" b="1" spc="50">
                <a:solidFill>
                  <a:srgbClr val="0B927D"/>
                </a:solidFill>
                <a:latin typeface="Inter"/>
                <a:ea typeface="Inter"/>
                <a:cs typeface="Inter"/>
              </a:rPr>
              <a:t>FRESHNESS + PROVENANCE</a:t>
            </a:r>
            <a:endParaRPr sz="108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5BC6029-B92B-4ADF-9042-A17A5D0C68F5}"/>
              </a:ext>
            </a:extLst>
          </p:cNvPr>
          <p:cNvSpPr>
            <a:spLocks noGrp="1"/>
          </p:cNvSpPr>
          <p:nvPr/>
        </p:nvSpPr>
        <p:spPr>
          <a:xfrm>
            <a:off x="1243584" y="5788152"/>
            <a:ext cx="97840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40">
                <a:solidFill>
                  <a:srgbClr val="172033"/>
                </a:solidFill>
                <a:latin typeface="Inter"/>
                <a:ea typeface="Inter"/>
                <a:cs typeface="Inter"/>
              </a:rPr>
              <a:t>Reconciliation finds changes; immutable revisions preserve provenance. Indexed ACLs narrow candidates, but live provider checks decide access.</a:t>
            </a:r>
            <a:endParaRPr sz="1340"/>
          </a:p>
        </p:txBody>
      </p:sp>
    </p:spTree>
    <p:extLst>
      <p:ext uri="{BB962C8B-B14F-4D97-AF65-F5344CB8AC3E}">
        <p14:creationId xmlns:p14="http://schemas.microsoft.com/office/powerpoint/2010/main" val="625855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5568EA8-C357-4D99-8787-36961E70D1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5253D7"/>
          </a:solidFill>
          <a:ln w="12700">
            <a:solidFill>
              <a:srgbClr val="525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DDF965-A0AF-44BA-938C-F1485322DD9B}"/>
              </a:ext>
            </a:extLst>
          </p:cNvPr>
          <p:cNvSpPr>
            <a:spLocks noGrp="1"/>
          </p:cNvSpPr>
          <p:nvPr/>
        </p:nvSpPr>
        <p:spPr>
          <a:xfrm>
            <a:off x="640080" y="393192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TECHNICAL OVERVIEW</a:t>
            </a:r>
            <a:endParaRPr sz="101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7FB200-DDA5-4FE6-94A7-C9CAC143C329}"/>
              </a:ext>
            </a:extLst>
          </p:cNvPr>
          <p:cNvSpPr>
            <a:spLocks noGrp="1"/>
          </p:cNvSpPr>
          <p:nvPr/>
        </p:nvSpPr>
        <p:spPr>
          <a:xfrm>
            <a:off x="640080" y="740664"/>
            <a:ext cx="10954512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9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Permission-safe retrieval and RAG</a:t>
            </a:r>
            <a:endParaRPr sz="29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9172781-F63C-4CFB-9FFD-F3F6FCF09F3D}"/>
              </a:ext>
            </a:extLst>
          </p:cNvPr>
          <p:cNvSpPr>
            <a:spLocks noGrp="1"/>
          </p:cNvSpPr>
          <p:nvPr/>
        </p:nvSpPr>
        <p:spPr>
          <a:xfrm>
            <a:off x="640080" y="1399032"/>
            <a:ext cx="108447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410">
                <a:solidFill>
                  <a:srgbClr val="667085"/>
                </a:solidFill>
                <a:latin typeface="Inter"/>
                <a:ea typeface="Inter"/>
                <a:cs typeface="Inter"/>
              </a:rPr>
              <a:t>Hybrid search finds evidence. Live authorisation controls what may enter the answer.</a:t>
            </a:r>
            <a:endParaRPr sz="141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82991C7-9E46-43A4-AB9A-19B94E2DCCFA}"/>
              </a:ext>
            </a:extLst>
          </p:cNvPr>
          <p:cNvSpPr>
            <a:spLocks noGrp="1"/>
          </p:cNvSpPr>
          <p:nvPr/>
        </p:nvSpPr>
        <p:spPr>
          <a:xfrm>
            <a:off x="640080" y="6437376"/>
            <a:ext cx="10908792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EAB6F2-C203-4F37-BE30-250389372F60}"/>
              </a:ext>
            </a:extLst>
          </p:cNvPr>
          <p:cNvSpPr>
            <a:spLocks noGrp="1"/>
          </p:cNvSpPr>
          <p:nvPr/>
        </p:nvSpPr>
        <p:spPr>
          <a:xfrm>
            <a:off x="640080" y="6528816"/>
            <a:ext cx="585216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relay</a:t>
            </a:r>
            <a:endParaRPr sz="104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1A4E8F6-5E2A-44FD-AD5F-FCCA871C6321}"/>
              </a:ext>
            </a:extLst>
          </p:cNvPr>
          <p:cNvSpPr>
            <a:spLocks noGrp="1"/>
          </p:cNvSpPr>
          <p:nvPr/>
        </p:nvSpPr>
        <p:spPr>
          <a:xfrm>
            <a:off x="1307592" y="6528816"/>
            <a:ext cx="2743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70">
                <a:solidFill>
                  <a:srgbClr val="94A3B8"/>
                </a:solidFill>
                <a:latin typeface="Inter"/>
                <a:ea typeface="Inter"/>
                <a:cs typeface="Inter"/>
              </a:rPr>
              <a:t>/ Tencent Hackathon demo</a:t>
            </a:r>
            <a:endParaRPr sz="97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C66538D-294F-4A39-A285-FC263B285319}"/>
              </a:ext>
            </a:extLst>
          </p:cNvPr>
          <p:cNvSpPr>
            <a:spLocks noGrp="1"/>
          </p:cNvSpPr>
          <p:nvPr/>
        </p:nvSpPr>
        <p:spPr>
          <a:xfrm>
            <a:off x="11036808" y="651967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04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F836A2D-F04D-4024-974C-F510E211EAF4}"/>
              </a:ext>
            </a:extLst>
          </p:cNvPr>
          <p:cNvSpPr>
            <a:spLocks noGrp="1"/>
          </p:cNvSpPr>
          <p:nvPr/>
        </p:nvSpPr>
        <p:spPr>
          <a:xfrm>
            <a:off x="640080" y="2039112"/>
            <a:ext cx="2020824" cy="2990088"/>
          </a:xfrm>
          <a:prstGeom prst="roundRect">
            <a:avLst>
              <a:gd name="adj" fmla="val 8145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88B791C-7DD0-4A6B-95EA-DB548C12762C}"/>
              </a:ext>
            </a:extLst>
          </p:cNvPr>
          <p:cNvSpPr>
            <a:spLocks noGrp="1"/>
          </p:cNvSpPr>
          <p:nvPr/>
        </p:nvSpPr>
        <p:spPr>
          <a:xfrm>
            <a:off x="813816" y="2240280"/>
            <a:ext cx="521208" cy="338328"/>
          </a:xfrm>
          <a:prstGeom prst="roundRect">
            <a:avLst>
              <a:gd name="adj" fmla="val 35135"/>
            </a:avLst>
          </a:prstGeom>
          <a:solidFill>
            <a:srgbClr val="EFF0FF"/>
          </a:solidFill>
          <a:ln w="10160">
            <a:solidFill>
              <a:srgbClr val="EFF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E632BC9-6A8A-41EF-A299-7E83633DDD03}"/>
              </a:ext>
            </a:extLst>
          </p:cNvPr>
          <p:cNvSpPr>
            <a:spLocks noGrp="1"/>
          </p:cNvSpPr>
          <p:nvPr/>
        </p:nvSpPr>
        <p:spPr>
          <a:xfrm>
            <a:off x="905256" y="2253996"/>
            <a:ext cx="338328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1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01</a:t>
            </a:r>
            <a:endParaRPr sz="111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B504D69-C59D-4947-BE99-631493CC797C}"/>
              </a:ext>
            </a:extLst>
          </p:cNvPr>
          <p:cNvSpPr>
            <a:spLocks noGrp="1"/>
          </p:cNvSpPr>
          <p:nvPr/>
        </p:nvSpPr>
        <p:spPr>
          <a:xfrm>
            <a:off x="813816" y="2770632"/>
            <a:ext cx="1673352" cy="5394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69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Hybrid search</a:t>
            </a:r>
            <a:endParaRPr sz="169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3A85914-6912-4B70-9AA5-7E5D0F494CA0}"/>
              </a:ext>
            </a:extLst>
          </p:cNvPr>
          <p:cNvSpPr>
            <a:spLocks noGrp="1"/>
          </p:cNvSpPr>
          <p:nvPr/>
        </p:nvSpPr>
        <p:spPr>
          <a:xfrm>
            <a:off x="813816" y="3483864"/>
            <a:ext cx="1673352" cy="1289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375">
                <a:solidFill>
                  <a:srgbClr val="667085"/>
                </a:solidFill>
                <a:latin typeface="Inter"/>
                <a:ea typeface="Inter"/>
                <a:cs typeface="Inter"/>
              </a:rPr>
              <a:t>Vector similarity and full-text search. RRF merges candidate ranks.</a:t>
            </a:r>
            <a:endParaRPr sz="1375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2434438-6E11-4394-A7D6-2ABB2CC37625}"/>
              </a:ext>
            </a:extLst>
          </p:cNvPr>
          <p:cNvSpPr>
            <a:spLocks noGrp="1"/>
          </p:cNvSpPr>
          <p:nvPr/>
        </p:nvSpPr>
        <p:spPr>
          <a:xfrm>
            <a:off x="2862072" y="2039112"/>
            <a:ext cx="2020824" cy="2990088"/>
          </a:xfrm>
          <a:prstGeom prst="roundRect">
            <a:avLst>
              <a:gd name="adj" fmla="val 8145"/>
            </a:avLst>
          </a:prstGeom>
          <a:solidFill>
            <a:srgbClr val="F0FBF7"/>
          </a:solidFill>
          <a:ln w="10160">
            <a:solidFill>
              <a:srgbClr val="97D6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3395D4D-8FB8-45B8-8F66-EEE5EDBEB7F3}"/>
              </a:ext>
            </a:extLst>
          </p:cNvPr>
          <p:cNvSpPr>
            <a:spLocks noGrp="1"/>
          </p:cNvSpPr>
          <p:nvPr/>
        </p:nvSpPr>
        <p:spPr>
          <a:xfrm>
            <a:off x="3035808" y="2240280"/>
            <a:ext cx="521208" cy="338328"/>
          </a:xfrm>
          <a:prstGeom prst="roundRect">
            <a:avLst>
              <a:gd name="adj" fmla="val 35135"/>
            </a:avLst>
          </a:prstGeom>
          <a:solidFill>
            <a:srgbClr val="0B927D"/>
          </a:solidFill>
          <a:ln w="10160">
            <a:solidFill>
              <a:srgbClr val="0B92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9E70D1E-0A6A-415E-861E-5C000054851F}"/>
              </a:ext>
            </a:extLst>
          </p:cNvPr>
          <p:cNvSpPr>
            <a:spLocks noGrp="1"/>
          </p:cNvSpPr>
          <p:nvPr/>
        </p:nvSpPr>
        <p:spPr>
          <a:xfrm>
            <a:off x="3127248" y="2253996"/>
            <a:ext cx="338328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1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02</a:t>
            </a:r>
            <a:endParaRPr sz="111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EA809B3-1AF3-4502-ACF3-8785BD8556CB}"/>
              </a:ext>
            </a:extLst>
          </p:cNvPr>
          <p:cNvSpPr>
            <a:spLocks noGrp="1"/>
          </p:cNvSpPr>
          <p:nvPr/>
        </p:nvSpPr>
        <p:spPr>
          <a:xfrm>
            <a:off x="3035808" y="2770632"/>
            <a:ext cx="1673352" cy="5394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69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Live access</a:t>
            </a:r>
            <a:endParaRPr sz="169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E1DF105-C25D-44AD-89C1-A5F1EEF98445}"/>
              </a:ext>
            </a:extLst>
          </p:cNvPr>
          <p:cNvSpPr>
            <a:spLocks noGrp="1"/>
          </p:cNvSpPr>
          <p:nvPr/>
        </p:nvSpPr>
        <p:spPr>
          <a:xfrm>
            <a:off x="3035808" y="3483864"/>
            <a:ext cx="1673352" cy="1289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375">
                <a:solidFill>
                  <a:srgbClr val="667085"/>
                </a:solidFill>
                <a:latin typeface="Inter"/>
                <a:ea typeface="Inter"/>
                <a:cs typeface="Inter"/>
              </a:rPr>
              <a:t>Tenant-scoped identity; delegated provider checks. Uncertain access is denied.</a:t>
            </a:r>
            <a:endParaRPr sz="1375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ADE68B1-EE17-4ABD-A5C5-9A09328DA3E8}"/>
              </a:ext>
            </a:extLst>
          </p:cNvPr>
          <p:cNvSpPr>
            <a:spLocks noGrp="1"/>
          </p:cNvSpPr>
          <p:nvPr/>
        </p:nvSpPr>
        <p:spPr>
          <a:xfrm>
            <a:off x="5084064" y="2039112"/>
            <a:ext cx="2020824" cy="2990088"/>
          </a:xfrm>
          <a:prstGeom prst="roundRect">
            <a:avLst>
              <a:gd name="adj" fmla="val 8145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B0BE278-0869-450F-B1B5-E5C060217BD2}"/>
              </a:ext>
            </a:extLst>
          </p:cNvPr>
          <p:cNvSpPr>
            <a:spLocks noGrp="1"/>
          </p:cNvSpPr>
          <p:nvPr/>
        </p:nvSpPr>
        <p:spPr>
          <a:xfrm>
            <a:off x="5257800" y="2240280"/>
            <a:ext cx="521208" cy="338328"/>
          </a:xfrm>
          <a:prstGeom prst="roundRect">
            <a:avLst>
              <a:gd name="adj" fmla="val 35135"/>
            </a:avLst>
          </a:prstGeom>
          <a:solidFill>
            <a:srgbClr val="EFF0FF"/>
          </a:solidFill>
          <a:ln w="10160">
            <a:solidFill>
              <a:srgbClr val="EFF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7188C9E-612A-421B-9C21-F84D4AD865BD}"/>
              </a:ext>
            </a:extLst>
          </p:cNvPr>
          <p:cNvSpPr>
            <a:spLocks noGrp="1"/>
          </p:cNvSpPr>
          <p:nvPr/>
        </p:nvSpPr>
        <p:spPr>
          <a:xfrm>
            <a:off x="5349240" y="2253996"/>
            <a:ext cx="338328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1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03</a:t>
            </a:r>
            <a:endParaRPr sz="111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580F254-EA87-4B72-9C98-95B66D2377CF}"/>
              </a:ext>
            </a:extLst>
          </p:cNvPr>
          <p:cNvSpPr>
            <a:spLocks noGrp="1"/>
          </p:cNvSpPr>
          <p:nvPr/>
        </p:nvSpPr>
        <p:spPr>
          <a:xfrm>
            <a:off x="5257800" y="2770632"/>
            <a:ext cx="1673352" cy="5394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69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Context</a:t>
            </a:r>
            <a:endParaRPr sz="169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8837E16-5842-4C35-AF5B-C9793699E267}"/>
              </a:ext>
            </a:extLst>
          </p:cNvPr>
          <p:cNvSpPr>
            <a:spLocks noGrp="1"/>
          </p:cNvSpPr>
          <p:nvPr/>
        </p:nvSpPr>
        <p:spPr>
          <a:xfrm>
            <a:off x="5257800" y="3483864"/>
            <a:ext cx="1673352" cy="1289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375">
                <a:solidFill>
                  <a:srgbClr val="667085"/>
                </a:solidFill>
                <a:latin typeface="Inter"/>
                <a:ea typeface="Inter"/>
                <a:cs typeface="Inter"/>
              </a:rPr>
              <a:t>Load permitted text, rerank, then compile evidence IDs within a token budget.</a:t>
            </a:r>
            <a:endParaRPr sz="1375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DEBEA59-56AC-46F6-840F-E32097D5FD94}"/>
              </a:ext>
            </a:extLst>
          </p:cNvPr>
          <p:cNvSpPr>
            <a:spLocks noGrp="1"/>
          </p:cNvSpPr>
          <p:nvPr/>
        </p:nvSpPr>
        <p:spPr>
          <a:xfrm>
            <a:off x="7306056" y="2039112"/>
            <a:ext cx="2020824" cy="2990088"/>
          </a:xfrm>
          <a:prstGeom prst="roundRect">
            <a:avLst>
              <a:gd name="adj" fmla="val 8145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E09330B-AA63-4F92-A61A-594FCF3F4A41}"/>
              </a:ext>
            </a:extLst>
          </p:cNvPr>
          <p:cNvSpPr>
            <a:spLocks noGrp="1"/>
          </p:cNvSpPr>
          <p:nvPr/>
        </p:nvSpPr>
        <p:spPr>
          <a:xfrm>
            <a:off x="7479792" y="2240280"/>
            <a:ext cx="521208" cy="338328"/>
          </a:xfrm>
          <a:prstGeom prst="roundRect">
            <a:avLst>
              <a:gd name="adj" fmla="val 35135"/>
            </a:avLst>
          </a:prstGeom>
          <a:solidFill>
            <a:srgbClr val="EFF0FF"/>
          </a:solidFill>
          <a:ln w="10160">
            <a:solidFill>
              <a:srgbClr val="EFF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84ECF6B-C9CD-4606-A94B-BCAC967ECB08}"/>
              </a:ext>
            </a:extLst>
          </p:cNvPr>
          <p:cNvSpPr>
            <a:spLocks noGrp="1"/>
          </p:cNvSpPr>
          <p:nvPr/>
        </p:nvSpPr>
        <p:spPr>
          <a:xfrm>
            <a:off x="7571232" y="2253996"/>
            <a:ext cx="338328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1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04</a:t>
            </a:r>
            <a:endParaRPr sz="111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B32522C-D8DD-4111-AFAE-C7F5111B86EE}"/>
              </a:ext>
            </a:extLst>
          </p:cNvPr>
          <p:cNvSpPr>
            <a:spLocks noGrp="1"/>
          </p:cNvSpPr>
          <p:nvPr/>
        </p:nvSpPr>
        <p:spPr>
          <a:xfrm>
            <a:off x="7479792" y="2770632"/>
            <a:ext cx="1673352" cy="5394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69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Generate</a:t>
            </a:r>
            <a:endParaRPr sz="169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F744241-05CA-447F-8E84-ACC2B4E54D9A}"/>
              </a:ext>
            </a:extLst>
          </p:cNvPr>
          <p:cNvSpPr>
            <a:spLocks noGrp="1"/>
          </p:cNvSpPr>
          <p:nvPr/>
        </p:nvSpPr>
        <p:spPr>
          <a:xfrm>
            <a:off x="7479792" y="3483864"/>
            <a:ext cx="1673352" cy="1289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375">
                <a:solidFill>
                  <a:srgbClr val="667085"/>
                </a:solidFill>
                <a:latin typeface="Inter"/>
                <a:ea typeface="Inter"/>
                <a:cs typeface="Inter"/>
              </a:rPr>
              <a:t>Treat source text as untrusted data. Attach evidence IDs to answer claims.</a:t>
            </a:r>
            <a:endParaRPr sz="1375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C0F2218-183B-4829-B145-76E3A21F4215}"/>
              </a:ext>
            </a:extLst>
          </p:cNvPr>
          <p:cNvSpPr>
            <a:spLocks noGrp="1"/>
          </p:cNvSpPr>
          <p:nvPr/>
        </p:nvSpPr>
        <p:spPr>
          <a:xfrm>
            <a:off x="9528048" y="2039112"/>
            <a:ext cx="2020824" cy="2990088"/>
          </a:xfrm>
          <a:prstGeom prst="roundRect">
            <a:avLst>
              <a:gd name="adj" fmla="val 8145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EC21E06-7FF8-466D-A57F-5D97FADEC04B}"/>
              </a:ext>
            </a:extLst>
          </p:cNvPr>
          <p:cNvSpPr>
            <a:spLocks noGrp="1"/>
          </p:cNvSpPr>
          <p:nvPr/>
        </p:nvSpPr>
        <p:spPr>
          <a:xfrm>
            <a:off x="9701784" y="2240280"/>
            <a:ext cx="521208" cy="338328"/>
          </a:xfrm>
          <a:prstGeom prst="roundRect">
            <a:avLst>
              <a:gd name="adj" fmla="val 35135"/>
            </a:avLst>
          </a:prstGeom>
          <a:solidFill>
            <a:srgbClr val="EFF0FF"/>
          </a:solidFill>
          <a:ln w="10160">
            <a:solidFill>
              <a:srgbClr val="EFF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7665F14-5ACB-4C61-B4E1-BF87537CD674}"/>
              </a:ext>
            </a:extLst>
          </p:cNvPr>
          <p:cNvSpPr>
            <a:spLocks noGrp="1"/>
          </p:cNvSpPr>
          <p:nvPr/>
        </p:nvSpPr>
        <p:spPr>
          <a:xfrm>
            <a:off x="9793224" y="2253996"/>
            <a:ext cx="338328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1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05</a:t>
            </a:r>
            <a:endParaRPr sz="111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5BFFADB-7C0B-47C8-9F9A-05B2ABEE805E}"/>
              </a:ext>
            </a:extLst>
          </p:cNvPr>
          <p:cNvSpPr>
            <a:spLocks noGrp="1"/>
          </p:cNvSpPr>
          <p:nvPr/>
        </p:nvSpPr>
        <p:spPr>
          <a:xfrm>
            <a:off x="9701784" y="2770632"/>
            <a:ext cx="1673352" cy="5394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69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Verify + audit</a:t>
            </a:r>
            <a:endParaRPr sz="169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2C90367-0CA8-46A4-B16F-FF4FD1009FAF}"/>
              </a:ext>
            </a:extLst>
          </p:cNvPr>
          <p:cNvSpPr>
            <a:spLocks noGrp="1"/>
          </p:cNvSpPr>
          <p:nvPr/>
        </p:nvSpPr>
        <p:spPr>
          <a:xfrm>
            <a:off x="9701784" y="3483864"/>
            <a:ext cx="1673352" cy="1289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375">
                <a:solidFill>
                  <a:srgbClr val="667085"/>
                </a:solidFill>
                <a:latin typeface="Inter"/>
                <a:ea typeface="Inter"/>
                <a:cs typeface="Inter"/>
              </a:rPr>
              <a:t>Validate references, repair once, then use an extractive fallback if needed.</a:t>
            </a:r>
            <a:endParaRPr sz="1375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36ECAE8-2779-413C-B7CA-E64B9EE2C953}"/>
              </a:ext>
            </a:extLst>
          </p:cNvPr>
          <p:cNvSpPr>
            <a:spLocks noGrp="1"/>
          </p:cNvSpPr>
          <p:nvPr/>
        </p:nvSpPr>
        <p:spPr>
          <a:xfrm>
            <a:off x="640080" y="5266944"/>
            <a:ext cx="10908792" cy="923544"/>
          </a:xfrm>
          <a:prstGeom prst="roundRect">
            <a:avLst>
              <a:gd name="adj" fmla="val 17822"/>
            </a:avLst>
          </a:prstGeom>
          <a:solidFill>
            <a:srgbClr val="EFF0FF"/>
          </a:solidFill>
          <a:ln w="10160">
            <a:solidFill>
              <a:srgbClr val="E0E5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AAC96BA-DBCD-4A0C-9EA7-B62EFFABF362}"/>
              </a:ext>
            </a:extLst>
          </p:cNvPr>
          <p:cNvSpPr>
            <a:spLocks noGrp="1"/>
          </p:cNvSpPr>
          <p:nvPr/>
        </p:nvSpPr>
        <p:spPr>
          <a:xfrm>
            <a:off x="6089904" y="5449824"/>
            <a:ext cx="14630" cy="557784"/>
          </a:xfrm>
          <a:prstGeom prst="rect">
            <a:avLst/>
          </a:prstGeom>
          <a:solidFill>
            <a:srgbClr val="D1D9EF"/>
          </a:solidFill>
          <a:ln w="12700">
            <a:solidFill>
              <a:srgbClr val="D1D9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84633440-1C5D-41F2-A4C2-5505B36148D4}"/>
              </a:ext>
            </a:extLst>
          </p:cNvPr>
          <p:cNvSpPr>
            <a:spLocks noGrp="1"/>
          </p:cNvSpPr>
          <p:nvPr/>
        </p:nvSpPr>
        <p:spPr>
          <a:xfrm>
            <a:off x="886968" y="5422392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KEEP RESTRICTED TEXT OUT</a:t>
            </a:r>
            <a:endParaRPr sz="101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705D12E-49E2-4185-BBFC-CC81677B1FC7}"/>
              </a:ext>
            </a:extLst>
          </p:cNvPr>
          <p:cNvSpPr>
            <a:spLocks noGrp="1"/>
          </p:cNvSpPr>
          <p:nvPr/>
        </p:nvSpPr>
        <p:spPr>
          <a:xfrm>
            <a:off x="886968" y="5733288"/>
            <a:ext cx="4901184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20">
                <a:solidFill>
                  <a:srgbClr val="172033"/>
                </a:solidFill>
                <a:latin typeface="Inter"/>
                <a:ea typeface="Inter"/>
                <a:cs typeface="Inter"/>
              </a:rPr>
              <a:t>No unauthorised text enters reranking, model context, logs or the browser.</a:t>
            </a:r>
            <a:endParaRPr sz="132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195E9B8-6566-4143-B807-24B9D97DE4AE}"/>
              </a:ext>
            </a:extLst>
          </p:cNvPr>
          <p:cNvSpPr>
            <a:spLocks noGrp="1"/>
          </p:cNvSpPr>
          <p:nvPr/>
        </p:nvSpPr>
        <p:spPr>
          <a:xfrm>
            <a:off x="6345936" y="5422392"/>
            <a:ext cx="520293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10" b="1" spc="120">
                <a:solidFill>
                  <a:srgbClr val="0B927D"/>
                </a:solidFill>
                <a:latin typeface="Inter"/>
                <a:ea typeface="Inter"/>
                <a:cs typeface="Inter"/>
              </a:rPr>
              <a:t>AUDIT BEFORE RELEASE</a:t>
            </a:r>
            <a:endParaRPr sz="101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412724C7-7FAD-458F-872E-1DE48CE9EE7B}"/>
              </a:ext>
            </a:extLst>
          </p:cNvPr>
          <p:cNvSpPr>
            <a:spLocks noGrp="1"/>
          </p:cNvSpPr>
          <p:nvPr/>
        </p:nvSpPr>
        <p:spPr>
          <a:xfrm>
            <a:off x="6345936" y="5733288"/>
            <a:ext cx="481888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10">
                <a:solidFill>
                  <a:srgbClr val="172033"/>
                </a:solidFill>
                <a:latin typeface="Inter"/>
                <a:ea typeface="Inter"/>
                <a:cs typeface="Inter"/>
              </a:rPr>
              <a:t>Commit SHA-256-chained audit before release; recheck citations when opened. References are not factual proof.</a:t>
            </a:r>
            <a:endParaRPr sz="1310"/>
          </a:p>
        </p:txBody>
      </p:sp>
    </p:spTree>
    <p:extLst>
      <p:ext uri="{BB962C8B-B14F-4D97-AF65-F5344CB8AC3E}">
        <p14:creationId xmlns:p14="http://schemas.microsoft.com/office/powerpoint/2010/main" val="1271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AB8A90-F06B-478B-BAD5-7668FE46F5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5253D7"/>
          </a:solidFill>
          <a:ln w="12700">
            <a:solidFill>
              <a:srgbClr val="525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550117-03E7-4FF6-8C80-941EFB72330A}"/>
              </a:ext>
            </a:extLst>
          </p:cNvPr>
          <p:cNvSpPr>
            <a:spLocks noGrp="1"/>
          </p:cNvSpPr>
          <p:nvPr/>
        </p:nvSpPr>
        <p:spPr>
          <a:xfrm>
            <a:off x="640080" y="393192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WALKTHROUGH DEMO</a:t>
            </a:r>
            <a:endParaRPr sz="101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3CA4E00-352D-406F-ADFD-9D9B898F8BB5}"/>
              </a:ext>
            </a:extLst>
          </p:cNvPr>
          <p:cNvSpPr>
            <a:spLocks noGrp="1"/>
          </p:cNvSpPr>
          <p:nvPr/>
        </p:nvSpPr>
        <p:spPr>
          <a:xfrm>
            <a:off x="640080" y="740664"/>
            <a:ext cx="10954512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9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Payment-outage evidence &amp; access</a:t>
            </a:r>
            <a:endParaRPr sz="29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38655A-DE4F-4B2B-B3F4-B5D7D4C97562}"/>
              </a:ext>
            </a:extLst>
          </p:cNvPr>
          <p:cNvSpPr>
            <a:spLocks noGrp="1"/>
          </p:cNvSpPr>
          <p:nvPr/>
        </p:nvSpPr>
        <p:spPr>
          <a:xfrm>
            <a:off x="640080" y="1399032"/>
            <a:ext cx="108447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410">
                <a:solidFill>
                  <a:srgbClr val="667085"/>
                </a:solidFill>
                <a:latin typeface="Inter"/>
                <a:ea typeface="Inter"/>
                <a:cs typeface="Inter"/>
              </a:rPr>
              <a:t>The shared scenario is grouped by provider; Relay checks the signed-in person's access live.</a:t>
            </a:r>
            <a:endParaRPr sz="141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5C916BC-0786-44DA-992B-A8FDC11E1736}"/>
              </a:ext>
            </a:extLst>
          </p:cNvPr>
          <p:cNvSpPr>
            <a:spLocks noGrp="1"/>
          </p:cNvSpPr>
          <p:nvPr/>
        </p:nvSpPr>
        <p:spPr>
          <a:xfrm>
            <a:off x="640080" y="6437376"/>
            <a:ext cx="10908792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F8EDEE4-C275-4830-994E-3EC8D6BD1CCC}"/>
              </a:ext>
            </a:extLst>
          </p:cNvPr>
          <p:cNvSpPr>
            <a:spLocks noGrp="1"/>
          </p:cNvSpPr>
          <p:nvPr/>
        </p:nvSpPr>
        <p:spPr>
          <a:xfrm>
            <a:off x="640080" y="6528816"/>
            <a:ext cx="585216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relay</a:t>
            </a:r>
            <a:endParaRPr sz="104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43364D4-3A44-4634-A9E0-8D74966970A5}"/>
              </a:ext>
            </a:extLst>
          </p:cNvPr>
          <p:cNvSpPr>
            <a:spLocks noGrp="1"/>
          </p:cNvSpPr>
          <p:nvPr/>
        </p:nvSpPr>
        <p:spPr>
          <a:xfrm>
            <a:off x="1307592" y="6528816"/>
            <a:ext cx="2743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70">
                <a:solidFill>
                  <a:srgbClr val="94A3B8"/>
                </a:solidFill>
                <a:latin typeface="Inter"/>
                <a:ea typeface="Inter"/>
                <a:cs typeface="Inter"/>
              </a:rPr>
              <a:t>/ Tencent Hackathon demo</a:t>
            </a:r>
            <a:endParaRPr sz="97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44FACED-B7B1-4822-ADF6-94C6A1FD85F8}"/>
              </a:ext>
            </a:extLst>
          </p:cNvPr>
          <p:cNvSpPr>
            <a:spLocks noGrp="1"/>
          </p:cNvSpPr>
          <p:nvPr/>
        </p:nvSpPr>
        <p:spPr>
          <a:xfrm>
            <a:off x="11036808" y="651967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05</a:t>
            </a:r>
            <a:endParaRPr sz="10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03942F-A7AC-49A5-B23F-DE2B3FF7134D}"/>
              </a:ext>
            </a:extLst>
          </p:cNvPr>
          <p:cNvSpPr>
            <a:spLocks noGrp="1"/>
          </p:cNvSpPr>
          <p:nvPr/>
        </p:nvSpPr>
        <p:spPr>
          <a:xfrm>
            <a:off x="638175" y="2000250"/>
            <a:ext cx="6096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4"/>
          </a:bodyPr>
          <a:lstStyle/>
          <a:p>
            <a:pPr algn="l">
              <a:defRPr sz="863" b="1">
                <a:solidFill>
                  <a:srgbClr val="5253D7"/>
                </a:solidFill>
                <a:latin typeface="Inter"/>
                <a:ea typeface="Inter"/>
                <a:cs typeface="Inter"/>
              </a:defRPr>
            </a:pPr>
            <a:r>
              <a:rPr sz="863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SCENARIO EVIDENCE SOURCES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E77E75-7C95-428E-B5ED-B0986C29EC58}"/>
              </a:ext>
            </a:extLst>
          </p:cNvPr>
          <p:cNvSpPr>
            <a:spLocks noGrp="1"/>
          </p:cNvSpPr>
          <p:nvPr/>
        </p:nvSpPr>
        <p:spPr>
          <a:xfrm>
            <a:off x="7648575" y="2000250"/>
            <a:ext cx="3895725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4"/>
          </a:bodyPr>
          <a:lstStyle/>
          <a:p>
            <a:pPr algn="l">
              <a:defRPr sz="863" b="1">
                <a:solidFill>
                  <a:srgbClr val="5253D7"/>
                </a:solidFill>
                <a:latin typeface="Inter"/>
                <a:ea typeface="Inter"/>
                <a:cs typeface="Inter"/>
              </a:defRPr>
            </a:pPr>
            <a:r>
              <a:rPr sz="863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LIVE ACCESS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27CA797C-6854-4651-AAA4-CD8D2856878C}"/>
              </a:ext>
            </a:extLst>
          </p:cNvPr>
          <p:cNvSpPr>
            <a:spLocks noGrp="1"/>
          </p:cNvSpPr>
          <p:nvPr/>
        </p:nvSpPr>
        <p:spPr>
          <a:xfrm>
            <a:off x="638175" y="2276475"/>
            <a:ext cx="6096000" cy="266700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 w="9525">
            <a:solidFill>
              <a:srgbClr val="C9C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1FE73F-5F99-43A8-8046-E7EC756EDAD1}"/>
              </a:ext>
            </a:extLst>
          </p:cNvPr>
          <p:cNvSpPr>
            <a:spLocks noGrp="1"/>
          </p:cNvSpPr>
          <p:nvPr/>
        </p:nvSpPr>
        <p:spPr>
          <a:xfrm>
            <a:off x="771525" y="2314575"/>
            <a:ext cx="58293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4"/>
          </a:bodyPr>
          <a:lstStyle/>
          <a:p>
            <a:pPr algn="l">
              <a:defRPr sz="863" b="1">
                <a:solidFill>
                  <a:srgbClr val="5253D7"/>
                </a:solidFill>
                <a:latin typeface="Inter"/>
                <a:ea typeface="Inter"/>
                <a:cs typeface="Inter"/>
              </a:defRPr>
            </a:pPr>
            <a:r>
              <a:rPr sz="863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ATLASSIAN CLOUD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AC9EC1-994C-4AA9-A9AD-F7BBC4D9775B}"/>
              </a:ext>
            </a:extLst>
          </p:cNvPr>
          <p:cNvSpPr>
            <a:spLocks noGrp="1"/>
          </p:cNvSpPr>
          <p:nvPr/>
        </p:nvSpPr>
        <p:spPr>
          <a:xfrm>
            <a:off x="638175" y="2609850"/>
            <a:ext cx="6096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4"/>
          </a:bodyPr>
          <a:lstStyle/>
          <a:p>
            <a:pPr algn="l">
              <a:defRPr sz="863" b="0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667085"/>
                </a:solidFill>
                <a:latin typeface="Inter"/>
                <a:ea typeface="Inter"/>
                <a:cs typeface="Inter"/>
              </a:rPr>
              <a:t>Two sources: issue tracker and incident runbook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CA9DB9D0-5BA5-4672-B12E-07B6A055101F}"/>
              </a:ext>
            </a:extLst>
          </p:cNvPr>
          <p:cNvSpPr>
            <a:spLocks noGrp="1"/>
          </p:cNvSpPr>
          <p:nvPr/>
        </p:nvSpPr>
        <p:spPr>
          <a:xfrm>
            <a:off x="638175" y="2800350"/>
            <a:ext cx="2924175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A356CDD4-9077-4E26-A9C1-921D60B3F54B}"/>
              </a:ext>
            </a:extLst>
          </p:cNvPr>
          <p:cNvSpPr>
            <a:spLocks noGrp="1"/>
          </p:cNvSpPr>
          <p:nvPr/>
        </p:nvSpPr>
        <p:spPr>
          <a:xfrm>
            <a:off x="638175" y="2800350"/>
            <a:ext cx="47625" cy="895350"/>
          </a:xfrm>
          <a:prstGeom prst="roundRect">
            <a:avLst>
              <a:gd name="adj" fmla="val 50000"/>
            </a:avLst>
          </a:prstGeom>
          <a:solidFill>
            <a:srgbClr val="5253D7"/>
          </a:solidFill>
          <a:ln w="0">
            <a:solidFill>
              <a:srgbClr val="5253D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E48C0E6-747C-441A-9DA7-4AAD2A33E655}"/>
              </a:ext>
            </a:extLst>
          </p:cNvPr>
          <p:cNvSpPr>
            <a:spLocks noGrp="1"/>
          </p:cNvSpPr>
          <p:nvPr/>
        </p:nvSpPr>
        <p:spPr>
          <a:xfrm>
            <a:off x="790575" y="2914650"/>
            <a:ext cx="26384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1905"/>
          </a:bodyPr>
          <a:lstStyle/>
          <a:p>
            <a:pPr algn="l">
              <a:defRPr sz="1050" b="1">
                <a:solidFill>
                  <a:srgbClr val="172033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Jira  ·  KAN-1 / KAN-2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FE42DA-EB83-4DFB-B20C-FB4F43CED180}"/>
              </a:ext>
            </a:extLst>
          </p:cNvPr>
          <p:cNvSpPr>
            <a:spLocks noGrp="1"/>
          </p:cNvSpPr>
          <p:nvPr/>
        </p:nvSpPr>
        <p:spPr>
          <a:xfrm>
            <a:off x="790575" y="3152775"/>
            <a:ext cx="26384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700"/>
          </a:bodyPr>
          <a:lstStyle/>
          <a:p>
            <a:pPr algn="l">
              <a:defRPr sz="863" b="0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667085"/>
                </a:solidFill>
                <a:latin typeface="Inter"/>
                <a:ea typeface="Inter"/>
                <a:cs typeface="Inter"/>
              </a:rPr>
              <a:t>Cause: uncapped retries exhausted the database pool.</a:t>
            </a:r>
          </a:p>
          <a:p>
            <a:pPr algn="l">
              <a:defRPr sz="863" b="0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667085"/>
                </a:solidFill>
                <a:latin typeface="Inter"/>
                <a:ea typeface="Inter"/>
                <a:cs typeface="Inter"/>
              </a:rPr>
              <a:t>Follow-up: cap retries, add jitter and alerting.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1F94D1E6-F118-4DCA-B8BD-B46F746938BF}"/>
              </a:ext>
            </a:extLst>
          </p:cNvPr>
          <p:cNvSpPr>
            <a:spLocks noGrp="1"/>
          </p:cNvSpPr>
          <p:nvPr/>
        </p:nvSpPr>
        <p:spPr>
          <a:xfrm>
            <a:off x="3810000" y="2800350"/>
            <a:ext cx="2924175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02F139B7-F373-41F9-8B58-7068F87A44B5}"/>
              </a:ext>
            </a:extLst>
          </p:cNvPr>
          <p:cNvSpPr>
            <a:spLocks noGrp="1"/>
          </p:cNvSpPr>
          <p:nvPr/>
        </p:nvSpPr>
        <p:spPr>
          <a:xfrm>
            <a:off x="3810000" y="2800350"/>
            <a:ext cx="47625" cy="895350"/>
          </a:xfrm>
          <a:prstGeom prst="roundRect">
            <a:avLst>
              <a:gd name="adj" fmla="val 50000"/>
            </a:avLst>
          </a:prstGeom>
          <a:solidFill>
            <a:srgbClr val="5253D7"/>
          </a:solidFill>
          <a:ln w="0">
            <a:solidFill>
              <a:srgbClr val="5253D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5CC0CB0-1557-4740-8FD1-1575E5E4A045}"/>
              </a:ext>
            </a:extLst>
          </p:cNvPr>
          <p:cNvSpPr>
            <a:spLocks noGrp="1"/>
          </p:cNvSpPr>
          <p:nvPr/>
        </p:nvSpPr>
        <p:spPr>
          <a:xfrm>
            <a:off x="3962400" y="2914650"/>
            <a:ext cx="26384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1905"/>
          </a:bodyPr>
          <a:lstStyle/>
          <a:p>
            <a:pPr algn="l">
              <a:defRPr sz="1050" b="1">
                <a:solidFill>
                  <a:srgbClr val="172033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Confluence  ·  Incident Runbook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71C2FC7-88A2-4B01-B0F8-201E43C0FBCB}"/>
              </a:ext>
            </a:extLst>
          </p:cNvPr>
          <p:cNvSpPr>
            <a:spLocks noGrp="1"/>
          </p:cNvSpPr>
          <p:nvPr/>
        </p:nvSpPr>
        <p:spPr>
          <a:xfrm>
            <a:off x="3962400" y="3152775"/>
            <a:ext cx="26384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863" b="0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667085"/>
                </a:solidFill>
                <a:latin typeface="Inter"/>
                <a:ea typeface="Inter"/>
                <a:cs typeface="Inter"/>
              </a:rPr>
              <a:t>Cap retries, drain the pool, then check replica lag before failover.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C890F72B-12E4-4E3A-BC9F-A471ECA09BEA}"/>
              </a:ext>
            </a:extLst>
          </p:cNvPr>
          <p:cNvSpPr>
            <a:spLocks noGrp="1"/>
          </p:cNvSpPr>
          <p:nvPr/>
        </p:nvSpPr>
        <p:spPr>
          <a:xfrm>
            <a:off x="638175" y="3914775"/>
            <a:ext cx="2924175" cy="266700"/>
          </a:xfrm>
          <a:prstGeom prst="roundRect">
            <a:avLst>
              <a:gd name="adj" fmla="val 50000"/>
            </a:avLst>
          </a:prstGeom>
          <a:solidFill>
            <a:srgbClr val="EDFAF7"/>
          </a:solidFill>
          <a:ln w="9525">
            <a:solidFill>
              <a:srgbClr val="B8E9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C5C88D2-CA5C-4F5D-AF0D-F94083A473EF}"/>
              </a:ext>
            </a:extLst>
          </p:cNvPr>
          <p:cNvSpPr>
            <a:spLocks noGrp="1"/>
          </p:cNvSpPr>
          <p:nvPr/>
        </p:nvSpPr>
        <p:spPr>
          <a:xfrm>
            <a:off x="771525" y="3952875"/>
            <a:ext cx="2657475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4"/>
          </a:bodyPr>
          <a:lstStyle/>
          <a:p>
            <a:pPr algn="l">
              <a:defRPr sz="863" b="1">
                <a:solidFill>
                  <a:srgbClr val="0B9A89"/>
                </a:solidFill>
                <a:latin typeface="Inter"/>
                <a:ea typeface="Inter"/>
                <a:cs typeface="Inter"/>
              </a:defRPr>
            </a:pPr>
            <a:r>
              <a:rPr sz="863" b="1">
                <a:solidFill>
                  <a:srgbClr val="0B9A89"/>
                </a:solidFill>
                <a:latin typeface="Inter"/>
                <a:ea typeface="Inter"/>
                <a:cs typeface="Inter"/>
              </a:rPr>
              <a:t>SLACK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A3E050E-D09A-4FCA-BEB8-079E44FF0450}"/>
              </a:ext>
            </a:extLst>
          </p:cNvPr>
          <p:cNvSpPr>
            <a:spLocks noGrp="1"/>
          </p:cNvSpPr>
          <p:nvPr/>
        </p:nvSpPr>
        <p:spPr>
          <a:xfrm>
            <a:off x="638175" y="4248150"/>
            <a:ext cx="2924175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4"/>
          </a:bodyPr>
          <a:lstStyle/>
          <a:p>
            <a:pPr algn="l">
              <a:defRPr sz="863" b="0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667085"/>
                </a:solidFill>
                <a:latin typeface="Inter"/>
                <a:ea typeface="Inter"/>
                <a:cs typeface="Inter"/>
              </a:rPr>
              <a:t>One incident conversation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D240B805-6C8D-4232-9F83-B05B1CA86AE5}"/>
              </a:ext>
            </a:extLst>
          </p:cNvPr>
          <p:cNvSpPr>
            <a:spLocks noGrp="1"/>
          </p:cNvSpPr>
          <p:nvPr/>
        </p:nvSpPr>
        <p:spPr>
          <a:xfrm>
            <a:off x="638175" y="4438650"/>
            <a:ext cx="2924175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B10E7F11-C633-4029-849D-80326B0BF1E6}"/>
              </a:ext>
            </a:extLst>
          </p:cNvPr>
          <p:cNvSpPr>
            <a:spLocks noGrp="1"/>
          </p:cNvSpPr>
          <p:nvPr/>
        </p:nvSpPr>
        <p:spPr>
          <a:xfrm>
            <a:off x="638175" y="4438650"/>
            <a:ext cx="47625" cy="838200"/>
          </a:xfrm>
          <a:prstGeom prst="roundRect">
            <a:avLst>
              <a:gd name="adj" fmla="val 50000"/>
            </a:avLst>
          </a:prstGeom>
          <a:solidFill>
            <a:srgbClr val="0B9A89"/>
          </a:solidFill>
          <a:ln w="0">
            <a:solidFill>
              <a:srgbClr val="0B9A8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BCFBF0A-37EB-493E-A7A9-A1932C497CE4}"/>
              </a:ext>
            </a:extLst>
          </p:cNvPr>
          <p:cNvSpPr>
            <a:spLocks noGrp="1"/>
          </p:cNvSpPr>
          <p:nvPr/>
        </p:nvSpPr>
        <p:spPr>
          <a:xfrm>
            <a:off x="790575" y="4552950"/>
            <a:ext cx="26384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1905"/>
          </a:bodyPr>
          <a:lstStyle/>
          <a:p>
            <a:pPr algn="l">
              <a:defRPr sz="1050" b="1">
                <a:solidFill>
                  <a:srgbClr val="172033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#payment-incident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B85E06F-E270-4065-A579-21D6B376C4FF}"/>
              </a:ext>
            </a:extLst>
          </p:cNvPr>
          <p:cNvSpPr>
            <a:spLocks noGrp="1"/>
          </p:cNvSpPr>
          <p:nvPr/>
        </p:nvSpPr>
        <p:spPr>
          <a:xfrm>
            <a:off x="790575" y="4791075"/>
            <a:ext cx="26384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863" b="0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667085"/>
                </a:solidFill>
                <a:latin typeface="Inter"/>
                <a:ea typeface="Inter"/>
                <a:cs typeface="Inter"/>
              </a:rPr>
              <a:t>Agreed mitigation: retry cap, jitter and database-pool monitoring.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A4A4733E-88AA-41B6-949B-E78C272EB1E2}"/>
              </a:ext>
            </a:extLst>
          </p:cNvPr>
          <p:cNvSpPr>
            <a:spLocks noGrp="1"/>
          </p:cNvSpPr>
          <p:nvPr/>
        </p:nvSpPr>
        <p:spPr>
          <a:xfrm>
            <a:off x="3810000" y="3914775"/>
            <a:ext cx="2924175" cy="266700"/>
          </a:xfrm>
          <a:prstGeom prst="roundRect">
            <a:avLst>
              <a:gd name="adj" fmla="val 50000"/>
            </a:avLst>
          </a:prstGeom>
          <a:solidFill>
            <a:srgbClr val="EDF9F0"/>
          </a:solidFill>
          <a:ln w="9525">
            <a:solidFill>
              <a:srgbClr val="BCE8C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BD6C7B0-518E-4B79-AF90-43FC9C08BED4}"/>
              </a:ext>
            </a:extLst>
          </p:cNvPr>
          <p:cNvSpPr>
            <a:spLocks noGrp="1"/>
          </p:cNvSpPr>
          <p:nvPr/>
        </p:nvSpPr>
        <p:spPr>
          <a:xfrm>
            <a:off x="3943350" y="3952875"/>
            <a:ext cx="2657475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4"/>
          </a:bodyPr>
          <a:lstStyle/>
          <a:p>
            <a:pPr algn="l">
              <a:defRPr sz="863" b="1">
                <a:solidFill>
                  <a:srgbClr val="15803D"/>
                </a:solidFill>
                <a:latin typeface="Inter"/>
                <a:ea typeface="Inter"/>
                <a:cs typeface="Inter"/>
              </a:defRPr>
            </a:pPr>
            <a:r>
              <a:rPr sz="863" b="1">
                <a:solidFill>
                  <a:srgbClr val="15803D"/>
                </a:solidFill>
                <a:latin typeface="Inter"/>
                <a:ea typeface="Inter"/>
                <a:cs typeface="Inter"/>
              </a:rPr>
              <a:t>GOOGLE DRIVE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28CC90B-E23A-4F01-A06F-03684479055A}"/>
              </a:ext>
            </a:extLst>
          </p:cNvPr>
          <p:cNvSpPr>
            <a:spLocks noGrp="1"/>
          </p:cNvSpPr>
          <p:nvPr/>
        </p:nvSpPr>
        <p:spPr>
          <a:xfrm>
            <a:off x="3810000" y="4248150"/>
            <a:ext cx="2924175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4"/>
          </a:bodyPr>
          <a:lstStyle/>
          <a:p>
            <a:pPr algn="l">
              <a:defRPr sz="863" b="0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667085"/>
                </a:solidFill>
                <a:latin typeface="Inter"/>
                <a:ea typeface="Inter"/>
                <a:cs typeface="Inter"/>
              </a:rPr>
              <a:t>One post-mortem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7C1D09AA-835C-4998-AE35-FED8F1C45F23}"/>
              </a:ext>
            </a:extLst>
          </p:cNvPr>
          <p:cNvSpPr>
            <a:spLocks noGrp="1"/>
          </p:cNvSpPr>
          <p:nvPr/>
        </p:nvSpPr>
        <p:spPr>
          <a:xfrm>
            <a:off x="3810000" y="4438650"/>
            <a:ext cx="2924175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5B8C8111-D811-46E0-A704-B029B5812707}"/>
              </a:ext>
            </a:extLst>
          </p:cNvPr>
          <p:cNvSpPr>
            <a:spLocks noGrp="1"/>
          </p:cNvSpPr>
          <p:nvPr/>
        </p:nvSpPr>
        <p:spPr>
          <a:xfrm>
            <a:off x="3810000" y="4438650"/>
            <a:ext cx="47625" cy="83820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0">
            <a:solidFill>
              <a:srgbClr val="15803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2C8E06B-3C91-425E-983F-7A40BC328CA3}"/>
              </a:ext>
            </a:extLst>
          </p:cNvPr>
          <p:cNvSpPr>
            <a:spLocks noGrp="1"/>
          </p:cNvSpPr>
          <p:nvPr/>
        </p:nvSpPr>
        <p:spPr>
          <a:xfrm>
            <a:off x="3962400" y="4552950"/>
            <a:ext cx="26384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1905"/>
          </a:bodyPr>
          <a:lstStyle/>
          <a:p>
            <a:pPr algn="l">
              <a:defRPr sz="1050" b="1">
                <a:solidFill>
                  <a:srgbClr val="172033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Q3 Payment Gateway Post-mortem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5E0B596-4598-46D2-890B-9AAFE99504D9}"/>
              </a:ext>
            </a:extLst>
          </p:cNvPr>
          <p:cNvSpPr>
            <a:spLocks noGrp="1"/>
          </p:cNvSpPr>
          <p:nvPr/>
        </p:nvSpPr>
        <p:spPr>
          <a:xfrm>
            <a:off x="3962400" y="4791075"/>
            <a:ext cx="26384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863" b="0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667085"/>
                </a:solidFill>
                <a:latin typeface="Inter"/>
                <a:ea typeface="Inter"/>
                <a:cs typeface="Inter"/>
              </a:rPr>
              <a:t>Impact: 428 failed checkout attempts.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CC8FCD60-EF6A-49DC-A961-F587D43453A8}"/>
              </a:ext>
            </a:extLst>
          </p:cNvPr>
          <p:cNvSpPr>
            <a:spLocks noGrp="1"/>
          </p:cNvSpPr>
          <p:nvPr/>
        </p:nvSpPr>
        <p:spPr>
          <a:xfrm>
            <a:off x="6858000" y="3686175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F5122BA-D738-4EB5-83B8-66010DFF6E25}"/>
              </a:ext>
            </a:extLst>
          </p:cNvPr>
          <p:cNvSpPr>
            <a:spLocks noGrp="1"/>
          </p:cNvSpPr>
          <p:nvPr/>
        </p:nvSpPr>
        <p:spPr>
          <a:xfrm>
            <a:off x="6915150" y="3829050"/>
            <a:ext cx="5143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24"/>
          </a:bodyPr>
          <a:lstStyle/>
          <a:p>
            <a:pPr algn="ctr">
              <a:defRPr sz="788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RELAY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1C68593-8DCE-4FBB-94E5-454284920D2D}"/>
              </a:ext>
            </a:extLst>
          </p:cNvPr>
          <p:cNvSpPr>
            <a:spLocks noGrp="1"/>
          </p:cNvSpPr>
          <p:nvPr/>
        </p:nvSpPr>
        <p:spPr>
          <a:xfrm>
            <a:off x="6915150" y="4000500"/>
            <a:ext cx="514350" cy="133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6667"/>
          </a:bodyPr>
          <a:lstStyle/>
          <a:p>
            <a:pPr algn="ctr">
              <a:defRPr sz="750" b="0">
                <a:solidFill>
                  <a:srgbClr val="D7DEEA"/>
                </a:solidFill>
                <a:latin typeface="Inter"/>
                <a:ea typeface="Inter"/>
                <a:cs typeface="Inter"/>
              </a:defRPr>
            </a:pPr>
            <a:r>
              <a:rPr sz="750" b="0">
                <a:solidFill>
                  <a:srgbClr val="D7DEEA"/>
                </a:solidFill>
                <a:latin typeface="Inter"/>
                <a:ea typeface="Inter"/>
                <a:cs typeface="Inter"/>
              </a:rPr>
              <a:t>checks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C9E7CE23-A537-4E5B-82C4-31020C683606}"/>
              </a:ext>
            </a:extLst>
          </p:cNvPr>
          <p:cNvSpPr>
            <a:spLocks noGrp="1"/>
          </p:cNvSpPr>
          <p:nvPr/>
        </p:nvSpPr>
        <p:spPr>
          <a:xfrm>
            <a:off x="7648575" y="2276475"/>
            <a:ext cx="3895725" cy="3000375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6BCE841-B85C-477A-B1B7-AFA802647BCF}"/>
              </a:ext>
            </a:extLst>
          </p:cNvPr>
          <p:cNvSpPr>
            <a:spLocks noGrp="1"/>
          </p:cNvSpPr>
          <p:nvPr/>
        </p:nvSpPr>
        <p:spPr>
          <a:xfrm>
            <a:off x="7858125" y="2457450"/>
            <a:ext cx="3476625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9792"/>
          </a:bodyPr>
          <a:lstStyle/>
          <a:p>
            <a:pPr algn="l">
              <a:defRPr sz="1200" b="1">
                <a:solidFill>
                  <a:srgbClr val="17203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Access is evaluated per request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346BADF-94CC-4600-B254-D48087A64CE9}"/>
              </a:ext>
            </a:extLst>
          </p:cNvPr>
          <p:cNvSpPr>
            <a:spLocks noGrp="1"/>
          </p:cNvSpPr>
          <p:nvPr/>
        </p:nvSpPr>
        <p:spPr>
          <a:xfrm>
            <a:off x="7858125" y="2695575"/>
            <a:ext cx="3476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125"/>
          </a:bodyPr>
          <a:lstStyle/>
          <a:p>
            <a:pPr algn="l">
              <a:defRPr sz="863" b="0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667085"/>
                </a:solidFill>
                <a:latin typeface="Inter"/>
                <a:ea typeface="Inter"/>
                <a:cs typeface="Inter"/>
              </a:rPr>
              <a:t>Relay uses the linked provider account; it never expands a provider grant.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3978557E-1D57-406D-9CC3-7996CC3570F1}"/>
              </a:ext>
            </a:extLst>
          </p:cNvPr>
          <p:cNvSpPr>
            <a:spLocks noGrp="1"/>
          </p:cNvSpPr>
          <p:nvPr/>
        </p:nvSpPr>
        <p:spPr>
          <a:xfrm>
            <a:off x="7858125" y="3105150"/>
            <a:ext cx="3476625" cy="504825"/>
          </a:xfrm>
          <a:prstGeom prst="roundRect">
            <a:avLst>
              <a:gd name="adj" fmla="val 15094"/>
            </a:avLst>
          </a:prstGeom>
          <a:solidFill>
            <a:srgbClr val="EEF0FF"/>
          </a:solidFill>
          <a:ln w="9525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7D9E13F5-C25A-4005-BEB0-AB1B4E6981ED}"/>
              </a:ext>
            </a:extLst>
          </p:cNvPr>
          <p:cNvSpPr>
            <a:spLocks noGrp="1"/>
          </p:cNvSpPr>
          <p:nvPr/>
        </p:nvSpPr>
        <p:spPr>
          <a:xfrm>
            <a:off x="7991475" y="3219450"/>
            <a:ext cx="276225" cy="276225"/>
          </a:xfrm>
          <a:prstGeom prst="ellipse">
            <a:avLst/>
          </a:prstGeom>
          <a:solidFill>
            <a:srgbClr val="5253D7"/>
          </a:solidFill>
          <a:ln w="0">
            <a:solidFill>
              <a:srgbClr val="5253D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1EE1CAE-7A85-4F73-952F-2B4C256E8699}"/>
              </a:ext>
            </a:extLst>
          </p:cNvPr>
          <p:cNvSpPr>
            <a:spLocks noGrp="1"/>
          </p:cNvSpPr>
          <p:nvPr/>
        </p:nvSpPr>
        <p:spPr>
          <a:xfrm>
            <a:off x="7991475" y="3238500"/>
            <a:ext cx="276225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/>
          <a:p>
            <a:pPr algn="ctr">
              <a:defRPr sz="8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D484AF9-E1B4-4C03-A758-B19F9926C191}"/>
              </a:ext>
            </a:extLst>
          </p:cNvPr>
          <p:cNvSpPr>
            <a:spLocks noGrp="1"/>
          </p:cNvSpPr>
          <p:nvPr/>
        </p:nvSpPr>
        <p:spPr>
          <a:xfrm>
            <a:off x="8401050" y="3181350"/>
            <a:ext cx="876300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1389"/>
          </a:bodyPr>
          <a:lstStyle/>
          <a:p>
            <a:pPr algn="l">
              <a:defRPr sz="900" b="1">
                <a:solidFill>
                  <a:srgbClr val="172033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Alice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57DC500-A895-4ABD-8361-785476EAFEB4}"/>
              </a:ext>
            </a:extLst>
          </p:cNvPr>
          <p:cNvSpPr>
            <a:spLocks noGrp="1"/>
          </p:cNvSpPr>
          <p:nvPr/>
        </p:nvSpPr>
        <p:spPr>
          <a:xfrm>
            <a:off x="8401050" y="3343275"/>
            <a:ext cx="277177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487"/>
          </a:bodyPr>
          <a:lstStyle/>
          <a:p>
            <a:pPr algn="l">
              <a:defRPr sz="788" b="0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667085"/>
                </a:solidFill>
                <a:latin typeface="Inter"/>
                <a:ea typeface="Inter"/>
                <a:cs typeface="Inter"/>
              </a:rPr>
              <a:t>Connects and indexes sources; reads scenario records.</a:t>
            </a: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4BAB283E-E9E3-439F-9792-EEFF7E492F17}"/>
              </a:ext>
            </a:extLst>
          </p:cNvPr>
          <p:cNvSpPr>
            <a:spLocks noGrp="1"/>
          </p:cNvSpPr>
          <p:nvPr/>
        </p:nvSpPr>
        <p:spPr>
          <a:xfrm>
            <a:off x="7858125" y="3705225"/>
            <a:ext cx="3476625" cy="504825"/>
          </a:xfrm>
          <a:prstGeom prst="roundRect">
            <a:avLst>
              <a:gd name="adj" fmla="val 15094"/>
            </a:avLst>
          </a:prstGeom>
          <a:solidFill>
            <a:srgbClr val="EDFAF7"/>
          </a:solidFill>
          <a:ln w="9525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99D593AB-ACE7-4765-8F07-791A26D796B5}"/>
              </a:ext>
            </a:extLst>
          </p:cNvPr>
          <p:cNvSpPr>
            <a:spLocks noGrp="1"/>
          </p:cNvSpPr>
          <p:nvPr/>
        </p:nvSpPr>
        <p:spPr>
          <a:xfrm>
            <a:off x="7991475" y="3819525"/>
            <a:ext cx="276225" cy="276225"/>
          </a:xfrm>
          <a:prstGeom prst="ellipse">
            <a:avLst/>
          </a:prstGeom>
          <a:solidFill>
            <a:srgbClr val="0B9A89"/>
          </a:solidFill>
          <a:ln w="0">
            <a:solidFill>
              <a:srgbClr val="0B9A8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A27EB57-B5DF-4BEA-BCE0-38C4E7CDD643}"/>
              </a:ext>
            </a:extLst>
          </p:cNvPr>
          <p:cNvSpPr>
            <a:spLocks noGrp="1"/>
          </p:cNvSpPr>
          <p:nvPr/>
        </p:nvSpPr>
        <p:spPr>
          <a:xfrm>
            <a:off x="7991475" y="3838575"/>
            <a:ext cx="276225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/>
          <a:p>
            <a:pPr algn="ctr">
              <a:defRPr sz="8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B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D281AE5-A5D6-4291-B780-16D30FB9F82B}"/>
              </a:ext>
            </a:extLst>
          </p:cNvPr>
          <p:cNvSpPr>
            <a:spLocks noGrp="1"/>
          </p:cNvSpPr>
          <p:nvPr/>
        </p:nvSpPr>
        <p:spPr>
          <a:xfrm>
            <a:off x="8401050" y="3781425"/>
            <a:ext cx="876300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1389"/>
          </a:bodyPr>
          <a:lstStyle/>
          <a:p>
            <a:pPr algn="l">
              <a:defRPr sz="900" b="1">
                <a:solidFill>
                  <a:srgbClr val="172033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Bob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0E55AE2-5E20-4477-8650-20980A161E88}"/>
              </a:ext>
            </a:extLst>
          </p:cNvPr>
          <p:cNvSpPr>
            <a:spLocks noGrp="1"/>
          </p:cNvSpPr>
          <p:nvPr/>
        </p:nvSpPr>
        <p:spPr>
          <a:xfrm>
            <a:off x="8401050" y="3943350"/>
            <a:ext cx="277177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487"/>
          </a:bodyPr>
          <a:lstStyle/>
          <a:p>
            <a:pPr algn="l">
              <a:defRPr sz="788" b="0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667085"/>
                </a:solidFill>
                <a:latin typeface="Inter"/>
                <a:ea typeface="Inter"/>
                <a:cs typeface="Inter"/>
              </a:rPr>
              <a:t>Reads the shared payment-outage evidence across providers.</a:t>
            </a:r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8806AB48-EF45-4596-93F2-B0215917D56F}"/>
              </a:ext>
            </a:extLst>
          </p:cNvPr>
          <p:cNvSpPr>
            <a:spLocks noGrp="1"/>
          </p:cNvSpPr>
          <p:nvPr/>
        </p:nvSpPr>
        <p:spPr>
          <a:xfrm>
            <a:off x="7858125" y="4305300"/>
            <a:ext cx="3476625" cy="504825"/>
          </a:xfrm>
          <a:prstGeom prst="roundRect">
            <a:avLst>
              <a:gd name="adj" fmla="val 15094"/>
            </a:avLst>
          </a:prstGeom>
          <a:solidFill>
            <a:srgbClr val="EDF9F0"/>
          </a:solidFill>
          <a:ln w="9525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CB033A58-0D16-419F-848B-B697B5EEBF7B}"/>
              </a:ext>
            </a:extLst>
          </p:cNvPr>
          <p:cNvSpPr>
            <a:spLocks noGrp="1"/>
          </p:cNvSpPr>
          <p:nvPr/>
        </p:nvSpPr>
        <p:spPr>
          <a:xfrm>
            <a:off x="7991475" y="4419600"/>
            <a:ext cx="276225" cy="276225"/>
          </a:xfrm>
          <a:prstGeom prst="ellipse">
            <a:avLst/>
          </a:prstGeom>
          <a:solidFill>
            <a:srgbClr val="15803D"/>
          </a:solidFill>
          <a:ln w="0">
            <a:solidFill>
              <a:srgbClr val="15803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4C34F40-851A-410A-8954-E8DF277EC721}"/>
              </a:ext>
            </a:extLst>
          </p:cNvPr>
          <p:cNvSpPr>
            <a:spLocks noGrp="1"/>
          </p:cNvSpPr>
          <p:nvPr/>
        </p:nvSpPr>
        <p:spPr>
          <a:xfrm>
            <a:off x="7991475" y="4438650"/>
            <a:ext cx="276225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/>
          <a:p>
            <a:pPr algn="ctr">
              <a:defRPr sz="8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1A42C94-7FF8-4D5F-A2AC-9A6488D3A6B2}"/>
              </a:ext>
            </a:extLst>
          </p:cNvPr>
          <p:cNvSpPr>
            <a:spLocks noGrp="1"/>
          </p:cNvSpPr>
          <p:nvPr/>
        </p:nvSpPr>
        <p:spPr>
          <a:xfrm>
            <a:off x="8401050" y="4381500"/>
            <a:ext cx="876300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1389"/>
          </a:bodyPr>
          <a:lstStyle/>
          <a:p>
            <a:pPr algn="l">
              <a:defRPr sz="900" b="1">
                <a:solidFill>
                  <a:srgbClr val="172033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Carol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034C603-2907-42A2-BF76-113EFC625123}"/>
              </a:ext>
            </a:extLst>
          </p:cNvPr>
          <p:cNvSpPr>
            <a:spLocks noGrp="1"/>
          </p:cNvSpPr>
          <p:nvPr/>
        </p:nvSpPr>
        <p:spPr>
          <a:xfrm>
            <a:off x="8401050" y="4543425"/>
            <a:ext cx="277177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286"/>
          </a:bodyPr>
          <a:lstStyle/>
          <a:p>
            <a:pPr algn="l">
              <a:defRPr sz="788" b="0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667085"/>
                </a:solidFill>
                <a:latin typeface="Inter"/>
                <a:ea typeface="Inter"/>
                <a:cs typeface="Inter"/>
              </a:rPr>
              <a:t>Views the compliance audit; source access follows each provider grant.</a:t>
            </a:r>
          </a:p>
        </p:txBody>
      </p:sp>
      <p:cxnSp>
        <p:nvCxnSpPr>
          <p:cNvPr id="122" name="肘形连接符 121"/>
          <p:cNvCxnSpPr>
            <a:stCxn id="15" idx="3"/>
            <a:endCxn id="37" idx="1"/>
          </p:cNvCxnSpPr>
          <p:nvPr/>
        </p:nvCxnSpPr>
        <p:spPr>
          <a:xfrm>
            <a:off x="3562350" y="3248025"/>
            <a:ext cx="3295650" cy="752475"/>
          </a:xfrm>
          <a:prstGeom prst="bentConnector3">
            <a:avLst>
              <a:gd name="adj1" fmla="val 50000"/>
            </a:avLst>
          </a:prstGeom>
          <a:ln w="14288">
            <a:solidFill>
              <a:srgbClr val="C9CBFF"/>
            </a:solidFill>
            <a:prstDash val="solid"/>
          </a:ln>
        </p:spPr>
      </p:cxnSp>
      <p:cxnSp>
        <p:nvCxnSpPr>
          <p:cNvPr id="123" name="肘形连接符 122"/>
          <p:cNvCxnSpPr>
            <a:stCxn id="19" idx="3"/>
            <a:endCxn id="37" idx="1"/>
          </p:cNvCxnSpPr>
          <p:nvPr/>
        </p:nvCxnSpPr>
        <p:spPr>
          <a:xfrm>
            <a:off x="6734175" y="3248025"/>
            <a:ext cx="123825" cy="752475"/>
          </a:xfrm>
          <a:prstGeom prst="bentConnector3">
            <a:avLst>
              <a:gd name="adj1" fmla="val 50000"/>
            </a:avLst>
          </a:prstGeom>
          <a:ln w="14288">
            <a:solidFill>
              <a:srgbClr val="C9CBFF"/>
            </a:solidFill>
            <a:prstDash val="solid"/>
          </a:ln>
        </p:spPr>
      </p:cxnSp>
      <p:cxnSp>
        <p:nvCxnSpPr>
          <p:cNvPr id="124" name="肘形连接符 123"/>
          <p:cNvCxnSpPr>
            <a:stCxn id="26" idx="3"/>
            <a:endCxn id="37" idx="1"/>
          </p:cNvCxnSpPr>
          <p:nvPr/>
        </p:nvCxnSpPr>
        <p:spPr>
          <a:xfrm flipV="1">
            <a:off x="3562350" y="4000500"/>
            <a:ext cx="3295650" cy="857250"/>
          </a:xfrm>
          <a:prstGeom prst="bentConnector3">
            <a:avLst>
              <a:gd name="adj1" fmla="val 50000"/>
            </a:avLst>
          </a:prstGeom>
          <a:ln w="14288">
            <a:solidFill>
              <a:srgbClr val="B8E9DF"/>
            </a:solidFill>
            <a:prstDash val="solid"/>
          </a:ln>
        </p:spPr>
      </p:cxnSp>
      <p:cxnSp>
        <p:nvCxnSpPr>
          <p:cNvPr id="125" name="肘形连接符 124"/>
          <p:cNvCxnSpPr>
            <a:stCxn id="33" idx="3"/>
            <a:endCxn id="37" idx="1"/>
          </p:cNvCxnSpPr>
          <p:nvPr/>
        </p:nvCxnSpPr>
        <p:spPr>
          <a:xfrm flipV="1">
            <a:off x="6734175" y="4000500"/>
            <a:ext cx="123825" cy="857250"/>
          </a:xfrm>
          <a:prstGeom prst="bentConnector3">
            <a:avLst>
              <a:gd name="adj1" fmla="val 50000"/>
            </a:avLst>
          </a:prstGeom>
          <a:ln w="14288">
            <a:solidFill>
              <a:srgbClr val="BCE8C7"/>
            </a:solidFill>
            <a:prstDash val="solid"/>
          </a:ln>
        </p:spPr>
      </p:cxnSp>
      <p:cxnSp>
        <p:nvCxnSpPr>
          <p:cNvPr id="126" name="直线箭头连接符 125"/>
          <p:cNvCxnSpPr>
            <a:stCxn id="37" idx="3"/>
            <a:endCxn id="40" idx="1"/>
          </p:cNvCxnSpPr>
          <p:nvPr/>
        </p:nvCxnSpPr>
        <p:spPr>
          <a:xfrm flipV="1">
            <a:off x="7486650" y="3776663"/>
            <a:ext cx="161925" cy="223838"/>
          </a:xfrm>
          <a:prstGeom prst="straightConnector1">
            <a:avLst/>
          </a:prstGeom>
          <a:ln w="19050">
            <a:solidFill>
              <a:srgbClr val="5253D7"/>
            </a:solidFill>
            <a:prstDash val="solid"/>
          </a:ln>
        </p:spPr>
      </p:cxn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733864E9-4964-407D-9CF5-E0B63C20CF29}"/>
              </a:ext>
            </a:extLst>
          </p:cNvPr>
          <p:cNvSpPr>
            <a:spLocks noGrp="1"/>
          </p:cNvSpPr>
          <p:nvPr/>
        </p:nvSpPr>
        <p:spPr>
          <a:xfrm>
            <a:off x="638175" y="5534025"/>
            <a:ext cx="10906125" cy="581025"/>
          </a:xfrm>
          <a:prstGeom prst="roundRect">
            <a:avLst>
              <a:gd name="adj" fmla="val 13115"/>
            </a:avLst>
          </a:prstGeom>
          <a:solidFill>
            <a:srgbClr val="F8FAFD"/>
          </a:solidFill>
          <a:ln w="9525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C9E8348-2806-416A-8A85-8C83E64CD363}"/>
              </a:ext>
            </a:extLst>
          </p:cNvPr>
          <p:cNvSpPr>
            <a:spLocks noGrp="1"/>
          </p:cNvSpPr>
          <p:nvPr/>
        </p:nvSpPr>
        <p:spPr>
          <a:xfrm>
            <a:off x="847725" y="5676900"/>
            <a:ext cx="1238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24"/>
          </a:bodyPr>
          <a:lstStyle/>
          <a:p>
            <a:pPr algn="l">
              <a:defRPr sz="788" b="1">
                <a:solidFill>
                  <a:srgbClr val="5253D7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QUERY BOUNDARY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00A0E6F1-CEDA-4473-8ADC-BB1465ED6D23}"/>
              </a:ext>
            </a:extLst>
          </p:cNvPr>
          <p:cNvSpPr>
            <a:spLocks noGrp="1"/>
          </p:cNvSpPr>
          <p:nvPr/>
        </p:nvSpPr>
        <p:spPr>
          <a:xfrm>
            <a:off x="2143125" y="5629275"/>
            <a:ext cx="9048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975" b="0">
                <a:solidFill>
                  <a:srgbClr val="17203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172033"/>
                </a:solidFill>
                <a:latin typeface="Inter"/>
                <a:ea typeface="Inter"/>
                <a:cs typeface="Inter"/>
              </a:rPr>
              <a:t>The same question can retrieve different evidence for Alice, Bob and Carol because authorisation is re-checked against each source.</a:t>
            </a:r>
          </a:p>
        </p:txBody>
      </p:sp>
    </p:spTree>
    <p:extLst>
      <p:ext uri="{BB962C8B-B14F-4D97-AF65-F5344CB8AC3E}">
        <p14:creationId xmlns:p14="http://schemas.microsoft.com/office/powerpoint/2010/main" val="831483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277496-3831-4A17-B175-6769F6F693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5253D7"/>
          </a:solidFill>
          <a:ln w="12700">
            <a:solidFill>
              <a:srgbClr val="525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406547-D7A0-4C5C-AB7E-836A25EAF2BF}"/>
              </a:ext>
            </a:extLst>
          </p:cNvPr>
          <p:cNvSpPr>
            <a:spLocks noGrp="1"/>
          </p:cNvSpPr>
          <p:nvPr/>
        </p:nvSpPr>
        <p:spPr>
          <a:xfrm>
            <a:off x="640080" y="393192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AGENT WORKFLOW</a:t>
            </a:r>
            <a:endParaRPr sz="101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3B5441E-1A02-4F68-B54D-5307F2FACDA0}"/>
              </a:ext>
            </a:extLst>
          </p:cNvPr>
          <p:cNvSpPr>
            <a:spLocks noGrp="1"/>
          </p:cNvSpPr>
          <p:nvPr/>
        </p:nvSpPr>
        <p:spPr>
          <a:xfrm>
            <a:off x="640080" y="740664"/>
            <a:ext cx="10954512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9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WorkBuddy shaped the plan</a:t>
            </a:r>
            <a:endParaRPr sz="29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090B35-6726-4C2A-A499-C94C2C759FBE}"/>
              </a:ext>
            </a:extLst>
          </p:cNvPr>
          <p:cNvSpPr>
            <a:spLocks noGrp="1"/>
          </p:cNvSpPr>
          <p:nvPr/>
        </p:nvSpPr>
        <p:spPr>
          <a:xfrm>
            <a:off x="640080" y="1399032"/>
            <a:ext cx="108447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410">
                <a:solidFill>
                  <a:srgbClr val="667085"/>
                </a:solidFill>
                <a:latin typeface="Inter"/>
                <a:ea typeface="Inter"/>
                <a:cs typeface="Inter"/>
              </a:rPr>
              <a:t>The planning agent turned a broad challenge into a demonstrable, testable proposal.</a:t>
            </a:r>
            <a:endParaRPr sz="141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534A4FA-29E7-44A7-A160-D01E7CDAF58C}"/>
              </a:ext>
            </a:extLst>
          </p:cNvPr>
          <p:cNvSpPr>
            <a:spLocks noGrp="1"/>
          </p:cNvSpPr>
          <p:nvPr/>
        </p:nvSpPr>
        <p:spPr>
          <a:xfrm>
            <a:off x="640080" y="6437376"/>
            <a:ext cx="10908792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862869C-1919-4CC0-8B0E-4D9247B9E2EF}"/>
              </a:ext>
            </a:extLst>
          </p:cNvPr>
          <p:cNvSpPr>
            <a:spLocks noGrp="1"/>
          </p:cNvSpPr>
          <p:nvPr/>
        </p:nvSpPr>
        <p:spPr>
          <a:xfrm>
            <a:off x="640080" y="6528816"/>
            <a:ext cx="585216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relay</a:t>
            </a:r>
            <a:endParaRPr sz="104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E48A593-AC20-4583-A4C6-D2473A0D350F}"/>
              </a:ext>
            </a:extLst>
          </p:cNvPr>
          <p:cNvSpPr>
            <a:spLocks noGrp="1"/>
          </p:cNvSpPr>
          <p:nvPr/>
        </p:nvSpPr>
        <p:spPr>
          <a:xfrm>
            <a:off x="1307592" y="6528816"/>
            <a:ext cx="2743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70">
                <a:solidFill>
                  <a:srgbClr val="94A3B8"/>
                </a:solidFill>
                <a:latin typeface="Inter"/>
                <a:ea typeface="Inter"/>
                <a:cs typeface="Inter"/>
              </a:rPr>
              <a:t>/ Tencent Hackathon demo</a:t>
            </a:r>
            <a:endParaRPr sz="97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5FFEF0D-6017-4B1F-9D3D-19D30D046806}"/>
              </a:ext>
            </a:extLst>
          </p:cNvPr>
          <p:cNvSpPr>
            <a:spLocks noGrp="1"/>
          </p:cNvSpPr>
          <p:nvPr/>
        </p:nvSpPr>
        <p:spPr>
          <a:xfrm>
            <a:off x="11036808" y="651967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06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463EE31-A4C2-4969-A3AF-A0DF6229DCF9}"/>
              </a:ext>
            </a:extLst>
          </p:cNvPr>
          <p:cNvSpPr>
            <a:spLocks noGrp="1"/>
          </p:cNvSpPr>
          <p:nvPr/>
        </p:nvSpPr>
        <p:spPr>
          <a:xfrm>
            <a:off x="640080" y="2231136"/>
            <a:ext cx="2596896" cy="2697480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372E473-69A8-44AD-99C4-56F18FE89E7A}"/>
              </a:ext>
            </a:extLst>
          </p:cNvPr>
          <p:cNvSpPr>
            <a:spLocks noGrp="1"/>
          </p:cNvSpPr>
          <p:nvPr/>
        </p:nvSpPr>
        <p:spPr>
          <a:xfrm>
            <a:off x="841248" y="2468880"/>
            <a:ext cx="411480" cy="411480"/>
          </a:xfrm>
          <a:prstGeom prst="ellipse">
            <a:avLst/>
          </a:prstGeom>
          <a:solidFill>
            <a:srgbClr val="EFF0FF"/>
          </a:solidFill>
          <a:ln w="12700">
            <a:solidFill>
              <a:srgbClr val="EFF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0F0ACA3-D733-4FD8-B23F-E7C4774CA2A0}"/>
              </a:ext>
            </a:extLst>
          </p:cNvPr>
          <p:cNvSpPr>
            <a:spLocks noGrp="1"/>
          </p:cNvSpPr>
          <p:nvPr/>
        </p:nvSpPr>
        <p:spPr>
          <a:xfrm>
            <a:off x="841248" y="2560320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01</a:t>
            </a:r>
            <a:endParaRPr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618B81C-BE32-4B67-B6FA-9ECF30F1E408}"/>
              </a:ext>
            </a:extLst>
          </p:cNvPr>
          <p:cNvSpPr>
            <a:spLocks noGrp="1"/>
          </p:cNvSpPr>
          <p:nvPr/>
        </p:nvSpPr>
        <p:spPr>
          <a:xfrm>
            <a:off x="841248" y="3063240"/>
            <a:ext cx="2194560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7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Initial idea</a:t>
            </a:r>
            <a:endParaRPr sz="174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61F4B3D-AE1A-4532-86AC-BC037A253BC1}"/>
              </a:ext>
            </a:extLst>
          </p:cNvPr>
          <p:cNvSpPr>
            <a:spLocks noGrp="1"/>
          </p:cNvSpPr>
          <p:nvPr/>
        </p:nvSpPr>
        <p:spPr>
          <a:xfrm>
            <a:off x="841248" y="3621024"/>
            <a:ext cx="2194560" cy="10332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400">
                <a:solidFill>
                  <a:srgbClr val="667085"/>
                </a:solidFill>
                <a:latin typeface="Inter"/>
                <a:ea typeface="Inter"/>
                <a:cs typeface="Inter"/>
              </a:rPr>
              <a:t>A unified enterprise assistant that could answer across the tools teams already use.</a:t>
            </a:r>
            <a:endParaRPr sz="14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CA63DE5-3365-444D-89AC-FDDCBCEECA65}"/>
              </a:ext>
            </a:extLst>
          </p:cNvPr>
          <p:cNvSpPr>
            <a:spLocks noGrp="1"/>
          </p:cNvSpPr>
          <p:nvPr/>
        </p:nvSpPr>
        <p:spPr>
          <a:xfrm>
            <a:off x="3410712" y="2231136"/>
            <a:ext cx="2596896" cy="2697480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CDB95B5-C1C7-447E-B605-07443A8179F1}"/>
              </a:ext>
            </a:extLst>
          </p:cNvPr>
          <p:cNvSpPr>
            <a:spLocks noGrp="1"/>
          </p:cNvSpPr>
          <p:nvPr/>
        </p:nvSpPr>
        <p:spPr>
          <a:xfrm>
            <a:off x="3611880" y="2468880"/>
            <a:ext cx="411480" cy="411480"/>
          </a:xfrm>
          <a:prstGeom prst="ellipse">
            <a:avLst/>
          </a:prstGeom>
          <a:solidFill>
            <a:srgbClr val="EFF0FF"/>
          </a:solidFill>
          <a:ln w="12700">
            <a:solidFill>
              <a:srgbClr val="EFF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F4CC526-830B-4398-A3B7-6166ECF3F1A1}"/>
              </a:ext>
            </a:extLst>
          </p:cNvPr>
          <p:cNvSpPr>
            <a:spLocks noGrp="1"/>
          </p:cNvSpPr>
          <p:nvPr/>
        </p:nvSpPr>
        <p:spPr>
          <a:xfrm>
            <a:off x="3611880" y="2560320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02</a:t>
            </a:r>
            <a:endParaRPr sz="12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3A33EB2-422C-474C-B911-5A51814A3834}"/>
              </a:ext>
            </a:extLst>
          </p:cNvPr>
          <p:cNvSpPr>
            <a:spLocks noGrp="1"/>
          </p:cNvSpPr>
          <p:nvPr/>
        </p:nvSpPr>
        <p:spPr>
          <a:xfrm>
            <a:off x="3611880" y="3063240"/>
            <a:ext cx="2194560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7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First proposal</a:t>
            </a:r>
            <a:endParaRPr sz="174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971EFFA-35B5-42C7-9F54-94C4F3EB60E6}"/>
              </a:ext>
            </a:extLst>
          </p:cNvPr>
          <p:cNvSpPr>
            <a:spLocks noGrp="1"/>
          </p:cNvSpPr>
          <p:nvPr/>
        </p:nvSpPr>
        <p:spPr>
          <a:xfrm>
            <a:off x="3611880" y="3621024"/>
            <a:ext cx="2194560" cy="10332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400">
                <a:solidFill>
                  <a:srgbClr val="667085"/>
                </a:solidFill>
                <a:latin typeface="Inter"/>
                <a:ea typeface="Inter"/>
                <a:cs typeface="Inter"/>
              </a:rPr>
              <a:t>We drafted the use case, target users, security promise and demo scope with WorkBuddy.</a:t>
            </a:r>
            <a:endParaRPr sz="14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E48A12C-EACA-447B-B251-9236D099BA23}"/>
              </a:ext>
            </a:extLst>
          </p:cNvPr>
          <p:cNvSpPr>
            <a:spLocks noGrp="1"/>
          </p:cNvSpPr>
          <p:nvPr/>
        </p:nvSpPr>
        <p:spPr>
          <a:xfrm>
            <a:off x="6181344" y="2231136"/>
            <a:ext cx="2596896" cy="2697480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3A55DED-A757-4FFC-884E-A7D3F806CCFF}"/>
              </a:ext>
            </a:extLst>
          </p:cNvPr>
          <p:cNvSpPr>
            <a:spLocks noGrp="1"/>
          </p:cNvSpPr>
          <p:nvPr/>
        </p:nvSpPr>
        <p:spPr>
          <a:xfrm>
            <a:off x="6382512" y="2468880"/>
            <a:ext cx="411480" cy="411480"/>
          </a:xfrm>
          <a:prstGeom prst="ellipse">
            <a:avLst/>
          </a:prstGeom>
          <a:solidFill>
            <a:srgbClr val="EFF0FF"/>
          </a:solidFill>
          <a:ln w="12700">
            <a:solidFill>
              <a:srgbClr val="EFF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892DC53-5AD4-42D9-803B-4776FC3FE0CD}"/>
              </a:ext>
            </a:extLst>
          </p:cNvPr>
          <p:cNvSpPr>
            <a:spLocks noGrp="1"/>
          </p:cNvSpPr>
          <p:nvPr/>
        </p:nvSpPr>
        <p:spPr>
          <a:xfrm>
            <a:off x="6382512" y="2560320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03</a:t>
            </a:r>
            <a:endParaRPr sz="12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66D24B3-B768-4188-9DB6-868FC4CABCDC}"/>
              </a:ext>
            </a:extLst>
          </p:cNvPr>
          <p:cNvSpPr>
            <a:spLocks noGrp="1"/>
          </p:cNvSpPr>
          <p:nvPr/>
        </p:nvSpPr>
        <p:spPr>
          <a:xfrm>
            <a:off x="6382512" y="3063240"/>
            <a:ext cx="2194560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7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Iterative critique</a:t>
            </a:r>
            <a:endParaRPr sz="174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45C8F54-9B97-4C04-8317-63C52DC61BAE}"/>
              </a:ext>
            </a:extLst>
          </p:cNvPr>
          <p:cNvSpPr>
            <a:spLocks noGrp="1"/>
          </p:cNvSpPr>
          <p:nvPr/>
        </p:nvSpPr>
        <p:spPr>
          <a:xfrm>
            <a:off x="6382512" y="3621024"/>
            <a:ext cx="2194560" cy="10332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400">
                <a:solidFill>
                  <a:srgbClr val="667085"/>
                </a:solidFill>
                <a:latin typeface="Inter"/>
                <a:ea typeface="Inter"/>
                <a:cs typeface="Inter"/>
              </a:rPr>
              <a:t>We asked WorkBuddy to challenge assumptions, clarify the access boundary and expose failure modes.</a:t>
            </a:r>
            <a:endParaRPr sz="14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17F0297-898C-4D2C-B273-2135109545FF}"/>
              </a:ext>
            </a:extLst>
          </p:cNvPr>
          <p:cNvSpPr>
            <a:spLocks noGrp="1"/>
          </p:cNvSpPr>
          <p:nvPr/>
        </p:nvSpPr>
        <p:spPr>
          <a:xfrm>
            <a:off x="8951976" y="2231136"/>
            <a:ext cx="2596896" cy="2697480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24F1EAF-D5B9-4287-B960-D6AAAD86C16C}"/>
              </a:ext>
            </a:extLst>
          </p:cNvPr>
          <p:cNvSpPr>
            <a:spLocks noGrp="1"/>
          </p:cNvSpPr>
          <p:nvPr/>
        </p:nvSpPr>
        <p:spPr>
          <a:xfrm>
            <a:off x="9153144" y="2468880"/>
            <a:ext cx="411480" cy="411480"/>
          </a:xfrm>
          <a:prstGeom prst="ellipse">
            <a:avLst/>
          </a:prstGeom>
          <a:solidFill>
            <a:srgbClr val="ECF9F5"/>
          </a:solidFill>
          <a:ln w="12700">
            <a:solidFill>
              <a:srgbClr val="ECF9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D265603-5D82-42AB-AF76-B02FCE770BD4}"/>
              </a:ext>
            </a:extLst>
          </p:cNvPr>
          <p:cNvSpPr>
            <a:spLocks noGrp="1"/>
          </p:cNvSpPr>
          <p:nvPr/>
        </p:nvSpPr>
        <p:spPr>
          <a:xfrm>
            <a:off x="9153144" y="2560320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0B927D"/>
                </a:solidFill>
                <a:latin typeface="Inter"/>
                <a:ea typeface="Inter"/>
                <a:cs typeface="Inter"/>
              </a:rPr>
              <a:t>04</a:t>
            </a:r>
            <a:endParaRPr sz="12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C148B84-10CC-43B1-A695-C96083EF1C39}"/>
              </a:ext>
            </a:extLst>
          </p:cNvPr>
          <p:cNvSpPr>
            <a:spLocks noGrp="1"/>
          </p:cNvSpPr>
          <p:nvPr/>
        </p:nvSpPr>
        <p:spPr>
          <a:xfrm>
            <a:off x="9153144" y="3063240"/>
            <a:ext cx="2194560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7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Testable plan</a:t>
            </a:r>
            <a:endParaRPr sz="174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27894FE-DC95-4C81-A52F-FD569D324A2F}"/>
              </a:ext>
            </a:extLst>
          </p:cNvPr>
          <p:cNvSpPr>
            <a:spLocks noGrp="1"/>
          </p:cNvSpPr>
          <p:nvPr/>
        </p:nvSpPr>
        <p:spPr>
          <a:xfrm>
            <a:off x="9153144" y="3621024"/>
            <a:ext cx="2194560" cy="10332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400">
                <a:solidFill>
                  <a:srgbClr val="667085"/>
                </a:solidFill>
                <a:latin typeface="Inter"/>
                <a:ea typeface="Inter"/>
                <a:cs typeface="Inter"/>
              </a:rPr>
              <a:t>We refined the work into cross-source retrieval, denial, revocation, freshness and audit scenarios.</a:t>
            </a:r>
            <a:endParaRPr sz="14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FAB31E5-4E58-4B7C-BC92-2F3CEB08C23B}"/>
              </a:ext>
            </a:extLst>
          </p:cNvPr>
          <p:cNvSpPr>
            <a:spLocks noGrp="1"/>
          </p:cNvSpPr>
          <p:nvPr/>
        </p:nvSpPr>
        <p:spPr>
          <a:xfrm>
            <a:off x="640080" y="5285232"/>
            <a:ext cx="10908792" cy="832104"/>
          </a:xfrm>
          <a:prstGeom prst="roundRect">
            <a:avLst>
              <a:gd name="adj" fmla="val 19780"/>
            </a:avLst>
          </a:prstGeom>
          <a:solidFill>
            <a:srgbClr val="EFF0FF"/>
          </a:solidFill>
          <a:ln w="10160">
            <a:solidFill>
              <a:srgbClr val="E1E5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B8B933D-5710-419B-A15C-04EE36E8782B}"/>
              </a:ext>
            </a:extLst>
          </p:cNvPr>
          <p:cNvSpPr>
            <a:spLocks noGrp="1"/>
          </p:cNvSpPr>
          <p:nvPr/>
        </p:nvSpPr>
        <p:spPr>
          <a:xfrm>
            <a:off x="868680" y="5458968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THE OUTCOME · FROM AI SEARCH TO TRUSTWORTHY RETRIEVAL</a:t>
            </a:r>
            <a:endParaRPr sz="101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6ACB8EF-F213-44F7-8699-33AF1FDF147B}"/>
              </a:ext>
            </a:extLst>
          </p:cNvPr>
          <p:cNvSpPr>
            <a:spLocks noGrp="1"/>
          </p:cNvSpPr>
          <p:nvPr/>
        </p:nvSpPr>
        <p:spPr>
          <a:xfrm>
            <a:off x="868680" y="5760720"/>
            <a:ext cx="102412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6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Every answer must remain inside the asking user’s permission boundary.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319266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6BD378-D1A6-4C56-9DDE-329F0E8D84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5253D7"/>
          </a:solidFill>
          <a:ln w="12700">
            <a:solidFill>
              <a:srgbClr val="525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60EC4CF-67D0-4432-9F91-31EA48866309}"/>
              </a:ext>
            </a:extLst>
          </p:cNvPr>
          <p:cNvSpPr>
            <a:spLocks noGrp="1"/>
          </p:cNvSpPr>
          <p:nvPr/>
        </p:nvSpPr>
        <p:spPr>
          <a:xfrm>
            <a:off x="640080" y="393192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AGENT WORKFLOW</a:t>
            </a:r>
            <a:endParaRPr sz="101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A1BCC8-5642-46ED-B172-5ACCA29B4DCF}"/>
              </a:ext>
            </a:extLst>
          </p:cNvPr>
          <p:cNvSpPr>
            <a:spLocks noGrp="1"/>
          </p:cNvSpPr>
          <p:nvPr/>
        </p:nvSpPr>
        <p:spPr>
          <a:xfrm>
            <a:off x="640080" y="740664"/>
            <a:ext cx="10954512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9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CodeBuddy in the build loop</a:t>
            </a:r>
            <a:endParaRPr sz="29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77D78B-32F0-4EEA-BD7C-1848E2B75FD4}"/>
              </a:ext>
            </a:extLst>
          </p:cNvPr>
          <p:cNvSpPr>
            <a:spLocks noGrp="1"/>
          </p:cNvSpPr>
          <p:nvPr/>
        </p:nvSpPr>
        <p:spPr>
          <a:xfrm>
            <a:off x="640080" y="1399032"/>
            <a:ext cx="108447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410">
                <a:solidFill>
                  <a:srgbClr val="667085"/>
                </a:solidFill>
                <a:latin typeface="Inter"/>
                <a:ea typeface="Inter"/>
                <a:cs typeface="Inter"/>
              </a:rPr>
              <a:t>CodeBuddy supported a disciplined engineering rhythm from specification to demo.</a:t>
            </a:r>
            <a:endParaRPr sz="141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01424BC-FCD3-40DC-9F6E-D283E3D226FD}"/>
              </a:ext>
            </a:extLst>
          </p:cNvPr>
          <p:cNvSpPr>
            <a:spLocks noGrp="1"/>
          </p:cNvSpPr>
          <p:nvPr/>
        </p:nvSpPr>
        <p:spPr>
          <a:xfrm>
            <a:off x="640080" y="6437376"/>
            <a:ext cx="10908792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072C4A3-B434-4813-8DB3-CB4749815CFF}"/>
              </a:ext>
            </a:extLst>
          </p:cNvPr>
          <p:cNvSpPr>
            <a:spLocks noGrp="1"/>
          </p:cNvSpPr>
          <p:nvPr/>
        </p:nvSpPr>
        <p:spPr>
          <a:xfrm>
            <a:off x="640080" y="6528816"/>
            <a:ext cx="585216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relay</a:t>
            </a:r>
            <a:endParaRPr sz="104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4669BE8-A8C3-4560-BB3C-9FB9D9AF07B5}"/>
              </a:ext>
            </a:extLst>
          </p:cNvPr>
          <p:cNvSpPr>
            <a:spLocks noGrp="1"/>
          </p:cNvSpPr>
          <p:nvPr/>
        </p:nvSpPr>
        <p:spPr>
          <a:xfrm>
            <a:off x="1307592" y="6528816"/>
            <a:ext cx="2743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70">
                <a:solidFill>
                  <a:srgbClr val="94A3B8"/>
                </a:solidFill>
                <a:latin typeface="Inter"/>
                <a:ea typeface="Inter"/>
                <a:cs typeface="Inter"/>
              </a:rPr>
              <a:t>/ Tencent Hackathon demo</a:t>
            </a:r>
            <a:endParaRPr sz="97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7A79A7F-49D3-440D-B881-58CB74FAF88F}"/>
              </a:ext>
            </a:extLst>
          </p:cNvPr>
          <p:cNvSpPr>
            <a:spLocks noGrp="1"/>
          </p:cNvSpPr>
          <p:nvPr/>
        </p:nvSpPr>
        <p:spPr>
          <a:xfrm>
            <a:off x="11036808" y="651967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07</a:t>
            </a:r>
            <a:endParaRPr sz="1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6E3CD4B-9A59-4AB7-BAE2-DE97AE5C4FAE}"/>
              </a:ext>
            </a:extLst>
          </p:cNvPr>
          <p:cNvSpPr>
            <a:spLocks noGrp="1"/>
          </p:cNvSpPr>
          <p:nvPr/>
        </p:nvSpPr>
        <p:spPr>
          <a:xfrm>
            <a:off x="667512" y="1984248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FROM SPECIFICATION TO WORKING DEMO</a:t>
            </a:r>
            <a:endParaRPr sz="101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FCD7EB5-4FE0-451C-B5DC-A69F771ED5A5}"/>
              </a:ext>
            </a:extLst>
          </p:cNvPr>
          <p:cNvSpPr>
            <a:spLocks noGrp="1"/>
          </p:cNvSpPr>
          <p:nvPr/>
        </p:nvSpPr>
        <p:spPr>
          <a:xfrm>
            <a:off x="640080" y="2395728"/>
            <a:ext cx="8439912" cy="749808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8982A38-B22D-4274-AD50-839466CDAAA5}"/>
              </a:ext>
            </a:extLst>
          </p:cNvPr>
          <p:cNvSpPr>
            <a:spLocks noGrp="1"/>
          </p:cNvSpPr>
          <p:nvPr/>
        </p:nvSpPr>
        <p:spPr>
          <a:xfrm>
            <a:off x="850392" y="2606040"/>
            <a:ext cx="338328" cy="338328"/>
          </a:xfrm>
          <a:prstGeom prst="ellipse">
            <a:avLst/>
          </a:prstGeom>
          <a:solidFill>
            <a:srgbClr val="EFF0FF"/>
          </a:solidFill>
          <a:ln w="12700">
            <a:solidFill>
              <a:srgbClr val="EFF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B5B0C7C-F447-493D-A9B4-D41813279CB2}"/>
              </a:ext>
            </a:extLst>
          </p:cNvPr>
          <p:cNvSpPr>
            <a:spLocks noGrp="1"/>
          </p:cNvSpPr>
          <p:nvPr/>
        </p:nvSpPr>
        <p:spPr>
          <a:xfrm>
            <a:off x="850392" y="2706624"/>
            <a:ext cx="338328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6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01</a:t>
            </a:r>
            <a:endParaRPr sz="106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C123D98-5D16-42F6-A601-144DD5EF1196}"/>
              </a:ext>
            </a:extLst>
          </p:cNvPr>
          <p:cNvSpPr>
            <a:spLocks noGrp="1"/>
          </p:cNvSpPr>
          <p:nvPr/>
        </p:nvSpPr>
        <p:spPr>
          <a:xfrm>
            <a:off x="1371600" y="2578608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5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Read the specification</a:t>
            </a:r>
            <a:endParaRPr sz="15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5E01035-28CA-4557-AFDE-188F24C21E2D}"/>
              </a:ext>
            </a:extLst>
          </p:cNvPr>
          <p:cNvSpPr>
            <a:spLocks noGrp="1"/>
          </p:cNvSpPr>
          <p:nvPr/>
        </p:nvSpPr>
        <p:spPr>
          <a:xfrm>
            <a:off x="3685032" y="2569464"/>
            <a:ext cx="16459" cy="3931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C4F79FA-66D5-4D9E-963D-39E467F73A75}"/>
              </a:ext>
            </a:extLst>
          </p:cNvPr>
          <p:cNvSpPr>
            <a:spLocks noGrp="1"/>
          </p:cNvSpPr>
          <p:nvPr/>
        </p:nvSpPr>
        <p:spPr>
          <a:xfrm>
            <a:off x="3877056" y="2532888"/>
            <a:ext cx="4965192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50">
                <a:solidFill>
                  <a:srgbClr val="667085"/>
                </a:solidFill>
                <a:latin typeface="Inter"/>
                <a:ea typeface="Inter"/>
                <a:cs typeface="Inter"/>
              </a:rPr>
              <a:t>Mapped security requirements to frontend, API, worker and audit responsibilities.</a:t>
            </a:r>
            <a:endParaRPr sz="13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A83EA07-368C-4CE1-AAF0-887158317F1D}"/>
              </a:ext>
            </a:extLst>
          </p:cNvPr>
          <p:cNvSpPr>
            <a:spLocks noGrp="1"/>
          </p:cNvSpPr>
          <p:nvPr/>
        </p:nvSpPr>
        <p:spPr>
          <a:xfrm>
            <a:off x="640080" y="3255264"/>
            <a:ext cx="8439912" cy="749808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D68805B-ECFB-45C3-A646-F524D7DF4751}"/>
              </a:ext>
            </a:extLst>
          </p:cNvPr>
          <p:cNvSpPr>
            <a:spLocks noGrp="1"/>
          </p:cNvSpPr>
          <p:nvPr/>
        </p:nvSpPr>
        <p:spPr>
          <a:xfrm>
            <a:off x="850392" y="3465576"/>
            <a:ext cx="338328" cy="338328"/>
          </a:xfrm>
          <a:prstGeom prst="ellipse">
            <a:avLst/>
          </a:prstGeom>
          <a:solidFill>
            <a:srgbClr val="EFF0FF"/>
          </a:solidFill>
          <a:ln w="12700">
            <a:solidFill>
              <a:srgbClr val="EFF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295A723-4017-4CB9-AF92-2958509EB1CE}"/>
              </a:ext>
            </a:extLst>
          </p:cNvPr>
          <p:cNvSpPr>
            <a:spLocks noGrp="1"/>
          </p:cNvSpPr>
          <p:nvPr/>
        </p:nvSpPr>
        <p:spPr>
          <a:xfrm>
            <a:off x="850392" y="3566160"/>
            <a:ext cx="338328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6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02</a:t>
            </a:r>
            <a:endParaRPr sz="106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4897073-C3E8-43E7-8AA4-3C068CD5EA24}"/>
              </a:ext>
            </a:extLst>
          </p:cNvPr>
          <p:cNvSpPr>
            <a:spLocks noGrp="1"/>
          </p:cNvSpPr>
          <p:nvPr/>
        </p:nvSpPr>
        <p:spPr>
          <a:xfrm>
            <a:off x="1371600" y="3438144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5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Implement in slices</a:t>
            </a:r>
            <a:endParaRPr sz="15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3757B9C-1731-404E-A269-0BFB07134D63}"/>
              </a:ext>
            </a:extLst>
          </p:cNvPr>
          <p:cNvSpPr>
            <a:spLocks noGrp="1"/>
          </p:cNvSpPr>
          <p:nvPr/>
        </p:nvSpPr>
        <p:spPr>
          <a:xfrm>
            <a:off x="3685032" y="3429000"/>
            <a:ext cx="16459" cy="3931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9AE0ACF-C2E8-4EBC-9081-352B8DC1E65C}"/>
              </a:ext>
            </a:extLst>
          </p:cNvPr>
          <p:cNvSpPr>
            <a:spLocks noGrp="1"/>
          </p:cNvSpPr>
          <p:nvPr/>
        </p:nvSpPr>
        <p:spPr>
          <a:xfrm>
            <a:off x="3877056" y="3392424"/>
            <a:ext cx="4965192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50">
                <a:solidFill>
                  <a:srgbClr val="667085"/>
                </a:solidFill>
                <a:latin typeface="Inter"/>
                <a:ea typeface="Inter"/>
                <a:cs typeface="Inter"/>
              </a:rPr>
              <a:t>Drafted and refined focused changes instead of tackling the entire system at once.</a:t>
            </a:r>
            <a:endParaRPr sz="135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279D0A3-6E25-402E-9B44-6D1D4012A883}"/>
              </a:ext>
            </a:extLst>
          </p:cNvPr>
          <p:cNvSpPr>
            <a:spLocks noGrp="1"/>
          </p:cNvSpPr>
          <p:nvPr/>
        </p:nvSpPr>
        <p:spPr>
          <a:xfrm>
            <a:off x="640080" y="4114800"/>
            <a:ext cx="8439912" cy="749808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C060983-16E5-4E09-B168-AE2522A51562}"/>
              </a:ext>
            </a:extLst>
          </p:cNvPr>
          <p:cNvSpPr>
            <a:spLocks noGrp="1"/>
          </p:cNvSpPr>
          <p:nvPr/>
        </p:nvSpPr>
        <p:spPr>
          <a:xfrm>
            <a:off x="850392" y="4325112"/>
            <a:ext cx="338328" cy="338328"/>
          </a:xfrm>
          <a:prstGeom prst="ellipse">
            <a:avLst/>
          </a:prstGeom>
          <a:solidFill>
            <a:srgbClr val="EFF0FF"/>
          </a:solidFill>
          <a:ln w="12700">
            <a:solidFill>
              <a:srgbClr val="EFF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840B235-D2F7-4E32-8894-46F629B8262A}"/>
              </a:ext>
            </a:extLst>
          </p:cNvPr>
          <p:cNvSpPr>
            <a:spLocks noGrp="1"/>
          </p:cNvSpPr>
          <p:nvPr/>
        </p:nvSpPr>
        <p:spPr>
          <a:xfrm>
            <a:off x="850392" y="4425696"/>
            <a:ext cx="338328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6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03</a:t>
            </a:r>
            <a:endParaRPr sz="106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267A229-1E2A-41B2-9B2A-14641D88AC13}"/>
              </a:ext>
            </a:extLst>
          </p:cNvPr>
          <p:cNvSpPr>
            <a:spLocks noGrp="1"/>
          </p:cNvSpPr>
          <p:nvPr/>
        </p:nvSpPr>
        <p:spPr>
          <a:xfrm>
            <a:off x="1371600" y="4297680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5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Review and debug</a:t>
            </a:r>
            <a:endParaRPr sz="15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D4B3556-497B-49A6-AF71-A25739F77D1D}"/>
              </a:ext>
            </a:extLst>
          </p:cNvPr>
          <p:cNvSpPr>
            <a:spLocks noGrp="1"/>
          </p:cNvSpPr>
          <p:nvPr/>
        </p:nvSpPr>
        <p:spPr>
          <a:xfrm>
            <a:off x="3685032" y="4288536"/>
            <a:ext cx="16459" cy="3931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BD0584B-7683-4263-A9E2-C78AC61BB198}"/>
              </a:ext>
            </a:extLst>
          </p:cNvPr>
          <p:cNvSpPr>
            <a:spLocks noGrp="1"/>
          </p:cNvSpPr>
          <p:nvPr/>
        </p:nvSpPr>
        <p:spPr>
          <a:xfrm>
            <a:off x="3877056" y="4251960"/>
            <a:ext cx="4965192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50">
                <a:solidFill>
                  <a:srgbClr val="667085"/>
                </a:solidFill>
                <a:latin typeface="Inter"/>
                <a:ea typeface="Inter"/>
                <a:cs typeface="Inter"/>
              </a:rPr>
              <a:t>Used targeted tests and code review to check query stages, citations and fail-closed behaviour.</a:t>
            </a:r>
            <a:endParaRPr sz="135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6A75376-8B07-40D3-A836-22E7A9A58294}"/>
              </a:ext>
            </a:extLst>
          </p:cNvPr>
          <p:cNvSpPr>
            <a:spLocks noGrp="1"/>
          </p:cNvSpPr>
          <p:nvPr/>
        </p:nvSpPr>
        <p:spPr>
          <a:xfrm>
            <a:off x="640080" y="4974336"/>
            <a:ext cx="8439912" cy="749808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8A977B6-FC0F-4780-BFF5-B4849CF49CE3}"/>
              </a:ext>
            </a:extLst>
          </p:cNvPr>
          <p:cNvSpPr>
            <a:spLocks noGrp="1"/>
          </p:cNvSpPr>
          <p:nvPr/>
        </p:nvSpPr>
        <p:spPr>
          <a:xfrm>
            <a:off x="850392" y="5184648"/>
            <a:ext cx="338328" cy="338328"/>
          </a:xfrm>
          <a:prstGeom prst="ellipse">
            <a:avLst/>
          </a:prstGeom>
          <a:solidFill>
            <a:srgbClr val="EFF0FF"/>
          </a:solidFill>
          <a:ln w="12700">
            <a:solidFill>
              <a:srgbClr val="EFF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AF719C2-93AD-4BCD-9E8E-766E8C57243B}"/>
              </a:ext>
            </a:extLst>
          </p:cNvPr>
          <p:cNvSpPr>
            <a:spLocks noGrp="1"/>
          </p:cNvSpPr>
          <p:nvPr/>
        </p:nvSpPr>
        <p:spPr>
          <a:xfrm>
            <a:off x="850392" y="5285232"/>
            <a:ext cx="338328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6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04</a:t>
            </a:r>
            <a:endParaRPr sz="106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EC92A4E-77E8-4313-982B-BFD2AA5DFA4A}"/>
              </a:ext>
            </a:extLst>
          </p:cNvPr>
          <p:cNvSpPr>
            <a:spLocks noGrp="1"/>
          </p:cNvSpPr>
          <p:nvPr/>
        </p:nvSpPr>
        <p:spPr>
          <a:xfrm>
            <a:off x="1371600" y="51572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5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Prepare the demo</a:t>
            </a:r>
            <a:endParaRPr sz="150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AFEF2E3-46AB-4A1B-965A-3B5F0A43A634}"/>
              </a:ext>
            </a:extLst>
          </p:cNvPr>
          <p:cNvSpPr>
            <a:spLocks noGrp="1"/>
          </p:cNvSpPr>
          <p:nvPr/>
        </p:nvSpPr>
        <p:spPr>
          <a:xfrm>
            <a:off x="3685032" y="5148072"/>
            <a:ext cx="16459" cy="3931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255C817-2D3E-4F28-B3B4-F9D68C736A13}"/>
              </a:ext>
            </a:extLst>
          </p:cNvPr>
          <p:cNvSpPr>
            <a:spLocks noGrp="1"/>
          </p:cNvSpPr>
          <p:nvPr/>
        </p:nvSpPr>
        <p:spPr>
          <a:xfrm>
            <a:off x="3877056" y="5111496"/>
            <a:ext cx="4965192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50">
                <a:solidFill>
                  <a:srgbClr val="667085"/>
                </a:solidFill>
                <a:latin typeface="Inter"/>
                <a:ea typeface="Inter"/>
                <a:cs typeface="Inter"/>
              </a:rPr>
              <a:t>Turned live scenarios into a repeatable walkthrough and presenter script.</a:t>
            </a:r>
            <a:endParaRPr sz="135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70020416-660E-487B-8F56-D83932F299B9}"/>
              </a:ext>
            </a:extLst>
          </p:cNvPr>
          <p:cNvSpPr>
            <a:spLocks noGrp="1"/>
          </p:cNvSpPr>
          <p:nvPr/>
        </p:nvSpPr>
        <p:spPr>
          <a:xfrm>
            <a:off x="9290304" y="2395728"/>
            <a:ext cx="2258568" cy="3630168"/>
          </a:xfrm>
          <a:prstGeom prst="roundRect">
            <a:avLst>
              <a:gd name="adj" fmla="val 7287"/>
            </a:avLst>
          </a:prstGeom>
          <a:solidFill>
            <a:srgbClr val="EFF0FF"/>
          </a:solidFill>
          <a:ln w="10160">
            <a:solidFill>
              <a:srgbClr val="E0E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A722E26C-0D33-4FC3-A870-CE259CEE6EF4}"/>
              </a:ext>
            </a:extLst>
          </p:cNvPr>
          <p:cNvSpPr>
            <a:spLocks noGrp="1"/>
          </p:cNvSpPr>
          <p:nvPr/>
        </p:nvSpPr>
        <p:spPr>
          <a:xfrm>
            <a:off x="9564624" y="2706624"/>
            <a:ext cx="420624" cy="420624"/>
          </a:xfrm>
          <a:prstGeom prst="ellipse">
            <a:avLst/>
          </a:prstGeom>
          <a:solidFill>
            <a:srgbClr val="5253D7"/>
          </a:solidFill>
          <a:ln w="12700">
            <a:solidFill>
              <a:srgbClr val="525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00DA1106-2099-425D-972A-3A64B88DEB7D}"/>
              </a:ext>
            </a:extLst>
          </p:cNvPr>
          <p:cNvSpPr>
            <a:spLocks noGrp="1"/>
          </p:cNvSpPr>
          <p:nvPr/>
        </p:nvSpPr>
        <p:spPr>
          <a:xfrm>
            <a:off x="9705442" y="278434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875D7A11-CC39-4860-874B-127781FB71D7}"/>
              </a:ext>
            </a:extLst>
          </p:cNvPr>
          <p:cNvSpPr>
            <a:spLocks noGrp="1"/>
          </p:cNvSpPr>
          <p:nvPr/>
        </p:nvSpPr>
        <p:spPr>
          <a:xfrm>
            <a:off x="9665208" y="2953512"/>
            <a:ext cx="219456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641DDAE-D74F-49E0-B86F-4DB87D1F1071}"/>
              </a:ext>
            </a:extLst>
          </p:cNvPr>
          <p:cNvSpPr>
            <a:spLocks noGrp="1"/>
          </p:cNvSpPr>
          <p:nvPr/>
        </p:nvSpPr>
        <p:spPr>
          <a:xfrm>
            <a:off x="9564624" y="3401568"/>
            <a:ext cx="1764792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1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Human</a:t>
            </a:r>
            <a:endParaRPr sz="2010"/>
          </a:p>
          <a:p>
            <a:pPr marL="0" indent="0" algn="l">
              <a:buNone/>
            </a:pPr>
            <a:r>
              <a:rPr sz="201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judgement</a:t>
            </a:r>
            <a:endParaRPr sz="201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1DEE18E-B21C-4A01-85E0-F3FD6D7517AF}"/>
              </a:ext>
            </a:extLst>
          </p:cNvPr>
          <p:cNvSpPr>
            <a:spLocks noGrp="1"/>
          </p:cNvSpPr>
          <p:nvPr/>
        </p:nvSpPr>
        <p:spPr>
          <a:xfrm>
            <a:off x="9564624" y="4352544"/>
            <a:ext cx="1691640" cy="0"/>
          </a:xfrm>
          <a:prstGeom prst="line">
            <a:avLst/>
          </a:prstGeom>
          <a:noFill/>
          <a:ln w="11430">
            <a:solidFill>
              <a:srgbClr val="D6DD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A93F8CD-D40D-4CB2-83C8-CD65866567AD}"/>
              </a:ext>
            </a:extLst>
          </p:cNvPr>
          <p:cNvSpPr>
            <a:spLocks noGrp="1"/>
          </p:cNvSpPr>
          <p:nvPr/>
        </p:nvSpPr>
        <p:spPr>
          <a:xfrm>
            <a:off x="9564624" y="4526280"/>
            <a:ext cx="1691640" cy="12527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360">
                <a:solidFill>
                  <a:srgbClr val="667085"/>
                </a:solidFill>
                <a:latin typeface="Inter"/>
                <a:ea typeface="Inter"/>
                <a:cs typeface="Inter"/>
              </a:rPr>
              <a:t>The team retained final product decisions and validated the observed behaviour.</a:t>
            </a:r>
            <a:endParaRPr sz="1360"/>
          </a:p>
        </p:txBody>
      </p:sp>
    </p:spTree>
    <p:extLst>
      <p:ext uri="{BB962C8B-B14F-4D97-AF65-F5344CB8AC3E}">
        <p14:creationId xmlns:p14="http://schemas.microsoft.com/office/powerpoint/2010/main" val="810119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87AB5B5-B72F-4649-9425-034C5BC582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5253D7"/>
          </a:solidFill>
          <a:ln w="12700">
            <a:solidFill>
              <a:srgbClr val="525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67DDC1-89DB-45A5-B4BA-C5B5C13B7D82}"/>
              </a:ext>
            </a:extLst>
          </p:cNvPr>
          <p:cNvSpPr>
            <a:spLocks noGrp="1"/>
          </p:cNvSpPr>
          <p:nvPr/>
        </p:nvSpPr>
        <p:spPr>
          <a:xfrm>
            <a:off x="640080" y="393192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REFLECTION</a:t>
            </a:r>
            <a:endParaRPr sz="101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4DB5577-1CDD-40E3-9CE3-4BB8B476B185}"/>
              </a:ext>
            </a:extLst>
          </p:cNvPr>
          <p:cNvSpPr>
            <a:spLocks noGrp="1"/>
          </p:cNvSpPr>
          <p:nvPr/>
        </p:nvSpPr>
        <p:spPr>
          <a:xfrm>
            <a:off x="640080" y="740664"/>
            <a:ext cx="10954512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9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What we learned</a:t>
            </a:r>
            <a:endParaRPr sz="29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A9936D-B9EE-4B35-A207-C698F95A4E4F}"/>
              </a:ext>
            </a:extLst>
          </p:cNvPr>
          <p:cNvSpPr>
            <a:spLocks noGrp="1"/>
          </p:cNvSpPr>
          <p:nvPr/>
        </p:nvSpPr>
        <p:spPr>
          <a:xfrm>
            <a:off x="640080" y="1399032"/>
            <a:ext cx="108447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410">
                <a:solidFill>
                  <a:srgbClr val="667085"/>
                </a:solidFill>
                <a:latin typeface="Inter"/>
                <a:ea typeface="Inter"/>
                <a:cs typeface="Inter"/>
              </a:rPr>
              <a:t>Relay made the central trade-off visible: useful answers must also be trustworthy.</a:t>
            </a:r>
            <a:endParaRPr sz="141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25BA982-EEF7-4429-B593-9F64CC41304A}"/>
              </a:ext>
            </a:extLst>
          </p:cNvPr>
          <p:cNvSpPr>
            <a:spLocks noGrp="1"/>
          </p:cNvSpPr>
          <p:nvPr/>
        </p:nvSpPr>
        <p:spPr>
          <a:xfrm>
            <a:off x="640080" y="6437376"/>
            <a:ext cx="10908792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C103540-2582-41DE-8FA1-BD7B2BD6E66F}"/>
              </a:ext>
            </a:extLst>
          </p:cNvPr>
          <p:cNvSpPr>
            <a:spLocks noGrp="1"/>
          </p:cNvSpPr>
          <p:nvPr/>
        </p:nvSpPr>
        <p:spPr>
          <a:xfrm>
            <a:off x="640080" y="6528816"/>
            <a:ext cx="585216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relay</a:t>
            </a:r>
            <a:endParaRPr sz="104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DA84613-840F-4BBE-8BA9-1CB4DC3C7567}"/>
              </a:ext>
            </a:extLst>
          </p:cNvPr>
          <p:cNvSpPr>
            <a:spLocks noGrp="1"/>
          </p:cNvSpPr>
          <p:nvPr/>
        </p:nvSpPr>
        <p:spPr>
          <a:xfrm>
            <a:off x="1307592" y="6528816"/>
            <a:ext cx="2743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70">
                <a:solidFill>
                  <a:srgbClr val="94A3B8"/>
                </a:solidFill>
                <a:latin typeface="Inter"/>
                <a:ea typeface="Inter"/>
                <a:cs typeface="Inter"/>
              </a:rPr>
              <a:t>/ Tencent Hackathon demo</a:t>
            </a:r>
            <a:endParaRPr sz="97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0AD1EA8-633F-4948-A48B-BF87904969AA}"/>
              </a:ext>
            </a:extLst>
          </p:cNvPr>
          <p:cNvSpPr>
            <a:spLocks noGrp="1"/>
          </p:cNvSpPr>
          <p:nvPr/>
        </p:nvSpPr>
        <p:spPr>
          <a:xfrm>
            <a:off x="11036808" y="651967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08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857EC53-D750-481C-B0D9-E03C8130D77A}"/>
              </a:ext>
            </a:extLst>
          </p:cNvPr>
          <p:cNvSpPr>
            <a:spLocks noGrp="1"/>
          </p:cNvSpPr>
          <p:nvPr/>
        </p:nvSpPr>
        <p:spPr>
          <a:xfrm>
            <a:off x="640080" y="2057400"/>
            <a:ext cx="10908792" cy="1307592"/>
          </a:xfrm>
          <a:prstGeom prst="roundRect">
            <a:avLst>
              <a:gd name="adj" fmla="val 14685"/>
            </a:avLst>
          </a:prstGeom>
          <a:solidFill>
            <a:srgbClr val="EFF0FF"/>
          </a:solidFill>
          <a:ln w="10160">
            <a:solidFill>
              <a:srgbClr val="E0E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4C52ADC-0156-4655-BDE4-E1DD47399E35}"/>
              </a:ext>
            </a:extLst>
          </p:cNvPr>
          <p:cNvSpPr>
            <a:spLocks noGrp="1"/>
          </p:cNvSpPr>
          <p:nvPr/>
        </p:nvSpPr>
        <p:spPr>
          <a:xfrm>
            <a:off x="896112" y="2313432"/>
            <a:ext cx="64922" cy="786384"/>
          </a:xfrm>
          <a:prstGeom prst="rect">
            <a:avLst/>
          </a:prstGeom>
          <a:solidFill>
            <a:srgbClr val="5253D7"/>
          </a:solidFill>
          <a:ln w="12700">
            <a:solidFill>
              <a:srgbClr val="525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2DE61F5-6DC9-4EC2-85A1-97A238079BF8}"/>
              </a:ext>
            </a:extLst>
          </p:cNvPr>
          <p:cNvSpPr>
            <a:spLocks noGrp="1"/>
          </p:cNvSpPr>
          <p:nvPr/>
        </p:nvSpPr>
        <p:spPr>
          <a:xfrm>
            <a:off x="1234440" y="2276856"/>
            <a:ext cx="9921240" cy="8412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41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Authorisation cannot be a filter after search.</a:t>
            </a:r>
            <a:endParaRPr sz="2410"/>
          </a:p>
          <a:p>
            <a:pPr marL="0" indent="0" algn="l">
              <a:buNone/>
            </a:pPr>
            <a:r>
              <a:rPr sz="241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It has to be part of the retrieval system itself.</a:t>
            </a:r>
            <a:endParaRPr sz="241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62F7783-F83A-488E-92A5-C6FDB214FF15}"/>
              </a:ext>
            </a:extLst>
          </p:cNvPr>
          <p:cNvSpPr>
            <a:spLocks noGrp="1"/>
          </p:cNvSpPr>
          <p:nvPr/>
        </p:nvSpPr>
        <p:spPr>
          <a:xfrm>
            <a:off x="640080" y="3657600"/>
            <a:ext cx="3520440" cy="1618488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849417A-E4C1-4514-9828-D64C87839017}"/>
              </a:ext>
            </a:extLst>
          </p:cNvPr>
          <p:cNvSpPr>
            <a:spLocks noGrp="1"/>
          </p:cNvSpPr>
          <p:nvPr/>
        </p:nvSpPr>
        <p:spPr>
          <a:xfrm>
            <a:off x="841248" y="3959352"/>
            <a:ext cx="73152" cy="228600"/>
          </a:xfrm>
          <a:prstGeom prst="rect">
            <a:avLst/>
          </a:prstGeom>
          <a:solidFill>
            <a:srgbClr val="5253D7"/>
          </a:solidFill>
          <a:ln w="12700">
            <a:solidFill>
              <a:srgbClr val="525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1A81BD2-AF52-4FDC-9F8E-D7197075603F}"/>
              </a:ext>
            </a:extLst>
          </p:cNvPr>
          <p:cNvSpPr>
            <a:spLocks noGrp="1"/>
          </p:cNvSpPr>
          <p:nvPr/>
        </p:nvSpPr>
        <p:spPr>
          <a:xfrm>
            <a:off x="1051560" y="3986784"/>
            <a:ext cx="26974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10" b="1" spc="67">
                <a:solidFill>
                  <a:srgbClr val="5253D7"/>
                </a:solidFill>
                <a:latin typeface="Inter"/>
                <a:ea typeface="Inter"/>
                <a:cs typeface="Inter"/>
              </a:rPr>
              <a:t>PRODUCT</a:t>
            </a:r>
            <a:endParaRPr sz="111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5D4095B-4CEE-45A6-B4B5-73A5754CD430}"/>
              </a:ext>
            </a:extLst>
          </p:cNvPr>
          <p:cNvSpPr>
            <a:spLocks noGrp="1"/>
          </p:cNvSpPr>
          <p:nvPr/>
        </p:nvSpPr>
        <p:spPr>
          <a:xfrm>
            <a:off x="841248" y="4416552"/>
            <a:ext cx="3108960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500">
                <a:solidFill>
                  <a:srgbClr val="172033"/>
                </a:solidFill>
                <a:latin typeface="Inter"/>
                <a:ea typeface="Inter"/>
                <a:cs typeface="Inter"/>
              </a:rPr>
              <a:t>Citations make answers easier to verify and safer to share.</a:t>
            </a:r>
            <a:endParaRPr sz="15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53068D8-EF58-4442-ABA7-882AAED14525}"/>
              </a:ext>
            </a:extLst>
          </p:cNvPr>
          <p:cNvSpPr>
            <a:spLocks noGrp="1"/>
          </p:cNvSpPr>
          <p:nvPr/>
        </p:nvSpPr>
        <p:spPr>
          <a:xfrm>
            <a:off x="4334256" y="3657600"/>
            <a:ext cx="3520440" cy="1618488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B4CE38B-9379-4FB1-9643-2D68D6D0F271}"/>
              </a:ext>
            </a:extLst>
          </p:cNvPr>
          <p:cNvSpPr>
            <a:spLocks noGrp="1"/>
          </p:cNvSpPr>
          <p:nvPr/>
        </p:nvSpPr>
        <p:spPr>
          <a:xfrm>
            <a:off x="4535424" y="3959352"/>
            <a:ext cx="73152" cy="228600"/>
          </a:xfrm>
          <a:prstGeom prst="rect">
            <a:avLst/>
          </a:prstGeom>
          <a:solidFill>
            <a:srgbClr val="0B927D"/>
          </a:solidFill>
          <a:ln w="12700">
            <a:solidFill>
              <a:srgbClr val="0B92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91E5D05-6963-454B-B4D1-6D4361004EB4}"/>
              </a:ext>
            </a:extLst>
          </p:cNvPr>
          <p:cNvSpPr>
            <a:spLocks noGrp="1"/>
          </p:cNvSpPr>
          <p:nvPr/>
        </p:nvSpPr>
        <p:spPr>
          <a:xfrm>
            <a:off x="4745736" y="3986784"/>
            <a:ext cx="26974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10" b="1" spc="67">
                <a:solidFill>
                  <a:srgbClr val="0B927D"/>
                </a:solidFill>
                <a:latin typeface="Inter"/>
                <a:ea typeface="Inter"/>
                <a:cs typeface="Inter"/>
              </a:rPr>
              <a:t>ENGINEERING</a:t>
            </a:r>
            <a:endParaRPr sz="111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497E5D0-A5DB-455B-AF86-260A6C243F7B}"/>
              </a:ext>
            </a:extLst>
          </p:cNvPr>
          <p:cNvSpPr>
            <a:spLocks noGrp="1"/>
          </p:cNvSpPr>
          <p:nvPr/>
        </p:nvSpPr>
        <p:spPr>
          <a:xfrm>
            <a:off x="4535424" y="4416552"/>
            <a:ext cx="3108960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500">
                <a:solidFill>
                  <a:srgbClr val="172033"/>
                </a:solidFill>
                <a:latin typeface="Inter"/>
                <a:ea typeface="Inter"/>
                <a:cs typeface="Inter"/>
              </a:rPr>
              <a:t>Live permission checks protect against stale access and leakage.</a:t>
            </a:r>
            <a:endParaRPr sz="15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EC9DFDF-95AF-47BE-AA5F-8BDA62F152AF}"/>
              </a:ext>
            </a:extLst>
          </p:cNvPr>
          <p:cNvSpPr>
            <a:spLocks noGrp="1"/>
          </p:cNvSpPr>
          <p:nvPr/>
        </p:nvSpPr>
        <p:spPr>
          <a:xfrm>
            <a:off x="8028432" y="3657600"/>
            <a:ext cx="3520440" cy="1618488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A125400-0E14-4924-B000-7FE493087CE8}"/>
              </a:ext>
            </a:extLst>
          </p:cNvPr>
          <p:cNvSpPr>
            <a:spLocks noGrp="1"/>
          </p:cNvSpPr>
          <p:nvPr/>
        </p:nvSpPr>
        <p:spPr>
          <a:xfrm>
            <a:off x="8229600" y="3959352"/>
            <a:ext cx="73152" cy="228600"/>
          </a:xfrm>
          <a:prstGeom prst="rect">
            <a:avLst/>
          </a:prstGeom>
          <a:solidFill>
            <a:srgbClr val="5253D7"/>
          </a:solidFill>
          <a:ln w="12700">
            <a:solidFill>
              <a:srgbClr val="525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F598256-E872-4A5E-9D65-8FC26F060026}"/>
              </a:ext>
            </a:extLst>
          </p:cNvPr>
          <p:cNvSpPr>
            <a:spLocks noGrp="1"/>
          </p:cNvSpPr>
          <p:nvPr/>
        </p:nvSpPr>
        <p:spPr>
          <a:xfrm>
            <a:off x="8439912" y="3986784"/>
            <a:ext cx="26974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10" b="1" spc="67">
                <a:solidFill>
                  <a:srgbClr val="5253D7"/>
                </a:solidFill>
                <a:latin typeface="Inter"/>
                <a:ea typeface="Inter"/>
                <a:cs typeface="Inter"/>
              </a:rPr>
              <a:t>PROCESS</a:t>
            </a:r>
            <a:endParaRPr sz="111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B2B3732-7E18-4D58-BCA7-585229D55563}"/>
              </a:ext>
            </a:extLst>
          </p:cNvPr>
          <p:cNvSpPr>
            <a:spLocks noGrp="1"/>
          </p:cNvSpPr>
          <p:nvPr/>
        </p:nvSpPr>
        <p:spPr>
          <a:xfrm>
            <a:off x="8229600" y="4416552"/>
            <a:ext cx="3108960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500">
                <a:solidFill>
                  <a:srgbClr val="172033"/>
                </a:solidFill>
                <a:latin typeface="Inter"/>
                <a:ea typeface="Inter"/>
                <a:cs typeface="Inter"/>
              </a:rPr>
              <a:t>Agent feedback turned a large brief into concrete work and repeatable scenarios.</a:t>
            </a:r>
            <a:endParaRPr sz="15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05314FE-2A8A-4E33-94AC-92FCC0191888}"/>
              </a:ext>
            </a:extLst>
          </p:cNvPr>
          <p:cNvSpPr>
            <a:spLocks noGrp="1"/>
          </p:cNvSpPr>
          <p:nvPr/>
        </p:nvSpPr>
        <p:spPr>
          <a:xfrm>
            <a:off x="640080" y="5559552"/>
            <a:ext cx="10908792" cy="594360"/>
          </a:xfrm>
          <a:prstGeom prst="roundRect">
            <a:avLst>
              <a:gd name="adj" fmla="val 27692"/>
            </a:avLst>
          </a:prstGeom>
          <a:solidFill>
            <a:srgbClr val="ECF9F5"/>
          </a:solidFill>
          <a:ln w="10160">
            <a:solidFill>
              <a:srgbClr val="D5E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109F8BA-8DB8-4F3F-9A5A-77F94E739B3D}"/>
              </a:ext>
            </a:extLst>
          </p:cNvPr>
          <p:cNvSpPr>
            <a:spLocks noGrp="1"/>
          </p:cNvSpPr>
          <p:nvPr/>
        </p:nvSpPr>
        <p:spPr>
          <a:xfrm>
            <a:off x="868680" y="575157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00" b="1" spc="70">
                <a:solidFill>
                  <a:srgbClr val="0B927D"/>
                </a:solidFill>
                <a:latin typeface="Inter"/>
                <a:ea typeface="Inter"/>
                <a:cs typeface="Inter"/>
              </a:rPr>
              <a:t>NEXT</a:t>
            </a:r>
            <a:endParaRPr sz="11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6FC89A0-8E14-463E-8E40-F377B343B552}"/>
              </a:ext>
            </a:extLst>
          </p:cNvPr>
          <p:cNvSpPr>
            <a:spLocks noGrp="1"/>
          </p:cNvSpPr>
          <p:nvPr/>
        </p:nvSpPr>
        <p:spPr>
          <a:xfrm>
            <a:off x="1508760" y="5696712"/>
            <a:ext cx="97840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400">
                <a:solidFill>
                  <a:srgbClr val="172033"/>
                </a:solidFill>
                <a:latin typeface="Inter"/>
                <a:ea typeface="Inter"/>
                <a:cs typeface="Inter"/>
              </a:rPr>
              <a:t>Extend the live corpus, exercise more provider edge cases and keep measuring the permission boundary.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86548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958</Words>
  <Application>Microsoft Macintosh PowerPoint</Application>
  <DocSecurity>0</DocSecurity>
  <PresentationFormat>宽屏</PresentationFormat>
  <Paragraphs>174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Inter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Bao Tim</cp:lastModifiedBy>
  <cp:revision>1</cp:revision>
  <dcterms:created xsi:type="dcterms:W3CDTF">2026-10-15T12:43:31Z</dcterms:created>
  <dcterms:modified xsi:type="dcterms:W3CDTF">2026-10-15T12:55:40Z</dcterms:modified>
</cp:coreProperties>
</file>